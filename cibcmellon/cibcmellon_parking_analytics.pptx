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2" r:id="rId4"/>
    <p:sldId id="279" r:id="rId5"/>
    <p:sldId id="261" r:id="rId6"/>
    <p:sldId id="277" r:id="rId7"/>
    <p:sldId id="280" r:id="rId8"/>
    <p:sldId id="278" r:id="rId9"/>
    <p:sldId id="264" r:id="rId10"/>
    <p:sldId id="276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18"/>
    <p:restoredTop sz="94674"/>
  </p:normalViewPr>
  <p:slideViewPr>
    <p:cSldViewPr>
      <p:cViewPr varScale="1">
        <p:scale>
          <a:sx n="124" d="100"/>
          <a:sy n="124" d="100"/>
        </p:scale>
        <p:origin x="224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1B8F71-1721-2B43-A526-7BB62B630160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DAAE80-2650-464D-BC85-B4CEABAE0A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732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DAAE80-2650-464D-BC85-B4CEABAE0AE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52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8527" y="631158"/>
            <a:ext cx="9831070" cy="696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358275" y="1413919"/>
            <a:ext cx="4972684" cy="4557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226092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1569720"/>
          </a:xfrm>
          <a:custGeom>
            <a:avLst/>
            <a:gdLst/>
            <a:ahLst/>
            <a:cxnLst/>
            <a:rect l="l" t="t" r="r" b="b"/>
            <a:pathLst>
              <a:path w="12192000" h="1569720">
                <a:moveTo>
                  <a:pt x="12192000" y="0"/>
                </a:moveTo>
                <a:lnTo>
                  <a:pt x="0" y="0"/>
                </a:lnTo>
                <a:lnTo>
                  <a:pt x="0" y="1569720"/>
                </a:lnTo>
                <a:lnTo>
                  <a:pt x="12192000" y="156972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260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1569720"/>
          </a:xfrm>
          <a:custGeom>
            <a:avLst/>
            <a:gdLst/>
            <a:ahLst/>
            <a:cxnLst/>
            <a:rect l="l" t="t" r="r" b="b"/>
            <a:pathLst>
              <a:path w="12192000" h="1569720">
                <a:moveTo>
                  <a:pt x="0" y="0"/>
                </a:moveTo>
                <a:lnTo>
                  <a:pt x="12192000" y="0"/>
                </a:lnTo>
                <a:lnTo>
                  <a:pt x="12192000" y="1569720"/>
                </a:lnTo>
                <a:lnTo>
                  <a:pt x="0" y="1569720"/>
                </a:lnTo>
                <a:lnTo>
                  <a:pt x="0" y="0"/>
                </a:lnTo>
                <a:close/>
              </a:path>
            </a:pathLst>
          </a:custGeom>
          <a:ln w="12700">
            <a:solidFill>
              <a:srgbClr val="2E528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61476" y="353568"/>
            <a:ext cx="3430524" cy="1365503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2103" y="6271259"/>
            <a:ext cx="1107947" cy="338327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0" y="6089903"/>
            <a:ext cx="12192000" cy="45720"/>
          </a:xfrm>
          <a:custGeom>
            <a:avLst/>
            <a:gdLst/>
            <a:ahLst/>
            <a:cxnLst/>
            <a:rect l="l" t="t" r="r" b="b"/>
            <a:pathLst>
              <a:path w="12192000" h="45720">
                <a:moveTo>
                  <a:pt x="12192000" y="0"/>
                </a:moveTo>
                <a:lnTo>
                  <a:pt x="0" y="0"/>
                </a:lnTo>
                <a:lnTo>
                  <a:pt x="0" y="45720"/>
                </a:lnTo>
                <a:lnTo>
                  <a:pt x="12192000" y="4572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260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0" y="6083553"/>
            <a:ext cx="12192000" cy="59055"/>
          </a:xfrm>
          <a:custGeom>
            <a:avLst/>
            <a:gdLst/>
            <a:ahLst/>
            <a:cxnLst/>
            <a:rect l="l" t="t" r="r" b="b"/>
            <a:pathLst>
              <a:path w="12192000" h="59054">
                <a:moveTo>
                  <a:pt x="12192000" y="45732"/>
                </a:moveTo>
                <a:lnTo>
                  <a:pt x="0" y="45732"/>
                </a:lnTo>
                <a:lnTo>
                  <a:pt x="0" y="58432"/>
                </a:lnTo>
                <a:lnTo>
                  <a:pt x="12192000" y="58432"/>
                </a:lnTo>
                <a:lnTo>
                  <a:pt x="12192000" y="45732"/>
                </a:lnTo>
                <a:close/>
              </a:path>
              <a:path w="12192000" h="59054">
                <a:moveTo>
                  <a:pt x="12192000" y="0"/>
                </a:moveTo>
                <a:lnTo>
                  <a:pt x="0" y="0"/>
                </a:lnTo>
                <a:lnTo>
                  <a:pt x="0" y="12700"/>
                </a:lnTo>
                <a:lnTo>
                  <a:pt x="12192000" y="127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260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93191" y="431291"/>
            <a:ext cx="45720" cy="1191895"/>
          </a:xfrm>
          <a:custGeom>
            <a:avLst/>
            <a:gdLst/>
            <a:ahLst/>
            <a:cxnLst/>
            <a:rect l="l" t="t" r="r" b="b"/>
            <a:pathLst>
              <a:path w="45720" h="1191895">
                <a:moveTo>
                  <a:pt x="45720" y="0"/>
                </a:moveTo>
                <a:lnTo>
                  <a:pt x="0" y="0"/>
                </a:lnTo>
                <a:lnTo>
                  <a:pt x="0" y="1191767"/>
                </a:lnTo>
                <a:lnTo>
                  <a:pt x="45720" y="1191767"/>
                </a:lnTo>
                <a:lnTo>
                  <a:pt x="45720" y="0"/>
                </a:lnTo>
                <a:close/>
              </a:path>
            </a:pathLst>
          </a:custGeom>
          <a:solidFill>
            <a:srgbClr val="2260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393191" y="431291"/>
            <a:ext cx="45720" cy="1191895"/>
          </a:xfrm>
          <a:custGeom>
            <a:avLst/>
            <a:gdLst/>
            <a:ahLst/>
            <a:cxnLst/>
            <a:rect l="l" t="t" r="r" b="b"/>
            <a:pathLst>
              <a:path w="45720" h="1191895">
                <a:moveTo>
                  <a:pt x="0" y="0"/>
                </a:moveTo>
                <a:lnTo>
                  <a:pt x="45720" y="0"/>
                </a:lnTo>
                <a:lnTo>
                  <a:pt x="45720" y="1191767"/>
                </a:lnTo>
                <a:lnTo>
                  <a:pt x="0" y="1191767"/>
                </a:lnTo>
                <a:lnTo>
                  <a:pt x="0" y="0"/>
                </a:lnTo>
                <a:close/>
              </a:path>
            </a:pathLst>
          </a:custGeom>
          <a:ln w="12700">
            <a:solidFill>
              <a:srgbClr val="22609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32103" y="6323076"/>
            <a:ext cx="1107947" cy="3398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8527" y="598886"/>
            <a:ext cx="9810115" cy="696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47738" y="2625255"/>
            <a:ext cx="5860415" cy="2360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067288" y="6463728"/>
            <a:ext cx="244475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226092"/>
                </a:solidFill>
                <a:latin typeface="Calibri"/>
                <a:cs typeface="Calibri"/>
              </a:defRPr>
            </a:lvl1pPr>
          </a:lstStyle>
          <a:p>
            <a:pPr marL="11557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.toronto.ca/dataset/parking-tickets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642100"/>
          </a:xfrm>
          <a:custGeom>
            <a:avLst/>
            <a:gdLst/>
            <a:ahLst/>
            <a:cxnLst/>
            <a:rect l="l" t="t" r="r" b="b"/>
            <a:pathLst>
              <a:path w="12192000" h="6642100">
                <a:moveTo>
                  <a:pt x="12192000" y="0"/>
                </a:moveTo>
                <a:lnTo>
                  <a:pt x="0" y="0"/>
                </a:lnTo>
                <a:lnTo>
                  <a:pt x="0" y="6641592"/>
                </a:lnTo>
                <a:lnTo>
                  <a:pt x="12192000" y="6641592"/>
                </a:lnTo>
                <a:lnTo>
                  <a:pt x="12192000" y="0"/>
                </a:lnTo>
                <a:close/>
              </a:path>
            </a:pathLst>
          </a:custGeom>
          <a:solidFill>
            <a:srgbClr val="22609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-6350" y="-6350"/>
            <a:ext cx="12204700" cy="6859905"/>
            <a:chOff x="-6350" y="-6350"/>
            <a:chExt cx="12204700" cy="6859905"/>
          </a:xfrm>
        </p:grpSpPr>
        <p:sp>
          <p:nvSpPr>
            <p:cNvPr id="4" name="object 4"/>
            <p:cNvSpPr/>
            <p:nvPr/>
          </p:nvSpPr>
          <p:spPr>
            <a:xfrm>
              <a:off x="0" y="0"/>
              <a:ext cx="12192000" cy="6642100"/>
            </a:xfrm>
            <a:custGeom>
              <a:avLst/>
              <a:gdLst/>
              <a:ahLst/>
              <a:cxnLst/>
              <a:rect l="l" t="t" r="r" b="b"/>
              <a:pathLst>
                <a:path w="12192000" h="6642100">
                  <a:moveTo>
                    <a:pt x="0" y="0"/>
                  </a:moveTo>
                  <a:lnTo>
                    <a:pt x="12192000" y="0"/>
                  </a:lnTo>
                  <a:lnTo>
                    <a:pt x="12192000" y="6641592"/>
                  </a:lnTo>
                  <a:lnTo>
                    <a:pt x="0" y="6641592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597140" y="5024628"/>
              <a:ext cx="4594859" cy="182879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8431" y="5817108"/>
              <a:ext cx="1476755" cy="472439"/>
            </a:xfrm>
            <a:prstGeom prst="rect">
              <a:avLst/>
            </a:prstGeom>
          </p:spPr>
        </p:pic>
      </p:grpSp>
      <p:sp>
        <p:nvSpPr>
          <p:cNvPr id="7" name="object 7" descr="$PPTXTitle"/>
          <p:cNvSpPr txBox="1"/>
          <p:nvPr/>
        </p:nvSpPr>
        <p:spPr>
          <a:xfrm>
            <a:off x="2859721" y="1833372"/>
            <a:ext cx="6472555" cy="1788438"/>
          </a:xfrm>
          <a:prstGeom prst="rect">
            <a:avLst/>
          </a:prstGeom>
        </p:spPr>
        <p:txBody>
          <a:bodyPr vert="horz" wrap="square" lIns="0" tIns="116205" rIns="0" bIns="0" rtlCol="0">
            <a:spAutoFit/>
          </a:bodyPr>
          <a:lstStyle/>
          <a:p>
            <a:pPr marL="230504" marR="5080" indent="-218440" algn="ctr">
              <a:lnSpc>
                <a:spcPts val="6480"/>
              </a:lnSpc>
              <a:spcBef>
                <a:spcPts val="915"/>
              </a:spcBef>
              <a:tabLst>
                <a:tab pos="2805430" algn="l"/>
              </a:tabLst>
            </a:pPr>
            <a:r>
              <a:rPr lang="en-US" sz="6000" b="1" spc="-10" dirty="0">
                <a:solidFill>
                  <a:srgbClr val="FFFFFF"/>
                </a:solidFill>
                <a:latin typeface="Helvetica" pitchFamily="2" charset="0"/>
                <a:cs typeface="Arial"/>
              </a:rPr>
              <a:t>Toronto Parking Tickets Analytics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4152899" y="4344156"/>
            <a:ext cx="3886200" cy="3882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 indent="193040" algn="ctr">
              <a:lnSpc>
                <a:spcPct val="131500"/>
              </a:lnSpc>
              <a:spcBef>
                <a:spcPts val="100"/>
              </a:spcBef>
            </a:pPr>
            <a:r>
              <a:rPr lang="en-US" sz="2000" dirty="0">
                <a:solidFill>
                  <a:srgbClr val="FFFFFF"/>
                </a:solidFill>
                <a:latin typeface="Helvetica" pitchFamily="2" charset="0"/>
                <a:cs typeface="Arial"/>
              </a:rPr>
              <a:t>Powered by Open Data Toronto</a:t>
            </a:r>
            <a:endParaRPr sz="2000" dirty="0">
              <a:latin typeface="Helvetica" pitchFamily="2" charset="0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795">
              <a:lnSpc>
                <a:spcPct val="100000"/>
              </a:lnSpc>
              <a:spcBef>
                <a:spcPts val="105"/>
              </a:spcBef>
            </a:pPr>
            <a:r>
              <a:rPr lang="en-US" spc="-30" dirty="0">
                <a:solidFill>
                  <a:srgbClr val="226092"/>
                </a:solidFill>
                <a:latin typeface="Helvetica" pitchFamily="2" charset="0"/>
              </a:rPr>
              <a:t>Toronto Parking Tickets</a:t>
            </a:r>
            <a:endParaRPr spc="-30" dirty="0">
              <a:solidFill>
                <a:srgbClr val="226092"/>
              </a:solidFill>
              <a:latin typeface="Helvetica" pitchFamily="2" charset="0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762001" y="1725548"/>
            <a:ext cx="10587736" cy="4404995"/>
            <a:chOff x="1539621" y="1725548"/>
            <a:chExt cx="8829675" cy="4404995"/>
          </a:xfrm>
        </p:grpSpPr>
        <p:sp>
          <p:nvSpPr>
            <p:cNvPr id="4" name="object 4"/>
            <p:cNvSpPr/>
            <p:nvPr/>
          </p:nvSpPr>
          <p:spPr>
            <a:xfrm>
              <a:off x="1549146" y="1735073"/>
              <a:ext cx="8810625" cy="2139950"/>
            </a:xfrm>
            <a:custGeom>
              <a:avLst/>
              <a:gdLst/>
              <a:ahLst/>
              <a:cxnLst/>
              <a:rect l="l" t="t" r="r" b="b"/>
              <a:pathLst>
                <a:path w="8810625" h="2139950">
                  <a:moveTo>
                    <a:pt x="0" y="0"/>
                  </a:moveTo>
                  <a:lnTo>
                    <a:pt x="8810244" y="0"/>
                  </a:lnTo>
                  <a:lnTo>
                    <a:pt x="8810244" y="2139696"/>
                  </a:lnTo>
                  <a:lnTo>
                    <a:pt x="0" y="2139696"/>
                  </a:lnTo>
                  <a:lnTo>
                    <a:pt x="0" y="0"/>
                  </a:lnTo>
                  <a:close/>
                </a:path>
              </a:pathLst>
            </a:custGeom>
            <a:ln w="19050">
              <a:noFill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 descr="Graphical representation of the City of Toronto skyline with a cyclist and a TTC street car visible in the foreground.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77924" y="3549395"/>
              <a:ext cx="8675605" cy="2580894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983053" y="1471690"/>
            <a:ext cx="5406073" cy="2403222"/>
          </a:xfrm>
          <a:prstGeom prst="rect">
            <a:avLst/>
          </a:prstGeom>
          <a:ln>
            <a:noFill/>
          </a:ln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lang="en-CA" sz="2400" b="1" i="0" u="none" strike="noStrike" dirty="0">
                <a:solidFill>
                  <a:schemeClr val="tx2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About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CA" b="0" i="0" u="none" strike="noStrike" dirty="0">
              <a:solidFill>
                <a:srgbClr val="212529"/>
              </a:solidFill>
              <a:effectLst/>
              <a:latin typeface="Helvetica" pitchFamily="2" charset="0"/>
              <a:cs typeface="Arial" panose="020B0604020202020204" pitchFamily="34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Approximately 2.8 million parking tickets are issued annually across the City of Toronto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Tickets are issued by Toronto Police Services (TPS) personnel as well as persons certified and authorized to issue tickets by TPS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sz="2000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8D143A99-396B-19D2-6302-320438D2C269}"/>
              </a:ext>
            </a:extLst>
          </p:cNvPr>
          <p:cNvSpPr txBox="1"/>
          <p:nvPr/>
        </p:nvSpPr>
        <p:spPr>
          <a:xfrm>
            <a:off x="6444338" y="1483349"/>
            <a:ext cx="5519062" cy="2082621"/>
          </a:xfrm>
          <a:prstGeom prst="rect">
            <a:avLst/>
          </a:prstGeom>
          <a:ln>
            <a:noFill/>
          </a:ln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lang="en-CA" sz="2400" b="1" i="0" u="none" strike="noStrike" dirty="0">
                <a:solidFill>
                  <a:schemeClr val="tx2"/>
                </a:solidFill>
                <a:effectLst/>
                <a:latin typeface="Helvetica" pitchFamily="2" charset="0"/>
              </a:rPr>
              <a:t>Objective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CA" b="0" i="0" u="none" strike="noStrike" dirty="0">
              <a:solidFill>
                <a:srgbClr val="212529"/>
              </a:solidFill>
              <a:effectLst/>
              <a:latin typeface="Helvetica" pitchFamily="2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</a:rPr>
              <a:t>Analyze </a:t>
            </a: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  <a:hlinkClick r:id="rId3"/>
              </a:rPr>
              <a:t>2017 to 2020 parking data </a:t>
            </a: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</a:rPr>
              <a:t>and find key insights, observe trends, and identify impacting factors </a:t>
            </a:r>
          </a:p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CA" b="0" i="0" u="none" strike="noStrike" dirty="0">
                <a:solidFill>
                  <a:srgbClr val="212529"/>
                </a:solidFill>
                <a:effectLst/>
                <a:latin typeface="Helvetica" pitchFamily="2" charset="0"/>
              </a:rPr>
              <a:t>Provide fact-based recommendations to improve enforcement, compliance or increase revenue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Time and Seasonality</a:t>
            </a:r>
            <a:endParaRPr spc="-10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95B1318A-E166-18C3-8A13-23E926490B3B}"/>
              </a:ext>
            </a:extLst>
          </p:cNvPr>
          <p:cNvSpPr txBox="1">
            <a:spLocks/>
          </p:cNvSpPr>
          <p:nvPr/>
        </p:nvSpPr>
        <p:spPr>
          <a:xfrm>
            <a:off x="762000" y="4931616"/>
            <a:ext cx="4972684" cy="1295226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CA" sz="1400" dirty="0">
                <a:latin typeface="Helvetica" pitchFamily="2" charset="0"/>
              </a:rPr>
              <a:t>New</a:t>
            </a:r>
            <a:r>
              <a:rPr lang="en-CA" sz="1400" spc="-35" dirty="0">
                <a:latin typeface="Helvetica" pitchFamily="2" charset="0"/>
              </a:rPr>
              <a:t> </a:t>
            </a:r>
            <a:r>
              <a:rPr lang="en-CA" sz="1400" spc="-20" dirty="0">
                <a:latin typeface="Helvetica" pitchFamily="2" charset="0"/>
              </a:rPr>
              <a:t>T</a:t>
            </a:r>
          </a:p>
          <a:p>
            <a:pPr marL="12700">
              <a:spcBef>
                <a:spcPts val="1680"/>
              </a:spcBef>
            </a:pPr>
            <a:r>
              <a:rPr lang="en-CA" sz="1400" spc="-1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Toronto</a:t>
            </a:r>
            <a:r>
              <a:rPr lang="en-CA" sz="1400" spc="-9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surpassed</a:t>
            </a:r>
            <a:r>
              <a:rPr lang="en-CA" sz="1400" spc="-1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its</a:t>
            </a:r>
            <a:r>
              <a:rPr lang="en-CA" sz="1400" spc="-9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2020</a:t>
            </a:r>
            <a:r>
              <a:rPr lang="en-CA" sz="1400" spc="-12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9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target</a:t>
            </a:r>
            <a:r>
              <a:rPr lang="en-CA" sz="1400" spc="-8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5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of</a:t>
            </a:r>
            <a:r>
              <a:rPr lang="en-CA" sz="1400" spc="-8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a</a:t>
            </a:r>
            <a:r>
              <a:rPr lang="en-CA" sz="1400" spc="-1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3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30</a:t>
            </a:r>
            <a:r>
              <a:rPr lang="en-CA" sz="1400" spc="-10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2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per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cent</a:t>
            </a:r>
            <a:r>
              <a:rPr lang="en-CA" sz="1400" spc="-9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8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reduction</a:t>
            </a:r>
            <a:r>
              <a:rPr lang="en-CA" sz="1400" spc="-6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4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in</a:t>
            </a:r>
            <a:r>
              <a:rPr lang="en-CA" sz="1400" spc="-1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7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GHG</a:t>
            </a:r>
            <a:r>
              <a:rPr lang="en-CA" sz="1400" spc="-1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8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emissions</a:t>
            </a:r>
            <a:r>
              <a:rPr lang="en-CA" sz="1400" spc="-8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8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from</a:t>
            </a:r>
            <a:r>
              <a:rPr lang="en-CA" sz="1400" spc="-8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5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a </a:t>
            </a:r>
            <a:r>
              <a:rPr lang="en-CA" sz="1400" spc="-6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1990</a:t>
            </a:r>
            <a:r>
              <a:rPr lang="en-CA" sz="1400" spc="-1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baseline.</a:t>
            </a:r>
            <a:r>
              <a:rPr lang="en-CA" sz="1400" spc="-7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1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However,</a:t>
            </a:r>
            <a:r>
              <a:rPr lang="en-CA" sz="1400" spc="-6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2020</a:t>
            </a:r>
            <a:r>
              <a:rPr lang="en-CA" sz="1400" spc="-1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was</a:t>
            </a:r>
            <a:r>
              <a:rPr lang="en-CA" sz="1400" spc="-10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2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an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anomaly</a:t>
            </a:r>
            <a:r>
              <a:rPr lang="en-CA" sz="1400" spc="-10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year</a:t>
            </a:r>
            <a:r>
              <a:rPr lang="en-CA" sz="1400" spc="-10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due</a:t>
            </a:r>
            <a:r>
              <a:rPr lang="en-CA" sz="1400" spc="-10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to</a:t>
            </a:r>
            <a:r>
              <a:rPr lang="en-CA" sz="1400" spc="-1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the</a:t>
            </a:r>
            <a:r>
              <a:rPr lang="en-CA" sz="1400" spc="-8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9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COVID-</a:t>
            </a:r>
            <a:r>
              <a:rPr lang="en-CA" sz="1400" spc="-2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19 </a:t>
            </a:r>
            <a:r>
              <a:rPr lang="en-CA" sz="1400" spc="-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pandemic</a:t>
            </a:r>
            <a:r>
              <a:rPr lang="en-CA" sz="1400" spc="-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.</a:t>
            </a:r>
            <a:endParaRPr lang="en-CA" sz="1400" dirty="0">
              <a:latin typeface="Helvetica" pitchFamily="2" charset="0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B7FCEF-82CB-6229-F483-A58D48F5F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864634"/>
            <a:ext cx="6159787" cy="2506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F1F0D8F-03C9-839F-6074-8CF57AD716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0" y="2027189"/>
            <a:ext cx="5257801" cy="2329191"/>
          </a:xfrm>
          <a:prstGeom prst="rect">
            <a:avLst/>
          </a:prstGeom>
        </p:spPr>
      </p:pic>
      <p:sp>
        <p:nvSpPr>
          <p:cNvPr id="5" name="object 6">
            <a:extLst>
              <a:ext uri="{FF2B5EF4-FFF2-40B4-BE49-F238E27FC236}">
                <a16:creationId xmlns:a16="http://schemas.microsoft.com/office/drawing/2014/main" id="{4B2698E3-F8F1-240F-F1B3-80DC6944D16D}"/>
              </a:ext>
            </a:extLst>
          </p:cNvPr>
          <p:cNvSpPr txBox="1">
            <a:spLocks/>
          </p:cNvSpPr>
          <p:nvPr/>
        </p:nvSpPr>
        <p:spPr>
          <a:xfrm>
            <a:off x="6553200" y="4931616"/>
            <a:ext cx="4972684" cy="1295226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CA" sz="1400" dirty="0">
                <a:latin typeface="Helvetica" pitchFamily="2" charset="0"/>
              </a:rPr>
              <a:t>New</a:t>
            </a:r>
            <a:r>
              <a:rPr lang="en-CA" sz="1400" spc="-35" dirty="0">
                <a:latin typeface="Helvetica" pitchFamily="2" charset="0"/>
              </a:rPr>
              <a:t> </a:t>
            </a:r>
            <a:r>
              <a:rPr lang="en-CA" sz="1400" spc="-20" dirty="0">
                <a:latin typeface="Helvetica" pitchFamily="2" charset="0"/>
              </a:rPr>
              <a:t>T</a:t>
            </a:r>
          </a:p>
          <a:p>
            <a:pPr marL="12700">
              <a:spcBef>
                <a:spcPts val="1680"/>
              </a:spcBef>
            </a:pPr>
            <a:r>
              <a:rPr lang="en-CA" sz="1400" spc="-1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Toronto</a:t>
            </a:r>
            <a:r>
              <a:rPr lang="en-CA" sz="1400" spc="-9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surpassed</a:t>
            </a:r>
            <a:r>
              <a:rPr lang="en-CA" sz="1400" spc="-1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its</a:t>
            </a:r>
            <a:r>
              <a:rPr lang="en-CA" sz="1400" spc="-9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2020</a:t>
            </a:r>
            <a:r>
              <a:rPr lang="en-CA" sz="1400" spc="-12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9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target</a:t>
            </a:r>
            <a:r>
              <a:rPr lang="en-CA" sz="1400" spc="-8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5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of</a:t>
            </a:r>
            <a:r>
              <a:rPr lang="en-CA" sz="1400" spc="-8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a</a:t>
            </a:r>
            <a:r>
              <a:rPr lang="en-CA" sz="1400" spc="-1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3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30</a:t>
            </a:r>
            <a:r>
              <a:rPr lang="en-CA" sz="1400" spc="-10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2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per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cent</a:t>
            </a:r>
            <a:r>
              <a:rPr lang="en-CA" sz="1400" spc="-9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8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reduction</a:t>
            </a:r>
            <a:r>
              <a:rPr lang="en-CA" sz="1400" spc="-6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4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in</a:t>
            </a:r>
            <a:r>
              <a:rPr lang="en-CA" sz="1400" spc="-1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7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GHG</a:t>
            </a:r>
            <a:r>
              <a:rPr lang="en-CA" sz="1400" spc="-1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8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emissions</a:t>
            </a:r>
            <a:r>
              <a:rPr lang="en-CA" sz="1400" spc="-8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8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from</a:t>
            </a:r>
            <a:r>
              <a:rPr lang="en-CA" sz="1400" spc="-8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5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a </a:t>
            </a:r>
            <a:r>
              <a:rPr lang="en-CA" sz="1400" spc="-6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1990</a:t>
            </a:r>
            <a:r>
              <a:rPr lang="en-CA" sz="1400" spc="-1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baseline.</a:t>
            </a:r>
            <a:r>
              <a:rPr lang="en-CA" sz="1400" spc="-7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1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However,</a:t>
            </a:r>
            <a:r>
              <a:rPr lang="en-CA" sz="1400" spc="-6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2020</a:t>
            </a:r>
            <a:r>
              <a:rPr lang="en-CA" sz="1400" spc="-1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was</a:t>
            </a:r>
            <a:r>
              <a:rPr lang="en-CA" sz="1400" spc="-10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2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an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anomaly</a:t>
            </a:r>
            <a:r>
              <a:rPr lang="en-CA" sz="1400" spc="-10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7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year</a:t>
            </a:r>
            <a:r>
              <a:rPr lang="en-CA" sz="1400" spc="-10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due</a:t>
            </a:r>
            <a:r>
              <a:rPr lang="en-CA" sz="1400" spc="-10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to</a:t>
            </a:r>
            <a:r>
              <a:rPr lang="en-CA" sz="1400" spc="-1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6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the</a:t>
            </a:r>
            <a:r>
              <a:rPr lang="en-CA" sz="1400" spc="-8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 </a:t>
            </a:r>
            <a:r>
              <a:rPr lang="en-CA" sz="1400" spc="-9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COVID-</a:t>
            </a:r>
            <a:r>
              <a:rPr lang="en-CA" sz="1400" spc="-25" dirty="0">
                <a:solidFill>
                  <a:srgbClr val="000000"/>
                </a:solidFill>
                <a:latin typeface="Helvetica" pitchFamily="2" charset="0"/>
                <a:cs typeface="Calibri"/>
              </a:rPr>
              <a:t>19 </a:t>
            </a:r>
            <a:r>
              <a:rPr lang="en-CA" sz="1400" spc="-1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pandemic</a:t>
            </a:r>
            <a:r>
              <a:rPr lang="en-CA" sz="1400" spc="-20" dirty="0">
                <a:solidFill>
                  <a:srgbClr val="000000"/>
                </a:solidFill>
                <a:latin typeface="Helvetica" pitchFamily="2" charset="0"/>
                <a:cs typeface="Calibri"/>
              </a:rPr>
              <a:t>.</a:t>
            </a:r>
            <a:endParaRPr lang="en-CA" sz="1400" dirty="0">
              <a:latin typeface="Helvetica" pitchFamily="2" charset="0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Time and Seasonality</a:t>
            </a:r>
            <a:endParaRPr spc="-10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95B1318A-E166-18C3-8A13-23E926490B3B}"/>
              </a:ext>
            </a:extLst>
          </p:cNvPr>
          <p:cNvSpPr txBox="1">
            <a:spLocks/>
          </p:cNvSpPr>
          <p:nvPr/>
        </p:nvSpPr>
        <p:spPr>
          <a:xfrm>
            <a:off x="6934200" y="4776880"/>
            <a:ext cx="4972684" cy="55399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CA" sz="2200" dirty="0" err="1">
                <a:latin typeface="Helvetica" pitchFamily="2" charset="0"/>
                <a:cs typeface="Calibri"/>
              </a:rPr>
              <a:t>fghghg</a:t>
            </a:r>
            <a:endParaRPr lang="en-CA" sz="2200" dirty="0">
              <a:latin typeface="Helvetica" pitchFamily="2" charset="0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3FA5F3-8BDD-448F-1A1C-2C70EC3EA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81200"/>
            <a:ext cx="5946507" cy="2590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0284B7-2AAE-0965-80CF-45B1CA529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707" y="1981200"/>
            <a:ext cx="5635224" cy="2590800"/>
          </a:xfrm>
          <a:prstGeom prst="rect">
            <a:avLst/>
          </a:prstGeom>
        </p:spPr>
      </p:pic>
      <p:sp>
        <p:nvSpPr>
          <p:cNvPr id="5" name="object 6">
            <a:extLst>
              <a:ext uri="{FF2B5EF4-FFF2-40B4-BE49-F238E27FC236}">
                <a16:creationId xmlns:a16="http://schemas.microsoft.com/office/drawing/2014/main" id="{567C638D-B468-4B0B-DA78-6A9DD67C5F98}"/>
              </a:ext>
            </a:extLst>
          </p:cNvPr>
          <p:cNvSpPr txBox="1">
            <a:spLocks/>
          </p:cNvSpPr>
          <p:nvPr/>
        </p:nvSpPr>
        <p:spPr>
          <a:xfrm>
            <a:off x="609600" y="4776880"/>
            <a:ext cx="4972684" cy="55399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CA" sz="2200" dirty="0" err="1">
                <a:latin typeface="Helvetica" pitchFamily="2" charset="0"/>
                <a:cs typeface="Calibri"/>
              </a:rPr>
              <a:t>fghghg</a:t>
            </a:r>
            <a:endParaRPr lang="en-CA" sz="2200" dirty="0">
              <a:latin typeface="Helvetica" pitchFamily="2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96857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18527" y="631158"/>
            <a:ext cx="713041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Infractions</a:t>
            </a:r>
            <a:endParaRPr spc="-45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sz="half" idx="3"/>
          </p:nvPr>
        </p:nvSpPr>
        <p:spPr>
          <a:xfrm>
            <a:off x="6705600" y="5105400"/>
            <a:ext cx="4972684" cy="55399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80"/>
              </a:spcBef>
            </a:pPr>
            <a:r>
              <a:rPr lang="en-US" sz="2200" b="0" dirty="0" err="1">
                <a:latin typeface="Helvetica" pitchFamily="2" charset="0"/>
                <a:cs typeface="Calibri"/>
              </a:rPr>
              <a:t>dfgfdgdfgf</a:t>
            </a:r>
            <a:endParaRPr sz="2200" b="0" dirty="0">
              <a:latin typeface="Helvetica" pitchFamily="2" charset="0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AB400B-F81F-4916-CEEA-C31B04A9E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846472"/>
            <a:ext cx="5806321" cy="25731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4B6CE6-6FFA-C701-B0FA-30779F95D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0" y="1809964"/>
            <a:ext cx="6400800" cy="2762036"/>
          </a:xfrm>
          <a:prstGeom prst="rect">
            <a:avLst/>
          </a:prstGeom>
        </p:spPr>
      </p:pic>
      <p:sp>
        <p:nvSpPr>
          <p:cNvPr id="5" name="object 6">
            <a:extLst>
              <a:ext uri="{FF2B5EF4-FFF2-40B4-BE49-F238E27FC236}">
                <a16:creationId xmlns:a16="http://schemas.microsoft.com/office/drawing/2014/main" id="{93C9B84C-20E3-0409-9117-63B2A9E0AEA7}"/>
              </a:ext>
            </a:extLst>
          </p:cNvPr>
          <p:cNvSpPr txBox="1">
            <a:spLocks/>
          </p:cNvSpPr>
          <p:nvPr/>
        </p:nvSpPr>
        <p:spPr>
          <a:xfrm>
            <a:off x="369870" y="5102831"/>
            <a:ext cx="4972684" cy="55399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 sz="2400" b="1" i="0">
                <a:solidFill>
                  <a:srgbClr val="226092"/>
                </a:solidFill>
                <a:latin typeface="Arial"/>
                <a:ea typeface="+mn-ea"/>
                <a:cs typeface="Arial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US" sz="2200" b="0">
                <a:latin typeface="Helvetica" pitchFamily="2" charset="0"/>
                <a:cs typeface="Calibri"/>
              </a:rPr>
              <a:t>dfgfdgdfgf</a:t>
            </a:r>
            <a:endParaRPr lang="en-US" sz="2200" b="0" dirty="0">
              <a:latin typeface="Helvetica" pitchFamily="2" charset="0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18527" y="631158"/>
            <a:ext cx="713041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Location</a:t>
            </a:r>
            <a:endParaRPr spc="-45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sz="half" idx="3"/>
          </p:nvPr>
        </p:nvSpPr>
        <p:spPr>
          <a:xfrm>
            <a:off x="6705600" y="5189035"/>
            <a:ext cx="4972684" cy="55399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80"/>
              </a:spcBef>
            </a:pPr>
            <a:r>
              <a:rPr lang="en-US" sz="2200" dirty="0" err="1">
                <a:latin typeface="Helvetica" pitchFamily="2" charset="0"/>
                <a:cs typeface="Calibri"/>
              </a:rPr>
              <a:t>dfd</a:t>
            </a:r>
            <a:endParaRPr sz="2200" dirty="0">
              <a:latin typeface="Helvetica" pitchFamily="2" charset="0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69CEED-A53B-E5F5-877D-0CF672C14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5730124" cy="26319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F776A37-404B-0DD4-49E5-6D63902F3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2057400"/>
            <a:ext cx="5410200" cy="2593932"/>
          </a:xfrm>
          <a:prstGeom prst="rect">
            <a:avLst/>
          </a:prstGeom>
        </p:spPr>
      </p:pic>
      <p:sp>
        <p:nvSpPr>
          <p:cNvPr id="5" name="object 6">
            <a:extLst>
              <a:ext uri="{FF2B5EF4-FFF2-40B4-BE49-F238E27FC236}">
                <a16:creationId xmlns:a16="http://schemas.microsoft.com/office/drawing/2014/main" id="{604AC085-D2F4-0BA7-632F-2F0B7F57DAF1}"/>
              </a:ext>
            </a:extLst>
          </p:cNvPr>
          <p:cNvSpPr txBox="1">
            <a:spLocks/>
          </p:cNvSpPr>
          <p:nvPr/>
        </p:nvSpPr>
        <p:spPr>
          <a:xfrm>
            <a:off x="685800" y="5177048"/>
            <a:ext cx="4972684" cy="55399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 sz="2400" b="1" i="0">
                <a:solidFill>
                  <a:srgbClr val="226092"/>
                </a:solidFill>
                <a:latin typeface="Arial"/>
                <a:ea typeface="+mn-ea"/>
                <a:cs typeface="Arial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US" sz="2200">
                <a:latin typeface="Helvetica" pitchFamily="2" charset="0"/>
                <a:cs typeface="Calibri"/>
              </a:rPr>
              <a:t>dfd</a:t>
            </a:r>
            <a:endParaRPr lang="en-US" sz="2200" dirty="0">
              <a:latin typeface="Helvetica" pitchFamily="2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32698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18527" y="631158"/>
            <a:ext cx="713041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Location</a:t>
            </a:r>
            <a:endParaRPr spc="-45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sz="half" idx="3"/>
          </p:nvPr>
        </p:nvSpPr>
        <p:spPr>
          <a:xfrm>
            <a:off x="6705600" y="5189035"/>
            <a:ext cx="4972684" cy="55399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80"/>
              </a:spcBef>
            </a:pPr>
            <a:r>
              <a:rPr lang="en-US" sz="2200" dirty="0" err="1">
                <a:latin typeface="Helvetica" pitchFamily="2" charset="0"/>
                <a:cs typeface="Calibri"/>
              </a:rPr>
              <a:t>dfd</a:t>
            </a:r>
            <a:endParaRPr sz="2200" dirty="0">
              <a:latin typeface="Helvetica" pitchFamily="2" charset="0"/>
              <a:cs typeface="Calibri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604AC085-D2F4-0BA7-632F-2F0B7F57DAF1}"/>
              </a:ext>
            </a:extLst>
          </p:cNvPr>
          <p:cNvSpPr txBox="1">
            <a:spLocks/>
          </p:cNvSpPr>
          <p:nvPr/>
        </p:nvSpPr>
        <p:spPr>
          <a:xfrm>
            <a:off x="685800" y="5177048"/>
            <a:ext cx="4972684" cy="55399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 sz="2400" b="1" i="0">
                <a:solidFill>
                  <a:srgbClr val="226092"/>
                </a:solidFill>
                <a:latin typeface="Arial"/>
                <a:ea typeface="+mn-ea"/>
                <a:cs typeface="Arial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US" sz="2200">
                <a:latin typeface="Helvetica" pitchFamily="2" charset="0"/>
                <a:cs typeface="Calibri"/>
              </a:rPr>
              <a:t>dfd</a:t>
            </a:r>
            <a:endParaRPr lang="en-US" sz="2200" dirty="0">
              <a:latin typeface="Helvetica" pitchFamily="2" charset="0"/>
              <a:cs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9F808F-DA22-2C72-2D5D-0B87FD96B1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741805"/>
            <a:ext cx="5925927" cy="24108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ABA2A78-95D3-2731-CC9D-ACB03A42D6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11" y="1905000"/>
            <a:ext cx="5524791" cy="22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709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18527" y="631158"/>
            <a:ext cx="9597073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046980" algn="l"/>
              </a:tabLst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Ticket Amount Forecasting</a:t>
            </a:r>
            <a:endParaRPr spc="-45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sz="half" idx="3"/>
          </p:nvPr>
        </p:nvSpPr>
        <p:spPr>
          <a:xfrm>
            <a:off x="380999" y="5106868"/>
            <a:ext cx="4972684" cy="55399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80"/>
              </a:spcBef>
            </a:pPr>
            <a:r>
              <a:rPr lang="en-US" sz="2200" dirty="0" err="1">
                <a:latin typeface="Helvetica" pitchFamily="2" charset="0"/>
                <a:cs typeface="Calibri"/>
              </a:rPr>
              <a:t>dgdfgf</a:t>
            </a:r>
            <a:endParaRPr sz="2200" dirty="0">
              <a:latin typeface="Helvetica" pitchFamily="2" charset="0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F60F4F-C64F-3043-B70F-C8BE8E4B5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" y="1676399"/>
            <a:ext cx="6861453" cy="343046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5FF97E1-1CA2-F3BA-75D9-6740C5CB1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3522"/>
            <a:ext cx="5105400" cy="2193521"/>
          </a:xfrm>
          <a:prstGeom prst="rect">
            <a:avLst/>
          </a:prstGeom>
        </p:spPr>
      </p:pic>
      <p:sp>
        <p:nvSpPr>
          <p:cNvPr id="5" name="object 6">
            <a:extLst>
              <a:ext uri="{FF2B5EF4-FFF2-40B4-BE49-F238E27FC236}">
                <a16:creationId xmlns:a16="http://schemas.microsoft.com/office/drawing/2014/main" id="{A4E42384-A878-31E3-D8B1-917AD5DCF10E}"/>
              </a:ext>
            </a:extLst>
          </p:cNvPr>
          <p:cNvSpPr txBox="1">
            <a:spLocks/>
          </p:cNvSpPr>
          <p:nvPr/>
        </p:nvSpPr>
        <p:spPr>
          <a:xfrm>
            <a:off x="6976585" y="5046323"/>
            <a:ext cx="4972684" cy="553998"/>
          </a:xfrm>
          <a:prstGeom prst="rect">
            <a:avLst/>
          </a:prstGeom>
        </p:spPr>
        <p:txBody>
          <a:bodyPr vert="horz" wrap="square" lIns="0" tIns="213360" rIns="0" bIns="0" rtlCol="0">
            <a:spAutoFit/>
          </a:bodyPr>
          <a:lstStyle>
            <a:lvl1pPr marL="0">
              <a:defRPr sz="2400" b="1" i="0">
                <a:solidFill>
                  <a:srgbClr val="226092"/>
                </a:solidFill>
                <a:latin typeface="Arial"/>
                <a:ea typeface="+mn-ea"/>
                <a:cs typeface="Arial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spcBef>
                <a:spcPts val="1680"/>
              </a:spcBef>
            </a:pPr>
            <a:r>
              <a:rPr lang="en-US" sz="2200">
                <a:latin typeface="Helvetica" pitchFamily="2" charset="0"/>
                <a:cs typeface="Calibri"/>
              </a:rPr>
              <a:t>dgdfgf</a:t>
            </a:r>
            <a:endParaRPr lang="en-US" sz="2200" dirty="0">
              <a:latin typeface="Helvetica" pitchFamily="2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73033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dirty="0">
                <a:solidFill>
                  <a:srgbClr val="226092"/>
                </a:solidFill>
                <a:latin typeface="Helvetica" pitchFamily="2" charset="0"/>
              </a:rPr>
              <a:t>Recommendations</a:t>
            </a:r>
            <a:endParaRPr spc="-10" dirty="0">
              <a:solidFill>
                <a:srgbClr val="226092"/>
              </a:solidFill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8359E7-5165-8ACD-5560-8EC708CDABB4}"/>
              </a:ext>
            </a:extLst>
          </p:cNvPr>
          <p:cNvSpPr txBox="1"/>
          <p:nvPr/>
        </p:nvSpPr>
        <p:spPr>
          <a:xfrm>
            <a:off x="1780352" y="1524248"/>
            <a:ext cx="264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Parking Rules Review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8C880B-B471-2380-30B8-04BAE5346F69}"/>
              </a:ext>
            </a:extLst>
          </p:cNvPr>
          <p:cNvSpPr txBox="1"/>
          <p:nvPr/>
        </p:nvSpPr>
        <p:spPr>
          <a:xfrm>
            <a:off x="1780352" y="1814072"/>
            <a:ext cx="2647950" cy="88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Review the clarity, visibility, and accessibility of parking signage and regulations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0A1201-8061-5A07-D0D4-7A52A0009491}"/>
              </a:ext>
            </a:extLst>
          </p:cNvPr>
          <p:cNvSpPr txBox="1"/>
          <p:nvPr/>
        </p:nvSpPr>
        <p:spPr>
          <a:xfrm>
            <a:off x="5595220" y="1524248"/>
            <a:ext cx="267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Optimized resource planning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8FAE88-4D74-4C70-F449-8905B5F678FC}"/>
              </a:ext>
            </a:extLst>
          </p:cNvPr>
          <p:cNvSpPr txBox="1"/>
          <p:nvPr/>
        </p:nvSpPr>
        <p:spPr>
          <a:xfrm>
            <a:off x="5619360" y="2083716"/>
            <a:ext cx="2647950" cy="1151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Use the observed monthly seasonality in ticket volumes and revenue to strategically plan enforcement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05E767-6477-D9E3-6AF0-CFF17745D42C}"/>
              </a:ext>
            </a:extLst>
          </p:cNvPr>
          <p:cNvSpPr txBox="1"/>
          <p:nvPr/>
        </p:nvSpPr>
        <p:spPr>
          <a:xfrm>
            <a:off x="9407190" y="1524248"/>
            <a:ext cx="264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Strategic Enforcement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A33815-2B0F-93E9-3A04-02EC6CEC25D0}"/>
              </a:ext>
            </a:extLst>
          </p:cNvPr>
          <p:cNvSpPr txBox="1"/>
          <p:nvPr/>
        </p:nvSpPr>
        <p:spPr>
          <a:xfrm>
            <a:off x="9407190" y="1814072"/>
            <a:ext cx="2647950" cy="1421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Focus enforcement resources on identified geographical hotspots locations with consistently high ticket counts and revenue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61C506-2A39-F846-3904-67754096C82C}"/>
              </a:ext>
            </a:extLst>
          </p:cNvPr>
          <p:cNvSpPr txBox="1"/>
          <p:nvPr/>
        </p:nvSpPr>
        <p:spPr>
          <a:xfrm>
            <a:off x="1733649" y="3655363"/>
            <a:ext cx="27848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Address Out-of-Province Compliance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44A48A-07E8-A73B-DAD5-EC50AE5C9F8E}"/>
              </a:ext>
            </a:extLst>
          </p:cNvPr>
          <p:cNvSpPr txBox="1"/>
          <p:nvPr/>
        </p:nvSpPr>
        <p:spPr>
          <a:xfrm>
            <a:off x="1733649" y="4170819"/>
            <a:ext cx="2647950" cy="88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Evaluate the effectiveness of current collection mechanisms for out-of-province infractions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EE6902-EEAC-5D59-804C-E83EA5DC5882}"/>
              </a:ext>
            </a:extLst>
          </p:cNvPr>
          <p:cNvSpPr txBox="1"/>
          <p:nvPr/>
        </p:nvSpPr>
        <p:spPr>
          <a:xfrm>
            <a:off x="5548518" y="3655363"/>
            <a:ext cx="2647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Infraction-Specific Compliance Campaigns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9092CA-ED53-B277-5A8F-81F80A93D2CE}"/>
              </a:ext>
            </a:extLst>
          </p:cNvPr>
          <p:cNvSpPr txBox="1"/>
          <p:nvPr/>
        </p:nvSpPr>
        <p:spPr>
          <a:xfrm>
            <a:off x="5548518" y="4171929"/>
            <a:ext cx="2647950" cy="88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Targeted public awareness campaigns for high-volume infractions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023B7D-B3B0-1A28-6916-83F9CF579F06}"/>
              </a:ext>
            </a:extLst>
          </p:cNvPr>
          <p:cNvSpPr txBox="1"/>
          <p:nvPr/>
        </p:nvSpPr>
        <p:spPr>
          <a:xfrm>
            <a:off x="9360487" y="3655363"/>
            <a:ext cx="264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Review of fine structures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561A59-6974-F89B-C94F-D3D97ACC0F0B}"/>
              </a:ext>
            </a:extLst>
          </p:cNvPr>
          <p:cNvSpPr txBox="1"/>
          <p:nvPr/>
        </p:nvSpPr>
        <p:spPr>
          <a:xfrm>
            <a:off x="9360487" y="3945187"/>
            <a:ext cx="2647950" cy="1151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latin typeface="Helvetica" pitchFamily="2" charset="0"/>
                <a:ea typeface="Arial" panose="020B0706030804020204" pitchFamily="34" charset="0"/>
                <a:cs typeface="Arial" panose="020B0706030804020204" pitchFamily="34" charset="0"/>
              </a:rPr>
              <a:t>Analyze the distribution of fine amounts in conjunction with high-volume and high-revenue infraction types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B617595-FA9E-914F-B93E-C1BA241A2631}"/>
              </a:ext>
            </a:extLst>
          </p:cNvPr>
          <p:cNvGrpSpPr>
            <a:grpSpLocks noChangeAspect="1"/>
          </p:cNvGrpSpPr>
          <p:nvPr/>
        </p:nvGrpSpPr>
        <p:grpSpPr>
          <a:xfrm>
            <a:off x="4691834" y="1588962"/>
            <a:ext cx="752469" cy="752469"/>
            <a:chOff x="4443224" y="1662093"/>
            <a:chExt cx="1118711" cy="111871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25CD022-44B7-AB8A-107B-F4400E56B1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43224" y="1662093"/>
              <a:ext cx="1118711" cy="111871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FD3C756-F73C-4F1A-83B2-1DEEA467D378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631870" y="1811948"/>
              <a:ext cx="570049" cy="647630"/>
            </a:xfrm>
            <a:custGeom>
              <a:avLst/>
              <a:gdLst>
                <a:gd name="T0" fmla="*/ 319 w 355"/>
                <a:gd name="T1" fmla="*/ 85 h 403"/>
                <a:gd name="T2" fmla="*/ 313 w 355"/>
                <a:gd name="T3" fmla="*/ 43 h 403"/>
                <a:gd name="T4" fmla="*/ 266 w 355"/>
                <a:gd name="T5" fmla="*/ 22 h 403"/>
                <a:gd name="T6" fmla="*/ 221 w 355"/>
                <a:gd name="T7" fmla="*/ 22 h 403"/>
                <a:gd name="T8" fmla="*/ 100 w 355"/>
                <a:gd name="T9" fmla="*/ 43 h 403"/>
                <a:gd name="T10" fmla="*/ 77 w 355"/>
                <a:gd name="T11" fmla="*/ 0 h 403"/>
                <a:gd name="T12" fmla="*/ 55 w 355"/>
                <a:gd name="T13" fmla="*/ 43 h 403"/>
                <a:gd name="T14" fmla="*/ 0 w 355"/>
                <a:gd name="T15" fmla="*/ 49 h 403"/>
                <a:gd name="T16" fmla="*/ 6 w 355"/>
                <a:gd name="T17" fmla="*/ 362 h 403"/>
                <a:gd name="T18" fmla="*/ 37 w 355"/>
                <a:gd name="T19" fmla="*/ 397 h 403"/>
                <a:gd name="T20" fmla="*/ 349 w 355"/>
                <a:gd name="T21" fmla="*/ 403 h 403"/>
                <a:gd name="T22" fmla="*/ 355 w 355"/>
                <a:gd name="T23" fmla="*/ 91 h 403"/>
                <a:gd name="T24" fmla="*/ 233 w 355"/>
                <a:gd name="T25" fmla="*/ 22 h 403"/>
                <a:gd name="T26" fmla="*/ 254 w 355"/>
                <a:gd name="T27" fmla="*/ 22 h 403"/>
                <a:gd name="T28" fmla="*/ 233 w 355"/>
                <a:gd name="T29" fmla="*/ 43 h 403"/>
                <a:gd name="T30" fmla="*/ 67 w 355"/>
                <a:gd name="T31" fmla="*/ 22 h 403"/>
                <a:gd name="T32" fmla="*/ 88 w 355"/>
                <a:gd name="T33" fmla="*/ 22 h 403"/>
                <a:gd name="T34" fmla="*/ 67 w 355"/>
                <a:gd name="T35" fmla="*/ 43 h 403"/>
                <a:gd name="T36" fmla="*/ 12 w 355"/>
                <a:gd name="T37" fmla="*/ 350 h 403"/>
                <a:gd name="T38" fmla="*/ 55 w 355"/>
                <a:gd name="T39" fmla="*/ 55 h 403"/>
                <a:gd name="T40" fmla="*/ 61 w 355"/>
                <a:gd name="T41" fmla="*/ 97 h 403"/>
                <a:gd name="T42" fmla="*/ 67 w 355"/>
                <a:gd name="T43" fmla="*/ 55 h 403"/>
                <a:gd name="T44" fmla="*/ 221 w 355"/>
                <a:gd name="T45" fmla="*/ 91 h 403"/>
                <a:gd name="T46" fmla="*/ 233 w 355"/>
                <a:gd name="T47" fmla="*/ 91 h 403"/>
                <a:gd name="T48" fmla="*/ 307 w 355"/>
                <a:gd name="T49" fmla="*/ 55 h 403"/>
                <a:gd name="T50" fmla="*/ 12 w 355"/>
                <a:gd name="T51" fmla="*/ 350 h 403"/>
                <a:gd name="T52" fmla="*/ 49 w 355"/>
                <a:gd name="T53" fmla="*/ 391 h 403"/>
                <a:gd name="T54" fmla="*/ 313 w 355"/>
                <a:gd name="T55" fmla="*/ 362 h 403"/>
                <a:gd name="T56" fmla="*/ 319 w 355"/>
                <a:gd name="T57" fmla="*/ 97 h 403"/>
                <a:gd name="T58" fmla="*/ 343 w 355"/>
                <a:gd name="T59" fmla="*/ 391 h 403"/>
                <a:gd name="T60" fmla="*/ 165 w 355"/>
                <a:gd name="T61" fmla="*/ 158 h 403"/>
                <a:gd name="T62" fmla="*/ 162 w 355"/>
                <a:gd name="T63" fmla="*/ 145 h 403"/>
                <a:gd name="T64" fmla="*/ 102 w 355"/>
                <a:gd name="T65" fmla="*/ 152 h 403"/>
                <a:gd name="T66" fmla="*/ 148 w 355"/>
                <a:gd name="T67" fmla="*/ 158 h 403"/>
                <a:gd name="T68" fmla="*/ 119 w 355"/>
                <a:gd name="T69" fmla="*/ 193 h 403"/>
                <a:gd name="T70" fmla="*/ 129 w 355"/>
                <a:gd name="T71" fmla="*/ 200 h 403"/>
                <a:gd name="T72" fmla="*/ 135 w 355"/>
                <a:gd name="T73" fmla="*/ 235 h 403"/>
                <a:gd name="T74" fmla="*/ 105 w 355"/>
                <a:gd name="T75" fmla="*/ 220 h 403"/>
                <a:gd name="T76" fmla="*/ 100 w 355"/>
                <a:gd name="T77" fmla="*/ 232 h 403"/>
                <a:gd name="T78" fmla="*/ 169 w 355"/>
                <a:gd name="T79" fmla="*/ 216 h 403"/>
                <a:gd name="T80" fmla="*/ 207 w 355"/>
                <a:gd name="T81" fmla="*/ 144 h 403"/>
                <a:gd name="T82" fmla="*/ 185 w 355"/>
                <a:gd name="T83" fmla="*/ 151 h 403"/>
                <a:gd name="T84" fmla="*/ 186 w 355"/>
                <a:gd name="T85" fmla="*/ 164 h 403"/>
                <a:gd name="T86" fmla="*/ 201 w 355"/>
                <a:gd name="T87" fmla="*/ 159 h 403"/>
                <a:gd name="T88" fmla="*/ 208 w 355"/>
                <a:gd name="T89" fmla="*/ 247 h 403"/>
                <a:gd name="T90" fmla="*/ 215 w 355"/>
                <a:gd name="T91" fmla="*/ 151 h 4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355" h="403">
                  <a:moveTo>
                    <a:pt x="349" y="85"/>
                  </a:moveTo>
                  <a:cubicBezTo>
                    <a:pt x="319" y="85"/>
                    <a:pt x="319" y="85"/>
                    <a:pt x="319" y="85"/>
                  </a:cubicBezTo>
                  <a:cubicBezTo>
                    <a:pt x="319" y="49"/>
                    <a:pt x="319" y="49"/>
                    <a:pt x="319" y="49"/>
                  </a:cubicBezTo>
                  <a:cubicBezTo>
                    <a:pt x="319" y="45"/>
                    <a:pt x="316" y="43"/>
                    <a:pt x="313" y="43"/>
                  </a:cubicBezTo>
                  <a:cubicBezTo>
                    <a:pt x="266" y="43"/>
                    <a:pt x="266" y="43"/>
                    <a:pt x="266" y="43"/>
                  </a:cubicBezTo>
                  <a:cubicBezTo>
                    <a:pt x="266" y="22"/>
                    <a:pt x="266" y="22"/>
                    <a:pt x="266" y="22"/>
                  </a:cubicBezTo>
                  <a:cubicBezTo>
                    <a:pt x="266" y="10"/>
                    <a:pt x="256" y="0"/>
                    <a:pt x="244" y="0"/>
                  </a:cubicBezTo>
                  <a:cubicBezTo>
                    <a:pt x="231" y="0"/>
                    <a:pt x="221" y="10"/>
                    <a:pt x="221" y="22"/>
                  </a:cubicBezTo>
                  <a:cubicBezTo>
                    <a:pt x="221" y="43"/>
                    <a:pt x="221" y="43"/>
                    <a:pt x="221" y="43"/>
                  </a:cubicBezTo>
                  <a:cubicBezTo>
                    <a:pt x="100" y="43"/>
                    <a:pt x="100" y="43"/>
                    <a:pt x="100" y="43"/>
                  </a:cubicBezTo>
                  <a:cubicBezTo>
                    <a:pt x="100" y="22"/>
                    <a:pt x="100" y="22"/>
                    <a:pt x="100" y="22"/>
                  </a:cubicBezTo>
                  <a:cubicBezTo>
                    <a:pt x="100" y="10"/>
                    <a:pt x="90" y="0"/>
                    <a:pt x="77" y="0"/>
                  </a:cubicBezTo>
                  <a:cubicBezTo>
                    <a:pt x="65" y="0"/>
                    <a:pt x="55" y="10"/>
                    <a:pt x="55" y="22"/>
                  </a:cubicBezTo>
                  <a:cubicBezTo>
                    <a:pt x="55" y="43"/>
                    <a:pt x="55" y="43"/>
                    <a:pt x="55" y="43"/>
                  </a:cubicBezTo>
                  <a:cubicBezTo>
                    <a:pt x="6" y="43"/>
                    <a:pt x="6" y="43"/>
                    <a:pt x="6" y="43"/>
                  </a:cubicBezTo>
                  <a:cubicBezTo>
                    <a:pt x="3" y="43"/>
                    <a:pt x="0" y="45"/>
                    <a:pt x="0" y="49"/>
                  </a:cubicBezTo>
                  <a:cubicBezTo>
                    <a:pt x="0" y="356"/>
                    <a:pt x="0" y="356"/>
                    <a:pt x="0" y="356"/>
                  </a:cubicBezTo>
                  <a:cubicBezTo>
                    <a:pt x="0" y="359"/>
                    <a:pt x="3" y="362"/>
                    <a:pt x="6" y="362"/>
                  </a:cubicBezTo>
                  <a:cubicBezTo>
                    <a:pt x="37" y="362"/>
                    <a:pt x="37" y="362"/>
                    <a:pt x="37" y="362"/>
                  </a:cubicBezTo>
                  <a:cubicBezTo>
                    <a:pt x="37" y="397"/>
                    <a:pt x="37" y="397"/>
                    <a:pt x="37" y="397"/>
                  </a:cubicBezTo>
                  <a:cubicBezTo>
                    <a:pt x="37" y="401"/>
                    <a:pt x="39" y="403"/>
                    <a:pt x="43" y="403"/>
                  </a:cubicBezTo>
                  <a:cubicBezTo>
                    <a:pt x="349" y="403"/>
                    <a:pt x="349" y="403"/>
                    <a:pt x="349" y="403"/>
                  </a:cubicBezTo>
                  <a:cubicBezTo>
                    <a:pt x="353" y="403"/>
                    <a:pt x="355" y="401"/>
                    <a:pt x="355" y="397"/>
                  </a:cubicBezTo>
                  <a:cubicBezTo>
                    <a:pt x="355" y="91"/>
                    <a:pt x="355" y="91"/>
                    <a:pt x="355" y="91"/>
                  </a:cubicBezTo>
                  <a:cubicBezTo>
                    <a:pt x="355" y="87"/>
                    <a:pt x="353" y="85"/>
                    <a:pt x="349" y="85"/>
                  </a:cubicBezTo>
                  <a:close/>
                  <a:moveTo>
                    <a:pt x="233" y="22"/>
                  </a:moveTo>
                  <a:cubicBezTo>
                    <a:pt x="233" y="16"/>
                    <a:pt x="238" y="12"/>
                    <a:pt x="244" y="12"/>
                  </a:cubicBezTo>
                  <a:cubicBezTo>
                    <a:pt x="249" y="12"/>
                    <a:pt x="254" y="16"/>
                    <a:pt x="254" y="22"/>
                  </a:cubicBezTo>
                  <a:cubicBezTo>
                    <a:pt x="254" y="43"/>
                    <a:pt x="254" y="43"/>
                    <a:pt x="254" y="43"/>
                  </a:cubicBezTo>
                  <a:cubicBezTo>
                    <a:pt x="233" y="43"/>
                    <a:pt x="233" y="43"/>
                    <a:pt x="233" y="43"/>
                  </a:cubicBezTo>
                  <a:lnTo>
                    <a:pt x="233" y="22"/>
                  </a:lnTo>
                  <a:close/>
                  <a:moveTo>
                    <a:pt x="67" y="22"/>
                  </a:moveTo>
                  <a:cubicBezTo>
                    <a:pt x="67" y="16"/>
                    <a:pt x="72" y="12"/>
                    <a:pt x="77" y="12"/>
                  </a:cubicBezTo>
                  <a:cubicBezTo>
                    <a:pt x="83" y="12"/>
                    <a:pt x="88" y="16"/>
                    <a:pt x="88" y="22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67" y="43"/>
                    <a:pt x="67" y="43"/>
                    <a:pt x="67" y="43"/>
                  </a:cubicBezTo>
                  <a:lnTo>
                    <a:pt x="67" y="22"/>
                  </a:lnTo>
                  <a:close/>
                  <a:moveTo>
                    <a:pt x="12" y="350"/>
                  </a:moveTo>
                  <a:cubicBezTo>
                    <a:pt x="12" y="55"/>
                    <a:pt x="12" y="55"/>
                    <a:pt x="12" y="55"/>
                  </a:cubicBezTo>
                  <a:cubicBezTo>
                    <a:pt x="55" y="55"/>
                    <a:pt x="55" y="55"/>
                    <a:pt x="55" y="55"/>
                  </a:cubicBezTo>
                  <a:cubicBezTo>
                    <a:pt x="55" y="91"/>
                    <a:pt x="55" y="91"/>
                    <a:pt x="55" y="91"/>
                  </a:cubicBezTo>
                  <a:cubicBezTo>
                    <a:pt x="55" y="94"/>
                    <a:pt x="58" y="97"/>
                    <a:pt x="61" y="97"/>
                  </a:cubicBezTo>
                  <a:cubicBezTo>
                    <a:pt x="64" y="97"/>
                    <a:pt x="67" y="94"/>
                    <a:pt x="67" y="91"/>
                  </a:cubicBezTo>
                  <a:cubicBezTo>
                    <a:pt x="67" y="55"/>
                    <a:pt x="67" y="55"/>
                    <a:pt x="67" y="55"/>
                  </a:cubicBezTo>
                  <a:cubicBezTo>
                    <a:pt x="221" y="55"/>
                    <a:pt x="221" y="55"/>
                    <a:pt x="221" y="55"/>
                  </a:cubicBezTo>
                  <a:cubicBezTo>
                    <a:pt x="221" y="91"/>
                    <a:pt x="221" y="91"/>
                    <a:pt x="221" y="91"/>
                  </a:cubicBezTo>
                  <a:cubicBezTo>
                    <a:pt x="221" y="94"/>
                    <a:pt x="224" y="97"/>
                    <a:pt x="227" y="97"/>
                  </a:cubicBezTo>
                  <a:cubicBezTo>
                    <a:pt x="230" y="97"/>
                    <a:pt x="233" y="94"/>
                    <a:pt x="233" y="91"/>
                  </a:cubicBezTo>
                  <a:cubicBezTo>
                    <a:pt x="233" y="55"/>
                    <a:pt x="233" y="55"/>
                    <a:pt x="233" y="55"/>
                  </a:cubicBezTo>
                  <a:cubicBezTo>
                    <a:pt x="307" y="55"/>
                    <a:pt x="307" y="55"/>
                    <a:pt x="307" y="55"/>
                  </a:cubicBezTo>
                  <a:cubicBezTo>
                    <a:pt x="307" y="350"/>
                    <a:pt x="307" y="350"/>
                    <a:pt x="307" y="350"/>
                  </a:cubicBezTo>
                  <a:lnTo>
                    <a:pt x="12" y="350"/>
                  </a:lnTo>
                  <a:close/>
                  <a:moveTo>
                    <a:pt x="343" y="391"/>
                  </a:moveTo>
                  <a:cubicBezTo>
                    <a:pt x="49" y="391"/>
                    <a:pt x="49" y="391"/>
                    <a:pt x="49" y="391"/>
                  </a:cubicBezTo>
                  <a:cubicBezTo>
                    <a:pt x="49" y="362"/>
                    <a:pt x="49" y="362"/>
                    <a:pt x="49" y="362"/>
                  </a:cubicBezTo>
                  <a:cubicBezTo>
                    <a:pt x="313" y="362"/>
                    <a:pt x="313" y="362"/>
                    <a:pt x="313" y="362"/>
                  </a:cubicBezTo>
                  <a:cubicBezTo>
                    <a:pt x="316" y="362"/>
                    <a:pt x="319" y="359"/>
                    <a:pt x="319" y="356"/>
                  </a:cubicBezTo>
                  <a:cubicBezTo>
                    <a:pt x="319" y="97"/>
                    <a:pt x="319" y="97"/>
                    <a:pt x="319" y="97"/>
                  </a:cubicBezTo>
                  <a:cubicBezTo>
                    <a:pt x="343" y="97"/>
                    <a:pt x="343" y="97"/>
                    <a:pt x="343" y="97"/>
                  </a:cubicBezTo>
                  <a:lnTo>
                    <a:pt x="343" y="391"/>
                  </a:lnTo>
                  <a:close/>
                  <a:moveTo>
                    <a:pt x="139" y="188"/>
                  </a:moveTo>
                  <a:cubicBezTo>
                    <a:pt x="165" y="158"/>
                    <a:pt x="165" y="158"/>
                    <a:pt x="165" y="158"/>
                  </a:cubicBezTo>
                  <a:cubicBezTo>
                    <a:pt x="167" y="156"/>
                    <a:pt x="168" y="154"/>
                    <a:pt x="168" y="152"/>
                  </a:cubicBezTo>
                  <a:cubicBezTo>
                    <a:pt x="168" y="148"/>
                    <a:pt x="166" y="145"/>
                    <a:pt x="162" y="145"/>
                  </a:cubicBezTo>
                  <a:cubicBezTo>
                    <a:pt x="108" y="145"/>
                    <a:pt x="108" y="145"/>
                    <a:pt x="108" y="145"/>
                  </a:cubicBezTo>
                  <a:cubicBezTo>
                    <a:pt x="105" y="145"/>
                    <a:pt x="102" y="148"/>
                    <a:pt x="102" y="152"/>
                  </a:cubicBezTo>
                  <a:cubicBezTo>
                    <a:pt x="102" y="155"/>
                    <a:pt x="105" y="158"/>
                    <a:pt x="108" y="158"/>
                  </a:cubicBezTo>
                  <a:cubicBezTo>
                    <a:pt x="148" y="158"/>
                    <a:pt x="148" y="158"/>
                    <a:pt x="148" y="158"/>
                  </a:cubicBezTo>
                  <a:cubicBezTo>
                    <a:pt x="122" y="188"/>
                    <a:pt x="122" y="188"/>
                    <a:pt x="122" y="188"/>
                  </a:cubicBezTo>
                  <a:cubicBezTo>
                    <a:pt x="120" y="190"/>
                    <a:pt x="119" y="191"/>
                    <a:pt x="119" y="193"/>
                  </a:cubicBezTo>
                  <a:cubicBezTo>
                    <a:pt x="119" y="197"/>
                    <a:pt x="122" y="200"/>
                    <a:pt x="126" y="200"/>
                  </a:cubicBezTo>
                  <a:cubicBezTo>
                    <a:pt x="129" y="200"/>
                    <a:pt x="129" y="200"/>
                    <a:pt x="129" y="200"/>
                  </a:cubicBezTo>
                  <a:cubicBezTo>
                    <a:pt x="145" y="200"/>
                    <a:pt x="155" y="206"/>
                    <a:pt x="155" y="217"/>
                  </a:cubicBezTo>
                  <a:cubicBezTo>
                    <a:pt x="155" y="227"/>
                    <a:pt x="147" y="235"/>
                    <a:pt x="135" y="235"/>
                  </a:cubicBezTo>
                  <a:cubicBezTo>
                    <a:pt x="125" y="235"/>
                    <a:pt x="117" y="231"/>
                    <a:pt x="110" y="223"/>
                  </a:cubicBezTo>
                  <a:cubicBezTo>
                    <a:pt x="109" y="221"/>
                    <a:pt x="107" y="220"/>
                    <a:pt x="105" y="220"/>
                  </a:cubicBezTo>
                  <a:cubicBezTo>
                    <a:pt x="101" y="220"/>
                    <a:pt x="98" y="224"/>
                    <a:pt x="98" y="227"/>
                  </a:cubicBezTo>
                  <a:cubicBezTo>
                    <a:pt x="98" y="229"/>
                    <a:pt x="99" y="231"/>
                    <a:pt x="100" y="232"/>
                  </a:cubicBezTo>
                  <a:cubicBezTo>
                    <a:pt x="109" y="242"/>
                    <a:pt x="121" y="248"/>
                    <a:pt x="135" y="248"/>
                  </a:cubicBezTo>
                  <a:cubicBezTo>
                    <a:pt x="155" y="248"/>
                    <a:pt x="169" y="234"/>
                    <a:pt x="169" y="216"/>
                  </a:cubicBezTo>
                  <a:cubicBezTo>
                    <a:pt x="169" y="201"/>
                    <a:pt x="158" y="190"/>
                    <a:pt x="139" y="188"/>
                  </a:cubicBezTo>
                  <a:close/>
                  <a:moveTo>
                    <a:pt x="207" y="144"/>
                  </a:moveTo>
                  <a:cubicBezTo>
                    <a:pt x="205" y="144"/>
                    <a:pt x="203" y="145"/>
                    <a:pt x="201" y="146"/>
                  </a:cubicBezTo>
                  <a:cubicBezTo>
                    <a:pt x="185" y="151"/>
                    <a:pt x="185" y="151"/>
                    <a:pt x="185" y="151"/>
                  </a:cubicBezTo>
                  <a:cubicBezTo>
                    <a:pt x="182" y="152"/>
                    <a:pt x="180" y="154"/>
                    <a:pt x="180" y="157"/>
                  </a:cubicBezTo>
                  <a:cubicBezTo>
                    <a:pt x="180" y="161"/>
                    <a:pt x="183" y="164"/>
                    <a:pt x="186" y="164"/>
                  </a:cubicBezTo>
                  <a:cubicBezTo>
                    <a:pt x="187" y="164"/>
                    <a:pt x="188" y="163"/>
                    <a:pt x="189" y="163"/>
                  </a:cubicBezTo>
                  <a:cubicBezTo>
                    <a:pt x="201" y="159"/>
                    <a:pt x="201" y="159"/>
                    <a:pt x="201" y="159"/>
                  </a:cubicBezTo>
                  <a:cubicBezTo>
                    <a:pt x="201" y="240"/>
                    <a:pt x="201" y="240"/>
                    <a:pt x="201" y="240"/>
                  </a:cubicBezTo>
                  <a:cubicBezTo>
                    <a:pt x="201" y="243"/>
                    <a:pt x="204" y="247"/>
                    <a:pt x="208" y="247"/>
                  </a:cubicBezTo>
                  <a:cubicBezTo>
                    <a:pt x="211" y="247"/>
                    <a:pt x="215" y="243"/>
                    <a:pt x="215" y="240"/>
                  </a:cubicBezTo>
                  <a:cubicBezTo>
                    <a:pt x="215" y="151"/>
                    <a:pt x="215" y="151"/>
                    <a:pt x="215" y="151"/>
                  </a:cubicBezTo>
                  <a:cubicBezTo>
                    <a:pt x="215" y="147"/>
                    <a:pt x="211" y="144"/>
                    <a:pt x="207" y="14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Helvetica" pitchFamily="2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12EC529-80A3-5053-CE9C-4F89B67A3C71}"/>
              </a:ext>
            </a:extLst>
          </p:cNvPr>
          <p:cNvGrpSpPr>
            <a:grpSpLocks noChangeAspect="1"/>
          </p:cNvGrpSpPr>
          <p:nvPr/>
        </p:nvGrpSpPr>
        <p:grpSpPr>
          <a:xfrm>
            <a:off x="8457009" y="3655363"/>
            <a:ext cx="769506" cy="769506"/>
            <a:chOff x="7264129" y="1598241"/>
            <a:chExt cx="1144040" cy="114404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E24DE87-3669-E3E4-49A2-983BBDE16B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64129" y="1598241"/>
              <a:ext cx="1144040" cy="114404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Helvetica" pitchFamily="2" charset="0"/>
              </a:endParaRPr>
            </a:p>
          </p:txBody>
        </p:sp>
        <p:sp>
          <p:nvSpPr>
            <p:cNvPr id="26" name="Freeform 13">
              <a:extLst>
                <a:ext uri="{FF2B5EF4-FFF2-40B4-BE49-F238E27FC236}">
                  <a16:creationId xmlns:a16="http://schemas.microsoft.com/office/drawing/2014/main" id="{36801523-1FE5-F528-F701-571971B69BA5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7467346" y="1786536"/>
              <a:ext cx="620628" cy="698454"/>
            </a:xfrm>
            <a:custGeom>
              <a:avLst/>
              <a:gdLst>
                <a:gd name="T0" fmla="*/ 112 w 395"/>
                <a:gd name="T1" fmla="*/ 250 h 445"/>
                <a:gd name="T2" fmla="*/ 119 w 395"/>
                <a:gd name="T3" fmla="*/ 259 h 445"/>
                <a:gd name="T4" fmla="*/ 153 w 395"/>
                <a:gd name="T5" fmla="*/ 343 h 445"/>
                <a:gd name="T6" fmla="*/ 172 w 395"/>
                <a:gd name="T7" fmla="*/ 417 h 445"/>
                <a:gd name="T8" fmla="*/ 227 w 395"/>
                <a:gd name="T9" fmla="*/ 414 h 445"/>
                <a:gd name="T10" fmla="*/ 243 w 395"/>
                <a:gd name="T11" fmla="*/ 387 h 445"/>
                <a:gd name="T12" fmla="*/ 242 w 395"/>
                <a:gd name="T13" fmla="*/ 342 h 445"/>
                <a:gd name="T14" fmla="*/ 282 w 395"/>
                <a:gd name="T15" fmla="*/ 252 h 445"/>
                <a:gd name="T16" fmla="*/ 197 w 395"/>
                <a:gd name="T17" fmla="*/ 83 h 445"/>
                <a:gd name="T18" fmla="*/ 184 w 395"/>
                <a:gd name="T19" fmla="*/ 417 h 445"/>
                <a:gd name="T20" fmla="*/ 215 w 395"/>
                <a:gd name="T21" fmla="*/ 417 h 445"/>
                <a:gd name="T22" fmla="*/ 194 w 395"/>
                <a:gd name="T23" fmla="*/ 387 h 445"/>
                <a:gd name="T24" fmla="*/ 217 w 395"/>
                <a:gd name="T25" fmla="*/ 404 h 445"/>
                <a:gd name="T26" fmla="*/ 165 w 395"/>
                <a:gd name="T27" fmla="*/ 371 h 445"/>
                <a:gd name="T28" fmla="*/ 196 w 395"/>
                <a:gd name="T29" fmla="*/ 359 h 445"/>
                <a:gd name="T30" fmla="*/ 230 w 395"/>
                <a:gd name="T31" fmla="*/ 349 h 445"/>
                <a:gd name="T32" fmla="*/ 272 w 395"/>
                <a:gd name="T33" fmla="*/ 244 h 445"/>
                <a:gd name="T34" fmla="*/ 266 w 395"/>
                <a:gd name="T35" fmla="*/ 251 h 445"/>
                <a:gd name="T36" fmla="*/ 164 w 395"/>
                <a:gd name="T37" fmla="*/ 337 h 445"/>
                <a:gd name="T38" fmla="*/ 123 w 395"/>
                <a:gd name="T39" fmla="*/ 245 h 445"/>
                <a:gd name="T40" fmla="*/ 122 w 395"/>
                <a:gd name="T41" fmla="*/ 244 h 445"/>
                <a:gd name="T42" fmla="*/ 291 w 395"/>
                <a:gd name="T43" fmla="*/ 189 h 445"/>
                <a:gd name="T44" fmla="*/ 203 w 395"/>
                <a:gd name="T45" fmla="*/ 60 h 445"/>
                <a:gd name="T46" fmla="*/ 191 w 395"/>
                <a:gd name="T47" fmla="*/ 6 h 445"/>
                <a:gd name="T48" fmla="*/ 66 w 395"/>
                <a:gd name="T49" fmla="*/ 198 h 445"/>
                <a:gd name="T50" fmla="*/ 0 w 395"/>
                <a:gd name="T51" fmla="*/ 198 h 445"/>
                <a:gd name="T52" fmla="*/ 66 w 395"/>
                <a:gd name="T53" fmla="*/ 198 h 445"/>
                <a:gd name="T54" fmla="*/ 329 w 395"/>
                <a:gd name="T55" fmla="*/ 198 h 445"/>
                <a:gd name="T56" fmla="*/ 395 w 395"/>
                <a:gd name="T57" fmla="*/ 198 h 445"/>
                <a:gd name="T58" fmla="*/ 299 w 395"/>
                <a:gd name="T59" fmla="*/ 105 h 445"/>
                <a:gd name="T60" fmla="*/ 328 w 395"/>
                <a:gd name="T61" fmla="*/ 58 h 445"/>
                <a:gd name="T62" fmla="*/ 295 w 395"/>
                <a:gd name="T63" fmla="*/ 106 h 445"/>
                <a:gd name="T64" fmla="*/ 104 w 395"/>
                <a:gd name="T65" fmla="*/ 105 h 445"/>
                <a:gd name="T66" fmla="*/ 58 w 395"/>
                <a:gd name="T67" fmla="*/ 58 h 445"/>
                <a:gd name="T68" fmla="*/ 251 w 395"/>
                <a:gd name="T69" fmla="*/ 77 h 445"/>
                <a:gd name="T70" fmla="*/ 281 w 395"/>
                <a:gd name="T71" fmla="*/ 25 h 445"/>
                <a:gd name="T72" fmla="*/ 248 w 395"/>
                <a:gd name="T73" fmla="*/ 70 h 445"/>
                <a:gd name="T74" fmla="*/ 25 w 395"/>
                <a:gd name="T75" fmla="*/ 114 h 445"/>
                <a:gd name="T76" fmla="*/ 69 w 395"/>
                <a:gd name="T77" fmla="*/ 147 h 445"/>
                <a:gd name="T78" fmla="*/ 74 w 395"/>
                <a:gd name="T79" fmla="*/ 136 h 445"/>
                <a:gd name="T80" fmla="*/ 317 w 395"/>
                <a:gd name="T81" fmla="*/ 251 h 445"/>
                <a:gd name="T82" fmla="*/ 372 w 395"/>
                <a:gd name="T83" fmla="*/ 281 h 445"/>
                <a:gd name="T84" fmla="*/ 65 w 395"/>
                <a:gd name="T85" fmla="*/ 242 h 445"/>
                <a:gd name="T86" fmla="*/ 19 w 395"/>
                <a:gd name="T87" fmla="*/ 272 h 445"/>
                <a:gd name="T88" fmla="*/ 73 w 395"/>
                <a:gd name="T89" fmla="*/ 245 h 445"/>
                <a:gd name="T90" fmla="*/ 326 w 395"/>
                <a:gd name="T91" fmla="*/ 154 h 445"/>
                <a:gd name="T92" fmla="*/ 381 w 395"/>
                <a:gd name="T93" fmla="*/ 127 h 445"/>
                <a:gd name="T94" fmla="*/ 320 w 395"/>
                <a:gd name="T95" fmla="*/ 150 h 445"/>
                <a:gd name="T96" fmla="*/ 150 w 395"/>
                <a:gd name="T97" fmla="*/ 75 h 445"/>
                <a:gd name="T98" fmla="*/ 127 w 395"/>
                <a:gd name="T99" fmla="*/ 13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95" h="445">
                  <a:moveTo>
                    <a:pt x="197" y="83"/>
                  </a:moveTo>
                  <a:cubicBezTo>
                    <a:pt x="139" y="83"/>
                    <a:pt x="92" y="131"/>
                    <a:pt x="92" y="189"/>
                  </a:cubicBezTo>
                  <a:cubicBezTo>
                    <a:pt x="92" y="211"/>
                    <a:pt x="99" y="232"/>
                    <a:pt x="112" y="250"/>
                  </a:cubicBezTo>
                  <a:cubicBezTo>
                    <a:pt x="112" y="251"/>
                    <a:pt x="113" y="251"/>
                    <a:pt x="113" y="252"/>
                  </a:cubicBezTo>
                  <a:cubicBezTo>
                    <a:pt x="114" y="252"/>
                    <a:pt x="114" y="252"/>
                    <a:pt x="114" y="252"/>
                  </a:cubicBezTo>
                  <a:cubicBezTo>
                    <a:pt x="115" y="255"/>
                    <a:pt x="117" y="257"/>
                    <a:pt x="119" y="259"/>
                  </a:cubicBezTo>
                  <a:cubicBezTo>
                    <a:pt x="130" y="272"/>
                    <a:pt x="153" y="306"/>
                    <a:pt x="153" y="343"/>
                  </a:cubicBezTo>
                  <a:cubicBezTo>
                    <a:pt x="153" y="343"/>
                    <a:pt x="153" y="343"/>
                    <a:pt x="153" y="343"/>
                  </a:cubicBezTo>
                  <a:cubicBezTo>
                    <a:pt x="153" y="343"/>
                    <a:pt x="153" y="343"/>
                    <a:pt x="153" y="343"/>
                  </a:cubicBezTo>
                  <a:cubicBezTo>
                    <a:pt x="153" y="391"/>
                    <a:pt x="153" y="391"/>
                    <a:pt x="153" y="391"/>
                  </a:cubicBezTo>
                  <a:cubicBezTo>
                    <a:pt x="153" y="403"/>
                    <a:pt x="161" y="413"/>
                    <a:pt x="172" y="416"/>
                  </a:cubicBezTo>
                  <a:cubicBezTo>
                    <a:pt x="172" y="417"/>
                    <a:pt x="172" y="417"/>
                    <a:pt x="172" y="417"/>
                  </a:cubicBezTo>
                  <a:cubicBezTo>
                    <a:pt x="172" y="433"/>
                    <a:pt x="184" y="445"/>
                    <a:pt x="200" y="445"/>
                  </a:cubicBezTo>
                  <a:cubicBezTo>
                    <a:pt x="215" y="445"/>
                    <a:pt x="227" y="433"/>
                    <a:pt x="227" y="417"/>
                  </a:cubicBezTo>
                  <a:cubicBezTo>
                    <a:pt x="227" y="414"/>
                    <a:pt x="227" y="414"/>
                    <a:pt x="227" y="414"/>
                  </a:cubicBezTo>
                  <a:cubicBezTo>
                    <a:pt x="236" y="410"/>
                    <a:pt x="242" y="401"/>
                    <a:pt x="242" y="391"/>
                  </a:cubicBezTo>
                  <a:cubicBezTo>
                    <a:pt x="242" y="389"/>
                    <a:pt x="242" y="389"/>
                    <a:pt x="242" y="389"/>
                  </a:cubicBezTo>
                  <a:cubicBezTo>
                    <a:pt x="243" y="389"/>
                    <a:pt x="243" y="388"/>
                    <a:pt x="243" y="387"/>
                  </a:cubicBezTo>
                  <a:cubicBezTo>
                    <a:pt x="243" y="386"/>
                    <a:pt x="243" y="385"/>
                    <a:pt x="242" y="384"/>
                  </a:cubicBezTo>
                  <a:cubicBezTo>
                    <a:pt x="242" y="343"/>
                    <a:pt x="242" y="343"/>
                    <a:pt x="242" y="343"/>
                  </a:cubicBezTo>
                  <a:cubicBezTo>
                    <a:pt x="242" y="342"/>
                    <a:pt x="242" y="342"/>
                    <a:pt x="242" y="342"/>
                  </a:cubicBezTo>
                  <a:cubicBezTo>
                    <a:pt x="242" y="306"/>
                    <a:pt x="265" y="272"/>
                    <a:pt x="275" y="259"/>
                  </a:cubicBezTo>
                  <a:cubicBezTo>
                    <a:pt x="277" y="257"/>
                    <a:pt x="279" y="255"/>
                    <a:pt x="281" y="252"/>
                  </a:cubicBezTo>
                  <a:cubicBezTo>
                    <a:pt x="282" y="252"/>
                    <a:pt x="282" y="252"/>
                    <a:pt x="282" y="252"/>
                  </a:cubicBezTo>
                  <a:cubicBezTo>
                    <a:pt x="282" y="251"/>
                    <a:pt x="282" y="251"/>
                    <a:pt x="283" y="250"/>
                  </a:cubicBezTo>
                  <a:cubicBezTo>
                    <a:pt x="296" y="232"/>
                    <a:pt x="303" y="211"/>
                    <a:pt x="303" y="189"/>
                  </a:cubicBezTo>
                  <a:cubicBezTo>
                    <a:pt x="303" y="131"/>
                    <a:pt x="255" y="83"/>
                    <a:pt x="197" y="83"/>
                  </a:cubicBezTo>
                  <a:close/>
                  <a:moveTo>
                    <a:pt x="215" y="417"/>
                  </a:moveTo>
                  <a:cubicBezTo>
                    <a:pt x="215" y="426"/>
                    <a:pt x="208" y="433"/>
                    <a:pt x="200" y="433"/>
                  </a:cubicBezTo>
                  <a:cubicBezTo>
                    <a:pt x="191" y="433"/>
                    <a:pt x="184" y="426"/>
                    <a:pt x="184" y="417"/>
                  </a:cubicBezTo>
                  <a:cubicBezTo>
                    <a:pt x="184" y="416"/>
                    <a:pt x="184" y="416"/>
                    <a:pt x="184" y="416"/>
                  </a:cubicBezTo>
                  <a:cubicBezTo>
                    <a:pt x="215" y="416"/>
                    <a:pt x="215" y="416"/>
                    <a:pt x="215" y="416"/>
                  </a:cubicBezTo>
                  <a:lnTo>
                    <a:pt x="215" y="417"/>
                  </a:lnTo>
                  <a:close/>
                  <a:moveTo>
                    <a:pt x="230" y="381"/>
                  </a:moveTo>
                  <a:cubicBezTo>
                    <a:pt x="200" y="381"/>
                    <a:pt x="200" y="381"/>
                    <a:pt x="200" y="381"/>
                  </a:cubicBezTo>
                  <a:cubicBezTo>
                    <a:pt x="196" y="381"/>
                    <a:pt x="194" y="384"/>
                    <a:pt x="194" y="387"/>
                  </a:cubicBezTo>
                  <a:cubicBezTo>
                    <a:pt x="194" y="390"/>
                    <a:pt x="196" y="393"/>
                    <a:pt x="200" y="393"/>
                  </a:cubicBezTo>
                  <a:cubicBezTo>
                    <a:pt x="230" y="393"/>
                    <a:pt x="230" y="393"/>
                    <a:pt x="230" y="393"/>
                  </a:cubicBezTo>
                  <a:cubicBezTo>
                    <a:pt x="229" y="399"/>
                    <a:pt x="224" y="404"/>
                    <a:pt x="217" y="404"/>
                  </a:cubicBezTo>
                  <a:cubicBezTo>
                    <a:pt x="178" y="404"/>
                    <a:pt x="178" y="404"/>
                    <a:pt x="178" y="404"/>
                  </a:cubicBezTo>
                  <a:cubicBezTo>
                    <a:pt x="171" y="404"/>
                    <a:pt x="165" y="398"/>
                    <a:pt x="165" y="391"/>
                  </a:cubicBezTo>
                  <a:cubicBezTo>
                    <a:pt x="165" y="371"/>
                    <a:pt x="165" y="371"/>
                    <a:pt x="165" y="371"/>
                  </a:cubicBezTo>
                  <a:cubicBezTo>
                    <a:pt x="196" y="371"/>
                    <a:pt x="196" y="371"/>
                    <a:pt x="196" y="371"/>
                  </a:cubicBezTo>
                  <a:cubicBezTo>
                    <a:pt x="199" y="371"/>
                    <a:pt x="202" y="368"/>
                    <a:pt x="202" y="365"/>
                  </a:cubicBezTo>
                  <a:cubicBezTo>
                    <a:pt x="202" y="362"/>
                    <a:pt x="199" y="359"/>
                    <a:pt x="196" y="359"/>
                  </a:cubicBezTo>
                  <a:cubicBezTo>
                    <a:pt x="165" y="359"/>
                    <a:pt x="165" y="359"/>
                    <a:pt x="165" y="359"/>
                  </a:cubicBezTo>
                  <a:cubicBezTo>
                    <a:pt x="165" y="349"/>
                    <a:pt x="165" y="349"/>
                    <a:pt x="165" y="349"/>
                  </a:cubicBezTo>
                  <a:cubicBezTo>
                    <a:pt x="230" y="349"/>
                    <a:pt x="230" y="349"/>
                    <a:pt x="230" y="349"/>
                  </a:cubicBezTo>
                  <a:lnTo>
                    <a:pt x="230" y="381"/>
                  </a:lnTo>
                  <a:close/>
                  <a:moveTo>
                    <a:pt x="272" y="244"/>
                  </a:moveTo>
                  <a:cubicBezTo>
                    <a:pt x="272" y="244"/>
                    <a:pt x="272" y="244"/>
                    <a:pt x="272" y="244"/>
                  </a:cubicBezTo>
                  <a:cubicBezTo>
                    <a:pt x="272" y="244"/>
                    <a:pt x="272" y="244"/>
                    <a:pt x="272" y="244"/>
                  </a:cubicBezTo>
                  <a:cubicBezTo>
                    <a:pt x="272" y="244"/>
                    <a:pt x="272" y="245"/>
                    <a:pt x="272" y="245"/>
                  </a:cubicBezTo>
                  <a:cubicBezTo>
                    <a:pt x="270" y="247"/>
                    <a:pt x="268" y="249"/>
                    <a:pt x="266" y="251"/>
                  </a:cubicBezTo>
                  <a:cubicBezTo>
                    <a:pt x="266" y="251"/>
                    <a:pt x="266" y="251"/>
                    <a:pt x="266" y="251"/>
                  </a:cubicBezTo>
                  <a:cubicBezTo>
                    <a:pt x="253" y="268"/>
                    <a:pt x="232" y="300"/>
                    <a:pt x="230" y="337"/>
                  </a:cubicBezTo>
                  <a:cubicBezTo>
                    <a:pt x="164" y="337"/>
                    <a:pt x="164" y="337"/>
                    <a:pt x="164" y="337"/>
                  </a:cubicBezTo>
                  <a:cubicBezTo>
                    <a:pt x="163" y="300"/>
                    <a:pt x="142" y="268"/>
                    <a:pt x="129" y="251"/>
                  </a:cubicBezTo>
                  <a:cubicBezTo>
                    <a:pt x="129" y="251"/>
                    <a:pt x="128" y="251"/>
                    <a:pt x="128" y="251"/>
                  </a:cubicBezTo>
                  <a:cubicBezTo>
                    <a:pt x="126" y="249"/>
                    <a:pt x="125" y="247"/>
                    <a:pt x="123" y="245"/>
                  </a:cubicBezTo>
                  <a:cubicBezTo>
                    <a:pt x="123" y="245"/>
                    <a:pt x="123" y="244"/>
                    <a:pt x="123" y="244"/>
                  </a:cubicBezTo>
                  <a:cubicBezTo>
                    <a:pt x="123" y="244"/>
                    <a:pt x="123" y="244"/>
                    <a:pt x="123" y="244"/>
                  </a:cubicBezTo>
                  <a:cubicBezTo>
                    <a:pt x="123" y="244"/>
                    <a:pt x="123" y="244"/>
                    <a:pt x="122" y="244"/>
                  </a:cubicBezTo>
                  <a:cubicBezTo>
                    <a:pt x="110" y="228"/>
                    <a:pt x="104" y="209"/>
                    <a:pt x="104" y="189"/>
                  </a:cubicBezTo>
                  <a:cubicBezTo>
                    <a:pt x="104" y="137"/>
                    <a:pt x="146" y="95"/>
                    <a:pt x="197" y="95"/>
                  </a:cubicBezTo>
                  <a:cubicBezTo>
                    <a:pt x="249" y="95"/>
                    <a:pt x="291" y="137"/>
                    <a:pt x="291" y="189"/>
                  </a:cubicBezTo>
                  <a:cubicBezTo>
                    <a:pt x="291" y="209"/>
                    <a:pt x="284" y="228"/>
                    <a:pt x="272" y="244"/>
                  </a:cubicBezTo>
                  <a:close/>
                  <a:moveTo>
                    <a:pt x="197" y="66"/>
                  </a:moveTo>
                  <a:cubicBezTo>
                    <a:pt x="201" y="66"/>
                    <a:pt x="203" y="63"/>
                    <a:pt x="203" y="60"/>
                  </a:cubicBezTo>
                  <a:cubicBezTo>
                    <a:pt x="203" y="6"/>
                    <a:pt x="203" y="6"/>
                    <a:pt x="203" y="6"/>
                  </a:cubicBezTo>
                  <a:cubicBezTo>
                    <a:pt x="203" y="3"/>
                    <a:pt x="201" y="0"/>
                    <a:pt x="197" y="0"/>
                  </a:cubicBezTo>
                  <a:cubicBezTo>
                    <a:pt x="194" y="0"/>
                    <a:pt x="191" y="3"/>
                    <a:pt x="191" y="6"/>
                  </a:cubicBezTo>
                  <a:cubicBezTo>
                    <a:pt x="191" y="60"/>
                    <a:pt x="191" y="60"/>
                    <a:pt x="191" y="60"/>
                  </a:cubicBezTo>
                  <a:cubicBezTo>
                    <a:pt x="191" y="63"/>
                    <a:pt x="194" y="66"/>
                    <a:pt x="197" y="66"/>
                  </a:cubicBezTo>
                  <a:close/>
                  <a:moveTo>
                    <a:pt x="66" y="198"/>
                  </a:moveTo>
                  <a:cubicBezTo>
                    <a:pt x="66" y="194"/>
                    <a:pt x="63" y="192"/>
                    <a:pt x="60" y="192"/>
                  </a:cubicBezTo>
                  <a:cubicBezTo>
                    <a:pt x="6" y="192"/>
                    <a:pt x="6" y="192"/>
                    <a:pt x="6" y="192"/>
                  </a:cubicBezTo>
                  <a:cubicBezTo>
                    <a:pt x="3" y="192"/>
                    <a:pt x="0" y="194"/>
                    <a:pt x="0" y="198"/>
                  </a:cubicBezTo>
                  <a:cubicBezTo>
                    <a:pt x="0" y="201"/>
                    <a:pt x="3" y="204"/>
                    <a:pt x="6" y="204"/>
                  </a:cubicBezTo>
                  <a:cubicBezTo>
                    <a:pt x="60" y="204"/>
                    <a:pt x="60" y="204"/>
                    <a:pt x="60" y="204"/>
                  </a:cubicBezTo>
                  <a:cubicBezTo>
                    <a:pt x="63" y="204"/>
                    <a:pt x="66" y="201"/>
                    <a:pt x="66" y="198"/>
                  </a:cubicBezTo>
                  <a:close/>
                  <a:moveTo>
                    <a:pt x="389" y="192"/>
                  </a:moveTo>
                  <a:cubicBezTo>
                    <a:pt x="335" y="192"/>
                    <a:pt x="335" y="192"/>
                    <a:pt x="335" y="192"/>
                  </a:cubicBezTo>
                  <a:cubicBezTo>
                    <a:pt x="331" y="192"/>
                    <a:pt x="329" y="194"/>
                    <a:pt x="329" y="198"/>
                  </a:cubicBezTo>
                  <a:cubicBezTo>
                    <a:pt x="329" y="201"/>
                    <a:pt x="331" y="204"/>
                    <a:pt x="335" y="204"/>
                  </a:cubicBezTo>
                  <a:cubicBezTo>
                    <a:pt x="389" y="204"/>
                    <a:pt x="389" y="204"/>
                    <a:pt x="389" y="204"/>
                  </a:cubicBezTo>
                  <a:cubicBezTo>
                    <a:pt x="392" y="204"/>
                    <a:pt x="395" y="201"/>
                    <a:pt x="395" y="198"/>
                  </a:cubicBezTo>
                  <a:cubicBezTo>
                    <a:pt x="395" y="194"/>
                    <a:pt x="392" y="192"/>
                    <a:pt x="389" y="192"/>
                  </a:cubicBezTo>
                  <a:close/>
                  <a:moveTo>
                    <a:pt x="295" y="106"/>
                  </a:moveTo>
                  <a:cubicBezTo>
                    <a:pt x="296" y="106"/>
                    <a:pt x="298" y="106"/>
                    <a:pt x="299" y="105"/>
                  </a:cubicBezTo>
                  <a:cubicBezTo>
                    <a:pt x="337" y="67"/>
                    <a:pt x="337" y="67"/>
                    <a:pt x="337" y="67"/>
                  </a:cubicBezTo>
                  <a:cubicBezTo>
                    <a:pt x="339" y="64"/>
                    <a:pt x="339" y="60"/>
                    <a:pt x="337" y="58"/>
                  </a:cubicBezTo>
                  <a:cubicBezTo>
                    <a:pt x="334" y="56"/>
                    <a:pt x="331" y="56"/>
                    <a:pt x="328" y="58"/>
                  </a:cubicBezTo>
                  <a:cubicBezTo>
                    <a:pt x="290" y="96"/>
                    <a:pt x="290" y="96"/>
                    <a:pt x="290" y="96"/>
                  </a:cubicBezTo>
                  <a:cubicBezTo>
                    <a:pt x="288" y="98"/>
                    <a:pt x="288" y="102"/>
                    <a:pt x="290" y="105"/>
                  </a:cubicBezTo>
                  <a:cubicBezTo>
                    <a:pt x="291" y="106"/>
                    <a:pt x="293" y="106"/>
                    <a:pt x="295" y="106"/>
                  </a:cubicBezTo>
                  <a:close/>
                  <a:moveTo>
                    <a:pt x="96" y="105"/>
                  </a:moveTo>
                  <a:cubicBezTo>
                    <a:pt x="97" y="106"/>
                    <a:pt x="99" y="106"/>
                    <a:pt x="100" y="106"/>
                  </a:cubicBezTo>
                  <a:cubicBezTo>
                    <a:pt x="102" y="106"/>
                    <a:pt x="103" y="106"/>
                    <a:pt x="104" y="105"/>
                  </a:cubicBezTo>
                  <a:cubicBezTo>
                    <a:pt x="107" y="102"/>
                    <a:pt x="107" y="98"/>
                    <a:pt x="104" y="96"/>
                  </a:cubicBezTo>
                  <a:cubicBezTo>
                    <a:pt x="66" y="58"/>
                    <a:pt x="66" y="58"/>
                    <a:pt x="66" y="58"/>
                  </a:cubicBezTo>
                  <a:cubicBezTo>
                    <a:pt x="64" y="56"/>
                    <a:pt x="60" y="56"/>
                    <a:pt x="58" y="58"/>
                  </a:cubicBezTo>
                  <a:cubicBezTo>
                    <a:pt x="56" y="60"/>
                    <a:pt x="56" y="64"/>
                    <a:pt x="58" y="67"/>
                  </a:cubicBezTo>
                  <a:lnTo>
                    <a:pt x="96" y="105"/>
                  </a:lnTo>
                  <a:close/>
                  <a:moveTo>
                    <a:pt x="251" y="77"/>
                  </a:moveTo>
                  <a:cubicBezTo>
                    <a:pt x="252" y="78"/>
                    <a:pt x="252" y="78"/>
                    <a:pt x="253" y="78"/>
                  </a:cubicBezTo>
                  <a:cubicBezTo>
                    <a:pt x="256" y="78"/>
                    <a:pt x="258" y="77"/>
                    <a:pt x="259" y="74"/>
                  </a:cubicBezTo>
                  <a:cubicBezTo>
                    <a:pt x="281" y="25"/>
                    <a:pt x="281" y="25"/>
                    <a:pt x="281" y="25"/>
                  </a:cubicBezTo>
                  <a:cubicBezTo>
                    <a:pt x="282" y="22"/>
                    <a:pt x="281" y="19"/>
                    <a:pt x="278" y="17"/>
                  </a:cubicBezTo>
                  <a:cubicBezTo>
                    <a:pt x="275" y="16"/>
                    <a:pt x="271" y="17"/>
                    <a:pt x="270" y="20"/>
                  </a:cubicBezTo>
                  <a:cubicBezTo>
                    <a:pt x="248" y="70"/>
                    <a:pt x="248" y="70"/>
                    <a:pt x="248" y="70"/>
                  </a:cubicBezTo>
                  <a:cubicBezTo>
                    <a:pt x="246" y="73"/>
                    <a:pt x="248" y="76"/>
                    <a:pt x="251" y="77"/>
                  </a:cubicBezTo>
                  <a:close/>
                  <a:moveTo>
                    <a:pt x="74" y="136"/>
                  </a:moveTo>
                  <a:cubicBezTo>
                    <a:pt x="25" y="114"/>
                    <a:pt x="25" y="114"/>
                    <a:pt x="25" y="114"/>
                  </a:cubicBezTo>
                  <a:cubicBezTo>
                    <a:pt x="22" y="113"/>
                    <a:pt x="19" y="114"/>
                    <a:pt x="17" y="117"/>
                  </a:cubicBezTo>
                  <a:cubicBezTo>
                    <a:pt x="16" y="120"/>
                    <a:pt x="17" y="124"/>
                    <a:pt x="20" y="125"/>
                  </a:cubicBezTo>
                  <a:cubicBezTo>
                    <a:pt x="69" y="147"/>
                    <a:pt x="69" y="147"/>
                    <a:pt x="69" y="147"/>
                  </a:cubicBezTo>
                  <a:cubicBezTo>
                    <a:pt x="70" y="147"/>
                    <a:pt x="71" y="148"/>
                    <a:pt x="72" y="148"/>
                  </a:cubicBezTo>
                  <a:cubicBezTo>
                    <a:pt x="74" y="148"/>
                    <a:pt x="76" y="146"/>
                    <a:pt x="77" y="144"/>
                  </a:cubicBezTo>
                  <a:cubicBezTo>
                    <a:pt x="79" y="141"/>
                    <a:pt x="77" y="137"/>
                    <a:pt x="74" y="136"/>
                  </a:cubicBezTo>
                  <a:close/>
                  <a:moveTo>
                    <a:pt x="374" y="270"/>
                  </a:moveTo>
                  <a:cubicBezTo>
                    <a:pt x="325" y="248"/>
                    <a:pt x="325" y="248"/>
                    <a:pt x="325" y="248"/>
                  </a:cubicBezTo>
                  <a:cubicBezTo>
                    <a:pt x="322" y="247"/>
                    <a:pt x="319" y="248"/>
                    <a:pt x="317" y="251"/>
                  </a:cubicBezTo>
                  <a:cubicBezTo>
                    <a:pt x="316" y="254"/>
                    <a:pt x="317" y="258"/>
                    <a:pt x="320" y="259"/>
                  </a:cubicBezTo>
                  <a:cubicBezTo>
                    <a:pt x="370" y="281"/>
                    <a:pt x="370" y="281"/>
                    <a:pt x="370" y="281"/>
                  </a:cubicBezTo>
                  <a:cubicBezTo>
                    <a:pt x="370" y="281"/>
                    <a:pt x="371" y="281"/>
                    <a:pt x="372" y="281"/>
                  </a:cubicBezTo>
                  <a:cubicBezTo>
                    <a:pt x="374" y="281"/>
                    <a:pt x="376" y="280"/>
                    <a:pt x="377" y="278"/>
                  </a:cubicBezTo>
                  <a:cubicBezTo>
                    <a:pt x="379" y="275"/>
                    <a:pt x="377" y="271"/>
                    <a:pt x="374" y="270"/>
                  </a:cubicBezTo>
                  <a:close/>
                  <a:moveTo>
                    <a:pt x="65" y="242"/>
                  </a:moveTo>
                  <a:cubicBezTo>
                    <a:pt x="17" y="260"/>
                    <a:pt x="17" y="260"/>
                    <a:pt x="17" y="260"/>
                  </a:cubicBezTo>
                  <a:cubicBezTo>
                    <a:pt x="14" y="262"/>
                    <a:pt x="12" y="265"/>
                    <a:pt x="13" y="268"/>
                  </a:cubicBezTo>
                  <a:cubicBezTo>
                    <a:pt x="14" y="271"/>
                    <a:pt x="16" y="272"/>
                    <a:pt x="19" y="272"/>
                  </a:cubicBezTo>
                  <a:cubicBezTo>
                    <a:pt x="20" y="272"/>
                    <a:pt x="20" y="272"/>
                    <a:pt x="21" y="272"/>
                  </a:cubicBezTo>
                  <a:cubicBezTo>
                    <a:pt x="69" y="253"/>
                    <a:pt x="69" y="253"/>
                    <a:pt x="69" y="253"/>
                  </a:cubicBezTo>
                  <a:cubicBezTo>
                    <a:pt x="72" y="252"/>
                    <a:pt x="74" y="248"/>
                    <a:pt x="73" y="245"/>
                  </a:cubicBezTo>
                  <a:cubicBezTo>
                    <a:pt x="72" y="242"/>
                    <a:pt x="68" y="241"/>
                    <a:pt x="65" y="242"/>
                  </a:cubicBezTo>
                  <a:close/>
                  <a:moveTo>
                    <a:pt x="320" y="150"/>
                  </a:moveTo>
                  <a:cubicBezTo>
                    <a:pt x="321" y="153"/>
                    <a:pt x="323" y="154"/>
                    <a:pt x="326" y="154"/>
                  </a:cubicBezTo>
                  <a:cubicBezTo>
                    <a:pt x="326" y="154"/>
                    <a:pt x="327" y="154"/>
                    <a:pt x="328" y="154"/>
                  </a:cubicBezTo>
                  <a:cubicBezTo>
                    <a:pt x="378" y="135"/>
                    <a:pt x="378" y="135"/>
                    <a:pt x="378" y="135"/>
                  </a:cubicBezTo>
                  <a:cubicBezTo>
                    <a:pt x="381" y="133"/>
                    <a:pt x="383" y="130"/>
                    <a:pt x="381" y="127"/>
                  </a:cubicBezTo>
                  <a:cubicBezTo>
                    <a:pt x="380" y="124"/>
                    <a:pt x="377" y="122"/>
                    <a:pt x="374" y="123"/>
                  </a:cubicBezTo>
                  <a:cubicBezTo>
                    <a:pt x="324" y="143"/>
                    <a:pt x="324" y="143"/>
                    <a:pt x="324" y="143"/>
                  </a:cubicBezTo>
                  <a:cubicBezTo>
                    <a:pt x="320" y="144"/>
                    <a:pt x="319" y="147"/>
                    <a:pt x="320" y="150"/>
                  </a:cubicBezTo>
                  <a:close/>
                  <a:moveTo>
                    <a:pt x="143" y="71"/>
                  </a:moveTo>
                  <a:cubicBezTo>
                    <a:pt x="143" y="74"/>
                    <a:pt x="146" y="75"/>
                    <a:pt x="148" y="75"/>
                  </a:cubicBezTo>
                  <a:cubicBezTo>
                    <a:pt x="149" y="75"/>
                    <a:pt x="150" y="75"/>
                    <a:pt x="150" y="75"/>
                  </a:cubicBezTo>
                  <a:cubicBezTo>
                    <a:pt x="153" y="74"/>
                    <a:pt x="155" y="70"/>
                    <a:pt x="154" y="67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3" y="14"/>
                    <a:pt x="130" y="12"/>
                    <a:pt x="127" y="13"/>
                  </a:cubicBezTo>
                  <a:cubicBezTo>
                    <a:pt x="124" y="15"/>
                    <a:pt x="122" y="18"/>
                    <a:pt x="123" y="21"/>
                  </a:cubicBezTo>
                  <a:lnTo>
                    <a:pt x="143" y="7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Helvetica" pitchFamily="2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D43F7EE-231C-46B8-EFDA-2BAA772A1A19}"/>
              </a:ext>
            </a:extLst>
          </p:cNvPr>
          <p:cNvGrpSpPr>
            <a:grpSpLocks noChangeAspect="1"/>
          </p:cNvGrpSpPr>
          <p:nvPr/>
        </p:nvGrpSpPr>
        <p:grpSpPr>
          <a:xfrm>
            <a:off x="8534768" y="1561338"/>
            <a:ext cx="780094" cy="780094"/>
            <a:chOff x="1579656" y="4745176"/>
            <a:chExt cx="947338" cy="94733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8F7D407-FB86-A633-C7CF-4ED24E3727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79656" y="4745176"/>
              <a:ext cx="947338" cy="947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35" name="Freeform 33">
              <a:extLst>
                <a:ext uri="{FF2B5EF4-FFF2-40B4-BE49-F238E27FC236}">
                  <a16:creationId xmlns:a16="http://schemas.microsoft.com/office/drawing/2014/main" id="{A4BBD3AA-2EEB-9F8A-51A4-C65A53722619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1811883" y="4875688"/>
              <a:ext cx="482885" cy="686314"/>
            </a:xfrm>
            <a:custGeom>
              <a:avLst/>
              <a:gdLst>
                <a:gd name="T0" fmla="*/ 129 w 296"/>
                <a:gd name="T1" fmla="*/ 286 h 421"/>
                <a:gd name="T2" fmla="*/ 169 w 296"/>
                <a:gd name="T3" fmla="*/ 286 h 421"/>
                <a:gd name="T4" fmla="*/ 252 w 296"/>
                <a:gd name="T5" fmla="*/ 204 h 421"/>
                <a:gd name="T6" fmla="*/ 252 w 296"/>
                <a:gd name="T7" fmla="*/ 83 h 421"/>
                <a:gd name="T8" fmla="*/ 169 w 296"/>
                <a:gd name="T9" fmla="*/ 0 h 421"/>
                <a:gd name="T10" fmla="*/ 129 w 296"/>
                <a:gd name="T11" fmla="*/ 0 h 421"/>
                <a:gd name="T12" fmla="*/ 47 w 296"/>
                <a:gd name="T13" fmla="*/ 83 h 421"/>
                <a:gd name="T14" fmla="*/ 47 w 296"/>
                <a:gd name="T15" fmla="*/ 204 h 421"/>
                <a:gd name="T16" fmla="*/ 129 w 296"/>
                <a:gd name="T17" fmla="*/ 286 h 421"/>
                <a:gd name="T18" fmla="*/ 59 w 296"/>
                <a:gd name="T19" fmla="*/ 156 h 421"/>
                <a:gd name="T20" fmla="*/ 76 w 296"/>
                <a:gd name="T21" fmla="*/ 157 h 421"/>
                <a:gd name="T22" fmla="*/ 175 w 296"/>
                <a:gd name="T23" fmla="*/ 88 h 421"/>
                <a:gd name="T24" fmla="*/ 170 w 296"/>
                <a:gd name="T25" fmla="*/ 81 h 421"/>
                <a:gd name="T26" fmla="*/ 164 w 296"/>
                <a:gd name="T27" fmla="*/ 86 h 421"/>
                <a:gd name="T28" fmla="*/ 59 w 296"/>
                <a:gd name="T29" fmla="*/ 144 h 421"/>
                <a:gd name="T30" fmla="*/ 59 w 296"/>
                <a:gd name="T31" fmla="*/ 83 h 421"/>
                <a:gd name="T32" fmla="*/ 129 w 296"/>
                <a:gd name="T33" fmla="*/ 12 h 421"/>
                <a:gd name="T34" fmla="*/ 169 w 296"/>
                <a:gd name="T35" fmla="*/ 12 h 421"/>
                <a:gd name="T36" fmla="*/ 240 w 296"/>
                <a:gd name="T37" fmla="*/ 83 h 421"/>
                <a:gd name="T38" fmla="*/ 240 w 296"/>
                <a:gd name="T39" fmla="*/ 204 h 421"/>
                <a:gd name="T40" fmla="*/ 169 w 296"/>
                <a:gd name="T41" fmla="*/ 274 h 421"/>
                <a:gd name="T42" fmla="*/ 129 w 296"/>
                <a:gd name="T43" fmla="*/ 274 h 421"/>
                <a:gd name="T44" fmla="*/ 59 w 296"/>
                <a:gd name="T45" fmla="*/ 204 h 421"/>
                <a:gd name="T46" fmla="*/ 59 w 296"/>
                <a:gd name="T47" fmla="*/ 156 h 421"/>
                <a:gd name="T48" fmla="*/ 213 w 296"/>
                <a:gd name="T49" fmla="*/ 298 h 421"/>
                <a:gd name="T50" fmla="*/ 206 w 296"/>
                <a:gd name="T51" fmla="*/ 298 h 421"/>
                <a:gd name="T52" fmla="*/ 201 w 296"/>
                <a:gd name="T53" fmla="*/ 302 h 421"/>
                <a:gd name="T54" fmla="*/ 148 w 296"/>
                <a:gd name="T55" fmla="*/ 327 h 421"/>
                <a:gd name="T56" fmla="*/ 94 w 296"/>
                <a:gd name="T57" fmla="*/ 302 h 421"/>
                <a:gd name="T58" fmla="*/ 89 w 296"/>
                <a:gd name="T59" fmla="*/ 298 h 421"/>
                <a:gd name="T60" fmla="*/ 82 w 296"/>
                <a:gd name="T61" fmla="*/ 298 h 421"/>
                <a:gd name="T62" fmla="*/ 0 w 296"/>
                <a:gd name="T63" fmla="*/ 381 h 421"/>
                <a:gd name="T64" fmla="*/ 0 w 296"/>
                <a:gd name="T65" fmla="*/ 415 h 421"/>
                <a:gd name="T66" fmla="*/ 6 w 296"/>
                <a:gd name="T67" fmla="*/ 421 h 421"/>
                <a:gd name="T68" fmla="*/ 290 w 296"/>
                <a:gd name="T69" fmla="*/ 421 h 421"/>
                <a:gd name="T70" fmla="*/ 296 w 296"/>
                <a:gd name="T71" fmla="*/ 415 h 421"/>
                <a:gd name="T72" fmla="*/ 296 w 296"/>
                <a:gd name="T73" fmla="*/ 381 h 421"/>
                <a:gd name="T74" fmla="*/ 213 w 296"/>
                <a:gd name="T75" fmla="*/ 298 h 421"/>
                <a:gd name="T76" fmla="*/ 284 w 296"/>
                <a:gd name="T77" fmla="*/ 409 h 421"/>
                <a:gd name="T78" fmla="*/ 12 w 296"/>
                <a:gd name="T79" fmla="*/ 409 h 421"/>
                <a:gd name="T80" fmla="*/ 12 w 296"/>
                <a:gd name="T81" fmla="*/ 381 h 421"/>
                <a:gd name="T82" fmla="*/ 82 w 296"/>
                <a:gd name="T83" fmla="*/ 310 h 421"/>
                <a:gd name="T84" fmla="*/ 85 w 296"/>
                <a:gd name="T85" fmla="*/ 310 h 421"/>
                <a:gd name="T86" fmla="*/ 148 w 296"/>
                <a:gd name="T87" fmla="*/ 339 h 421"/>
                <a:gd name="T88" fmla="*/ 210 w 296"/>
                <a:gd name="T89" fmla="*/ 310 h 421"/>
                <a:gd name="T90" fmla="*/ 213 w 296"/>
                <a:gd name="T91" fmla="*/ 310 h 421"/>
                <a:gd name="T92" fmla="*/ 284 w 296"/>
                <a:gd name="T93" fmla="*/ 381 h 421"/>
                <a:gd name="T94" fmla="*/ 284 w 296"/>
                <a:gd name="T95" fmla="*/ 409 h 421"/>
                <a:gd name="T96" fmla="*/ 149 w 296"/>
                <a:gd name="T97" fmla="*/ 240 h 421"/>
                <a:gd name="T98" fmla="*/ 192 w 296"/>
                <a:gd name="T99" fmla="*/ 216 h 421"/>
                <a:gd name="T100" fmla="*/ 189 w 296"/>
                <a:gd name="T101" fmla="*/ 208 h 421"/>
                <a:gd name="T102" fmla="*/ 181 w 296"/>
                <a:gd name="T103" fmla="*/ 211 h 421"/>
                <a:gd name="T104" fmla="*/ 149 w 296"/>
                <a:gd name="T105" fmla="*/ 228 h 421"/>
                <a:gd name="T106" fmla="*/ 116 w 296"/>
                <a:gd name="T107" fmla="*/ 211 h 421"/>
                <a:gd name="T108" fmla="*/ 108 w 296"/>
                <a:gd name="T109" fmla="*/ 208 h 421"/>
                <a:gd name="T110" fmla="*/ 106 w 296"/>
                <a:gd name="T111" fmla="*/ 216 h 421"/>
                <a:gd name="T112" fmla="*/ 149 w 296"/>
                <a:gd name="T113" fmla="*/ 240 h 4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96" h="421">
                  <a:moveTo>
                    <a:pt x="129" y="286"/>
                  </a:moveTo>
                  <a:cubicBezTo>
                    <a:pt x="169" y="286"/>
                    <a:pt x="169" y="286"/>
                    <a:pt x="169" y="286"/>
                  </a:cubicBezTo>
                  <a:cubicBezTo>
                    <a:pt x="215" y="286"/>
                    <a:pt x="252" y="249"/>
                    <a:pt x="252" y="204"/>
                  </a:cubicBezTo>
                  <a:cubicBezTo>
                    <a:pt x="252" y="83"/>
                    <a:pt x="252" y="83"/>
                    <a:pt x="252" y="83"/>
                  </a:cubicBezTo>
                  <a:cubicBezTo>
                    <a:pt x="252" y="37"/>
                    <a:pt x="215" y="0"/>
                    <a:pt x="169" y="0"/>
                  </a:cubicBezTo>
                  <a:cubicBezTo>
                    <a:pt x="129" y="0"/>
                    <a:pt x="129" y="0"/>
                    <a:pt x="129" y="0"/>
                  </a:cubicBezTo>
                  <a:cubicBezTo>
                    <a:pt x="83" y="0"/>
                    <a:pt x="47" y="37"/>
                    <a:pt x="47" y="83"/>
                  </a:cubicBezTo>
                  <a:cubicBezTo>
                    <a:pt x="47" y="204"/>
                    <a:pt x="47" y="204"/>
                    <a:pt x="47" y="204"/>
                  </a:cubicBezTo>
                  <a:cubicBezTo>
                    <a:pt x="47" y="249"/>
                    <a:pt x="83" y="286"/>
                    <a:pt x="129" y="286"/>
                  </a:cubicBezTo>
                  <a:close/>
                  <a:moveTo>
                    <a:pt x="59" y="156"/>
                  </a:moveTo>
                  <a:cubicBezTo>
                    <a:pt x="65" y="157"/>
                    <a:pt x="71" y="157"/>
                    <a:pt x="76" y="157"/>
                  </a:cubicBezTo>
                  <a:cubicBezTo>
                    <a:pt x="166" y="157"/>
                    <a:pt x="175" y="89"/>
                    <a:pt x="175" y="88"/>
                  </a:cubicBezTo>
                  <a:cubicBezTo>
                    <a:pt x="176" y="85"/>
                    <a:pt x="174" y="82"/>
                    <a:pt x="170" y="81"/>
                  </a:cubicBezTo>
                  <a:cubicBezTo>
                    <a:pt x="167" y="81"/>
                    <a:pt x="164" y="83"/>
                    <a:pt x="164" y="86"/>
                  </a:cubicBezTo>
                  <a:cubicBezTo>
                    <a:pt x="163" y="89"/>
                    <a:pt x="154" y="153"/>
                    <a:pt x="59" y="144"/>
                  </a:cubicBezTo>
                  <a:cubicBezTo>
                    <a:pt x="59" y="83"/>
                    <a:pt x="59" y="83"/>
                    <a:pt x="59" y="83"/>
                  </a:cubicBezTo>
                  <a:cubicBezTo>
                    <a:pt x="59" y="44"/>
                    <a:pt x="90" y="12"/>
                    <a:pt x="129" y="12"/>
                  </a:cubicBezTo>
                  <a:cubicBezTo>
                    <a:pt x="169" y="12"/>
                    <a:pt x="169" y="12"/>
                    <a:pt x="169" y="12"/>
                  </a:cubicBezTo>
                  <a:cubicBezTo>
                    <a:pt x="208" y="12"/>
                    <a:pt x="240" y="44"/>
                    <a:pt x="240" y="83"/>
                  </a:cubicBezTo>
                  <a:cubicBezTo>
                    <a:pt x="240" y="204"/>
                    <a:pt x="240" y="204"/>
                    <a:pt x="240" y="204"/>
                  </a:cubicBezTo>
                  <a:cubicBezTo>
                    <a:pt x="240" y="243"/>
                    <a:pt x="208" y="274"/>
                    <a:pt x="169" y="274"/>
                  </a:cubicBezTo>
                  <a:cubicBezTo>
                    <a:pt x="129" y="274"/>
                    <a:pt x="129" y="274"/>
                    <a:pt x="129" y="274"/>
                  </a:cubicBezTo>
                  <a:cubicBezTo>
                    <a:pt x="90" y="274"/>
                    <a:pt x="59" y="243"/>
                    <a:pt x="59" y="204"/>
                  </a:cubicBezTo>
                  <a:lnTo>
                    <a:pt x="59" y="156"/>
                  </a:lnTo>
                  <a:close/>
                  <a:moveTo>
                    <a:pt x="213" y="298"/>
                  </a:moveTo>
                  <a:cubicBezTo>
                    <a:pt x="206" y="298"/>
                    <a:pt x="206" y="298"/>
                    <a:pt x="206" y="298"/>
                  </a:cubicBezTo>
                  <a:cubicBezTo>
                    <a:pt x="204" y="298"/>
                    <a:pt x="202" y="299"/>
                    <a:pt x="201" y="302"/>
                  </a:cubicBezTo>
                  <a:cubicBezTo>
                    <a:pt x="193" y="317"/>
                    <a:pt x="172" y="327"/>
                    <a:pt x="148" y="327"/>
                  </a:cubicBezTo>
                  <a:cubicBezTo>
                    <a:pt x="123" y="327"/>
                    <a:pt x="102" y="317"/>
                    <a:pt x="94" y="302"/>
                  </a:cubicBezTo>
                  <a:cubicBezTo>
                    <a:pt x="93" y="299"/>
                    <a:pt x="91" y="298"/>
                    <a:pt x="89" y="298"/>
                  </a:cubicBezTo>
                  <a:cubicBezTo>
                    <a:pt x="82" y="298"/>
                    <a:pt x="82" y="298"/>
                    <a:pt x="82" y="298"/>
                  </a:cubicBezTo>
                  <a:cubicBezTo>
                    <a:pt x="37" y="298"/>
                    <a:pt x="0" y="335"/>
                    <a:pt x="0" y="381"/>
                  </a:cubicBezTo>
                  <a:cubicBezTo>
                    <a:pt x="0" y="415"/>
                    <a:pt x="0" y="415"/>
                    <a:pt x="0" y="415"/>
                  </a:cubicBezTo>
                  <a:cubicBezTo>
                    <a:pt x="0" y="418"/>
                    <a:pt x="2" y="421"/>
                    <a:pt x="6" y="421"/>
                  </a:cubicBezTo>
                  <a:cubicBezTo>
                    <a:pt x="290" y="421"/>
                    <a:pt x="290" y="421"/>
                    <a:pt x="290" y="421"/>
                  </a:cubicBezTo>
                  <a:cubicBezTo>
                    <a:pt x="293" y="421"/>
                    <a:pt x="296" y="418"/>
                    <a:pt x="296" y="415"/>
                  </a:cubicBezTo>
                  <a:cubicBezTo>
                    <a:pt x="296" y="381"/>
                    <a:pt x="296" y="381"/>
                    <a:pt x="296" y="381"/>
                  </a:cubicBezTo>
                  <a:cubicBezTo>
                    <a:pt x="296" y="335"/>
                    <a:pt x="259" y="298"/>
                    <a:pt x="213" y="298"/>
                  </a:cubicBezTo>
                  <a:close/>
                  <a:moveTo>
                    <a:pt x="284" y="409"/>
                  </a:moveTo>
                  <a:cubicBezTo>
                    <a:pt x="12" y="409"/>
                    <a:pt x="12" y="409"/>
                    <a:pt x="12" y="409"/>
                  </a:cubicBezTo>
                  <a:cubicBezTo>
                    <a:pt x="12" y="381"/>
                    <a:pt x="12" y="381"/>
                    <a:pt x="12" y="381"/>
                  </a:cubicBezTo>
                  <a:cubicBezTo>
                    <a:pt x="12" y="342"/>
                    <a:pt x="43" y="310"/>
                    <a:pt x="82" y="310"/>
                  </a:cubicBezTo>
                  <a:cubicBezTo>
                    <a:pt x="85" y="310"/>
                    <a:pt x="85" y="310"/>
                    <a:pt x="85" y="310"/>
                  </a:cubicBezTo>
                  <a:cubicBezTo>
                    <a:pt x="96" y="328"/>
                    <a:pt x="121" y="339"/>
                    <a:pt x="148" y="339"/>
                  </a:cubicBezTo>
                  <a:cubicBezTo>
                    <a:pt x="175" y="339"/>
                    <a:pt x="199" y="328"/>
                    <a:pt x="210" y="310"/>
                  </a:cubicBezTo>
                  <a:cubicBezTo>
                    <a:pt x="213" y="310"/>
                    <a:pt x="213" y="310"/>
                    <a:pt x="213" y="310"/>
                  </a:cubicBezTo>
                  <a:cubicBezTo>
                    <a:pt x="252" y="310"/>
                    <a:pt x="284" y="342"/>
                    <a:pt x="284" y="381"/>
                  </a:cubicBezTo>
                  <a:lnTo>
                    <a:pt x="284" y="409"/>
                  </a:lnTo>
                  <a:close/>
                  <a:moveTo>
                    <a:pt x="149" y="240"/>
                  </a:moveTo>
                  <a:cubicBezTo>
                    <a:pt x="180" y="240"/>
                    <a:pt x="191" y="217"/>
                    <a:pt x="192" y="216"/>
                  </a:cubicBezTo>
                  <a:cubicBezTo>
                    <a:pt x="193" y="213"/>
                    <a:pt x="192" y="210"/>
                    <a:pt x="189" y="208"/>
                  </a:cubicBezTo>
                  <a:cubicBezTo>
                    <a:pt x="186" y="207"/>
                    <a:pt x="182" y="208"/>
                    <a:pt x="181" y="211"/>
                  </a:cubicBezTo>
                  <a:cubicBezTo>
                    <a:pt x="180" y="212"/>
                    <a:pt x="172" y="228"/>
                    <a:pt x="149" y="228"/>
                  </a:cubicBezTo>
                  <a:cubicBezTo>
                    <a:pt x="126" y="228"/>
                    <a:pt x="117" y="212"/>
                    <a:pt x="116" y="211"/>
                  </a:cubicBezTo>
                  <a:cubicBezTo>
                    <a:pt x="115" y="208"/>
                    <a:pt x="111" y="207"/>
                    <a:pt x="108" y="208"/>
                  </a:cubicBezTo>
                  <a:cubicBezTo>
                    <a:pt x="105" y="210"/>
                    <a:pt x="104" y="213"/>
                    <a:pt x="106" y="216"/>
                  </a:cubicBezTo>
                  <a:cubicBezTo>
                    <a:pt x="106" y="217"/>
                    <a:pt x="118" y="240"/>
                    <a:pt x="149" y="2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Helvetica" pitchFamily="2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0B4C51-98D9-70ED-F9AB-F3A249BB1EAC}"/>
              </a:ext>
            </a:extLst>
          </p:cNvPr>
          <p:cNvGrpSpPr>
            <a:grpSpLocks noChangeAspect="1"/>
          </p:cNvGrpSpPr>
          <p:nvPr/>
        </p:nvGrpSpPr>
        <p:grpSpPr>
          <a:xfrm>
            <a:off x="4606961" y="3737516"/>
            <a:ext cx="752469" cy="752469"/>
            <a:chOff x="6301014" y="4510563"/>
            <a:chExt cx="1034380" cy="103438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853FA7A-0E20-2FF6-E5B5-FE2CA37EBE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01014" y="4510563"/>
              <a:ext cx="1034380" cy="103438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 7">
              <a:extLst>
                <a:ext uri="{FF2B5EF4-FFF2-40B4-BE49-F238E27FC236}">
                  <a16:creationId xmlns:a16="http://schemas.microsoft.com/office/drawing/2014/main" id="{7A55C472-9F6F-B029-3500-71717B19787D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6580210" y="4737943"/>
              <a:ext cx="495255" cy="495255"/>
            </a:xfrm>
            <a:custGeom>
              <a:avLst/>
              <a:gdLst>
                <a:gd name="T0" fmla="*/ 202 w 304"/>
                <a:gd name="T1" fmla="*/ 51 h 304"/>
                <a:gd name="T2" fmla="*/ 195 w 304"/>
                <a:gd name="T3" fmla="*/ 51 h 304"/>
                <a:gd name="T4" fmla="*/ 35 w 304"/>
                <a:gd name="T5" fmla="*/ 211 h 304"/>
                <a:gd name="T6" fmla="*/ 34 w 304"/>
                <a:gd name="T7" fmla="*/ 213 h 304"/>
                <a:gd name="T8" fmla="*/ 34 w 304"/>
                <a:gd name="T9" fmla="*/ 213 h 304"/>
                <a:gd name="T10" fmla="*/ 34 w 304"/>
                <a:gd name="T11" fmla="*/ 213 h 304"/>
                <a:gd name="T12" fmla="*/ 0 w 304"/>
                <a:gd name="T13" fmla="*/ 298 h 304"/>
                <a:gd name="T14" fmla="*/ 2 w 304"/>
                <a:gd name="T15" fmla="*/ 303 h 304"/>
                <a:gd name="T16" fmla="*/ 5 w 304"/>
                <a:gd name="T17" fmla="*/ 304 h 304"/>
                <a:gd name="T18" fmla="*/ 7 w 304"/>
                <a:gd name="T19" fmla="*/ 304 h 304"/>
                <a:gd name="T20" fmla="*/ 50 w 304"/>
                <a:gd name="T21" fmla="*/ 287 h 304"/>
                <a:gd name="T22" fmla="*/ 50 w 304"/>
                <a:gd name="T23" fmla="*/ 287 h 304"/>
                <a:gd name="T24" fmla="*/ 92 w 304"/>
                <a:gd name="T25" fmla="*/ 271 h 304"/>
                <a:gd name="T26" fmla="*/ 92 w 304"/>
                <a:gd name="T27" fmla="*/ 271 h 304"/>
                <a:gd name="T28" fmla="*/ 92 w 304"/>
                <a:gd name="T29" fmla="*/ 270 h 304"/>
                <a:gd name="T30" fmla="*/ 93 w 304"/>
                <a:gd name="T31" fmla="*/ 269 h 304"/>
                <a:gd name="T32" fmla="*/ 253 w 304"/>
                <a:gd name="T33" fmla="*/ 109 h 304"/>
                <a:gd name="T34" fmla="*/ 255 w 304"/>
                <a:gd name="T35" fmla="*/ 106 h 304"/>
                <a:gd name="T36" fmla="*/ 253 w 304"/>
                <a:gd name="T37" fmla="*/ 103 h 304"/>
                <a:gd name="T38" fmla="*/ 202 w 304"/>
                <a:gd name="T39" fmla="*/ 51 h 304"/>
                <a:gd name="T40" fmla="*/ 198 w 304"/>
                <a:gd name="T41" fmla="*/ 61 h 304"/>
                <a:gd name="T42" fmla="*/ 209 w 304"/>
                <a:gd name="T43" fmla="*/ 72 h 304"/>
                <a:gd name="T44" fmla="*/ 55 w 304"/>
                <a:gd name="T45" fmla="*/ 225 h 304"/>
                <a:gd name="T46" fmla="*/ 45 w 304"/>
                <a:gd name="T47" fmla="*/ 215 h 304"/>
                <a:gd name="T48" fmla="*/ 198 w 304"/>
                <a:gd name="T49" fmla="*/ 61 h 304"/>
                <a:gd name="T50" fmla="*/ 13 w 304"/>
                <a:gd name="T51" fmla="*/ 291 h 304"/>
                <a:gd name="T52" fmla="*/ 24 w 304"/>
                <a:gd name="T53" fmla="*/ 265 h 304"/>
                <a:gd name="T54" fmla="*/ 40 w 304"/>
                <a:gd name="T55" fmla="*/ 281 h 304"/>
                <a:gd name="T56" fmla="*/ 13 w 304"/>
                <a:gd name="T57" fmla="*/ 291 h 304"/>
                <a:gd name="T58" fmla="*/ 49 w 304"/>
                <a:gd name="T59" fmla="*/ 277 h 304"/>
                <a:gd name="T60" fmla="*/ 28 w 304"/>
                <a:gd name="T61" fmla="*/ 255 h 304"/>
                <a:gd name="T62" fmla="*/ 40 w 304"/>
                <a:gd name="T63" fmla="*/ 223 h 304"/>
                <a:gd name="T64" fmla="*/ 81 w 304"/>
                <a:gd name="T65" fmla="*/ 264 h 304"/>
                <a:gd name="T66" fmla="*/ 49 w 304"/>
                <a:gd name="T67" fmla="*/ 277 h 304"/>
                <a:gd name="T68" fmla="*/ 90 w 304"/>
                <a:gd name="T69" fmla="*/ 259 h 304"/>
                <a:gd name="T70" fmla="*/ 62 w 304"/>
                <a:gd name="T71" fmla="*/ 232 h 304"/>
                <a:gd name="T72" fmla="*/ 216 w 304"/>
                <a:gd name="T73" fmla="*/ 78 h 304"/>
                <a:gd name="T74" fmla="*/ 243 w 304"/>
                <a:gd name="T75" fmla="*/ 106 h 304"/>
                <a:gd name="T76" fmla="*/ 90 w 304"/>
                <a:gd name="T77" fmla="*/ 259 h 304"/>
                <a:gd name="T78" fmla="*/ 217 w 304"/>
                <a:gd name="T79" fmla="*/ 35 h 304"/>
                <a:gd name="T80" fmla="*/ 211 w 304"/>
                <a:gd name="T81" fmla="*/ 35 h 304"/>
                <a:gd name="T82" fmla="*/ 211 w 304"/>
                <a:gd name="T83" fmla="*/ 42 h 304"/>
                <a:gd name="T84" fmla="*/ 262 w 304"/>
                <a:gd name="T85" fmla="*/ 94 h 304"/>
                <a:gd name="T86" fmla="*/ 266 w 304"/>
                <a:gd name="T87" fmla="*/ 95 h 304"/>
                <a:gd name="T88" fmla="*/ 269 w 304"/>
                <a:gd name="T89" fmla="*/ 94 h 304"/>
                <a:gd name="T90" fmla="*/ 269 w 304"/>
                <a:gd name="T91" fmla="*/ 87 h 304"/>
                <a:gd name="T92" fmla="*/ 217 w 304"/>
                <a:gd name="T93" fmla="*/ 35 h 304"/>
                <a:gd name="T94" fmla="*/ 303 w 304"/>
                <a:gd name="T95" fmla="*/ 53 h 304"/>
                <a:gd name="T96" fmla="*/ 251 w 304"/>
                <a:gd name="T97" fmla="*/ 1 h 304"/>
                <a:gd name="T98" fmla="*/ 245 w 304"/>
                <a:gd name="T99" fmla="*/ 1 h 304"/>
                <a:gd name="T100" fmla="*/ 227 w 304"/>
                <a:gd name="T101" fmla="*/ 19 h 304"/>
                <a:gd name="T102" fmla="*/ 227 w 304"/>
                <a:gd name="T103" fmla="*/ 26 h 304"/>
                <a:gd name="T104" fmla="*/ 278 w 304"/>
                <a:gd name="T105" fmla="*/ 77 h 304"/>
                <a:gd name="T106" fmla="*/ 282 w 304"/>
                <a:gd name="T107" fmla="*/ 79 h 304"/>
                <a:gd name="T108" fmla="*/ 285 w 304"/>
                <a:gd name="T109" fmla="*/ 77 h 304"/>
                <a:gd name="T110" fmla="*/ 303 w 304"/>
                <a:gd name="T111" fmla="*/ 60 h 304"/>
                <a:gd name="T112" fmla="*/ 304 w 304"/>
                <a:gd name="T113" fmla="*/ 56 h 304"/>
                <a:gd name="T114" fmla="*/ 303 w 304"/>
                <a:gd name="T115" fmla="*/ 53 h 304"/>
                <a:gd name="T116" fmla="*/ 282 w 304"/>
                <a:gd name="T117" fmla="*/ 67 h 304"/>
                <a:gd name="T118" fmla="*/ 237 w 304"/>
                <a:gd name="T119" fmla="*/ 23 h 304"/>
                <a:gd name="T120" fmla="*/ 248 w 304"/>
                <a:gd name="T121" fmla="*/ 12 h 304"/>
                <a:gd name="T122" fmla="*/ 293 w 304"/>
                <a:gd name="T123" fmla="*/ 56 h 304"/>
                <a:gd name="T124" fmla="*/ 282 w 304"/>
                <a:gd name="T125" fmla="*/ 67 h 3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04" h="304">
                  <a:moveTo>
                    <a:pt x="202" y="51"/>
                  </a:moveTo>
                  <a:cubicBezTo>
                    <a:pt x="200" y="49"/>
                    <a:pt x="197" y="49"/>
                    <a:pt x="195" y="51"/>
                  </a:cubicBezTo>
                  <a:cubicBezTo>
                    <a:pt x="35" y="211"/>
                    <a:pt x="35" y="211"/>
                    <a:pt x="35" y="211"/>
                  </a:cubicBezTo>
                  <a:cubicBezTo>
                    <a:pt x="34" y="212"/>
                    <a:pt x="34" y="212"/>
                    <a:pt x="34" y="213"/>
                  </a:cubicBezTo>
                  <a:cubicBezTo>
                    <a:pt x="34" y="213"/>
                    <a:pt x="34" y="213"/>
                    <a:pt x="34" y="213"/>
                  </a:cubicBezTo>
                  <a:cubicBezTo>
                    <a:pt x="34" y="213"/>
                    <a:pt x="34" y="213"/>
                    <a:pt x="34" y="213"/>
                  </a:cubicBezTo>
                  <a:cubicBezTo>
                    <a:pt x="0" y="298"/>
                    <a:pt x="0" y="298"/>
                    <a:pt x="0" y="298"/>
                  </a:cubicBezTo>
                  <a:cubicBezTo>
                    <a:pt x="0" y="299"/>
                    <a:pt x="0" y="301"/>
                    <a:pt x="2" y="303"/>
                  </a:cubicBezTo>
                  <a:cubicBezTo>
                    <a:pt x="2" y="304"/>
                    <a:pt x="4" y="304"/>
                    <a:pt x="5" y="304"/>
                  </a:cubicBezTo>
                  <a:cubicBezTo>
                    <a:pt x="6" y="304"/>
                    <a:pt x="6" y="304"/>
                    <a:pt x="7" y="304"/>
                  </a:cubicBezTo>
                  <a:cubicBezTo>
                    <a:pt x="50" y="287"/>
                    <a:pt x="50" y="287"/>
                    <a:pt x="50" y="287"/>
                  </a:cubicBezTo>
                  <a:cubicBezTo>
                    <a:pt x="50" y="287"/>
                    <a:pt x="50" y="287"/>
                    <a:pt x="50" y="287"/>
                  </a:cubicBezTo>
                  <a:cubicBezTo>
                    <a:pt x="92" y="271"/>
                    <a:pt x="92" y="271"/>
                    <a:pt x="92" y="271"/>
                  </a:cubicBezTo>
                  <a:cubicBezTo>
                    <a:pt x="92" y="271"/>
                    <a:pt x="92" y="271"/>
                    <a:pt x="92" y="271"/>
                  </a:cubicBezTo>
                  <a:cubicBezTo>
                    <a:pt x="92" y="270"/>
                    <a:pt x="92" y="270"/>
                    <a:pt x="92" y="270"/>
                  </a:cubicBezTo>
                  <a:cubicBezTo>
                    <a:pt x="92" y="270"/>
                    <a:pt x="93" y="270"/>
                    <a:pt x="93" y="269"/>
                  </a:cubicBezTo>
                  <a:cubicBezTo>
                    <a:pt x="253" y="109"/>
                    <a:pt x="253" y="109"/>
                    <a:pt x="253" y="109"/>
                  </a:cubicBezTo>
                  <a:cubicBezTo>
                    <a:pt x="254" y="108"/>
                    <a:pt x="255" y="107"/>
                    <a:pt x="255" y="106"/>
                  </a:cubicBezTo>
                  <a:cubicBezTo>
                    <a:pt x="255" y="105"/>
                    <a:pt x="254" y="103"/>
                    <a:pt x="253" y="103"/>
                  </a:cubicBezTo>
                  <a:lnTo>
                    <a:pt x="202" y="51"/>
                  </a:lnTo>
                  <a:close/>
                  <a:moveTo>
                    <a:pt x="198" y="61"/>
                  </a:moveTo>
                  <a:cubicBezTo>
                    <a:pt x="209" y="72"/>
                    <a:pt x="209" y="72"/>
                    <a:pt x="209" y="72"/>
                  </a:cubicBezTo>
                  <a:cubicBezTo>
                    <a:pt x="55" y="225"/>
                    <a:pt x="55" y="225"/>
                    <a:pt x="55" y="225"/>
                  </a:cubicBezTo>
                  <a:cubicBezTo>
                    <a:pt x="45" y="215"/>
                    <a:pt x="45" y="215"/>
                    <a:pt x="45" y="215"/>
                  </a:cubicBezTo>
                  <a:lnTo>
                    <a:pt x="198" y="61"/>
                  </a:lnTo>
                  <a:close/>
                  <a:moveTo>
                    <a:pt x="13" y="291"/>
                  </a:moveTo>
                  <a:cubicBezTo>
                    <a:pt x="24" y="265"/>
                    <a:pt x="24" y="265"/>
                    <a:pt x="24" y="265"/>
                  </a:cubicBezTo>
                  <a:cubicBezTo>
                    <a:pt x="40" y="281"/>
                    <a:pt x="40" y="281"/>
                    <a:pt x="40" y="281"/>
                  </a:cubicBezTo>
                  <a:lnTo>
                    <a:pt x="13" y="291"/>
                  </a:lnTo>
                  <a:close/>
                  <a:moveTo>
                    <a:pt x="49" y="277"/>
                  </a:moveTo>
                  <a:cubicBezTo>
                    <a:pt x="28" y="255"/>
                    <a:pt x="28" y="255"/>
                    <a:pt x="28" y="255"/>
                  </a:cubicBezTo>
                  <a:cubicBezTo>
                    <a:pt x="40" y="223"/>
                    <a:pt x="40" y="223"/>
                    <a:pt x="40" y="223"/>
                  </a:cubicBezTo>
                  <a:cubicBezTo>
                    <a:pt x="81" y="264"/>
                    <a:pt x="81" y="264"/>
                    <a:pt x="81" y="264"/>
                  </a:cubicBezTo>
                  <a:lnTo>
                    <a:pt x="49" y="277"/>
                  </a:lnTo>
                  <a:close/>
                  <a:moveTo>
                    <a:pt x="90" y="259"/>
                  </a:moveTo>
                  <a:cubicBezTo>
                    <a:pt x="62" y="232"/>
                    <a:pt x="62" y="232"/>
                    <a:pt x="62" y="232"/>
                  </a:cubicBezTo>
                  <a:cubicBezTo>
                    <a:pt x="216" y="78"/>
                    <a:pt x="216" y="78"/>
                    <a:pt x="216" y="78"/>
                  </a:cubicBezTo>
                  <a:cubicBezTo>
                    <a:pt x="243" y="106"/>
                    <a:pt x="243" y="106"/>
                    <a:pt x="243" y="106"/>
                  </a:cubicBezTo>
                  <a:lnTo>
                    <a:pt x="90" y="259"/>
                  </a:lnTo>
                  <a:close/>
                  <a:moveTo>
                    <a:pt x="217" y="35"/>
                  </a:moveTo>
                  <a:cubicBezTo>
                    <a:pt x="216" y="34"/>
                    <a:pt x="213" y="34"/>
                    <a:pt x="211" y="35"/>
                  </a:cubicBezTo>
                  <a:cubicBezTo>
                    <a:pt x="209" y="37"/>
                    <a:pt x="209" y="40"/>
                    <a:pt x="211" y="42"/>
                  </a:cubicBezTo>
                  <a:cubicBezTo>
                    <a:pt x="262" y="94"/>
                    <a:pt x="262" y="94"/>
                    <a:pt x="262" y="94"/>
                  </a:cubicBezTo>
                  <a:cubicBezTo>
                    <a:pt x="263" y="95"/>
                    <a:pt x="264" y="95"/>
                    <a:pt x="266" y="95"/>
                  </a:cubicBezTo>
                  <a:cubicBezTo>
                    <a:pt x="267" y="95"/>
                    <a:pt x="268" y="95"/>
                    <a:pt x="269" y="94"/>
                  </a:cubicBezTo>
                  <a:cubicBezTo>
                    <a:pt x="271" y="92"/>
                    <a:pt x="271" y="89"/>
                    <a:pt x="269" y="87"/>
                  </a:cubicBezTo>
                  <a:lnTo>
                    <a:pt x="217" y="35"/>
                  </a:lnTo>
                  <a:close/>
                  <a:moveTo>
                    <a:pt x="303" y="53"/>
                  </a:moveTo>
                  <a:cubicBezTo>
                    <a:pt x="251" y="1"/>
                    <a:pt x="251" y="1"/>
                    <a:pt x="251" y="1"/>
                  </a:cubicBezTo>
                  <a:cubicBezTo>
                    <a:pt x="250" y="0"/>
                    <a:pt x="246" y="0"/>
                    <a:pt x="245" y="1"/>
                  </a:cubicBezTo>
                  <a:cubicBezTo>
                    <a:pt x="227" y="19"/>
                    <a:pt x="227" y="19"/>
                    <a:pt x="227" y="19"/>
                  </a:cubicBezTo>
                  <a:cubicBezTo>
                    <a:pt x="225" y="21"/>
                    <a:pt x="225" y="24"/>
                    <a:pt x="227" y="26"/>
                  </a:cubicBezTo>
                  <a:cubicBezTo>
                    <a:pt x="278" y="77"/>
                    <a:pt x="278" y="77"/>
                    <a:pt x="278" y="77"/>
                  </a:cubicBezTo>
                  <a:cubicBezTo>
                    <a:pt x="279" y="78"/>
                    <a:pt x="281" y="79"/>
                    <a:pt x="282" y="79"/>
                  </a:cubicBezTo>
                  <a:cubicBezTo>
                    <a:pt x="283" y="79"/>
                    <a:pt x="284" y="78"/>
                    <a:pt x="285" y="77"/>
                  </a:cubicBezTo>
                  <a:cubicBezTo>
                    <a:pt x="303" y="60"/>
                    <a:pt x="303" y="60"/>
                    <a:pt x="303" y="60"/>
                  </a:cubicBezTo>
                  <a:cubicBezTo>
                    <a:pt x="304" y="59"/>
                    <a:pt x="304" y="58"/>
                    <a:pt x="304" y="56"/>
                  </a:cubicBezTo>
                  <a:cubicBezTo>
                    <a:pt x="304" y="55"/>
                    <a:pt x="304" y="54"/>
                    <a:pt x="303" y="53"/>
                  </a:cubicBezTo>
                  <a:close/>
                  <a:moveTo>
                    <a:pt x="282" y="67"/>
                  </a:moveTo>
                  <a:cubicBezTo>
                    <a:pt x="237" y="23"/>
                    <a:pt x="237" y="23"/>
                    <a:pt x="237" y="23"/>
                  </a:cubicBezTo>
                  <a:cubicBezTo>
                    <a:pt x="248" y="12"/>
                    <a:pt x="248" y="12"/>
                    <a:pt x="248" y="12"/>
                  </a:cubicBezTo>
                  <a:cubicBezTo>
                    <a:pt x="293" y="56"/>
                    <a:pt x="293" y="56"/>
                    <a:pt x="293" y="56"/>
                  </a:cubicBezTo>
                  <a:lnTo>
                    <a:pt x="282" y="6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A67F4C9-86DD-F23F-D351-BB22878F1D1A}"/>
              </a:ext>
            </a:extLst>
          </p:cNvPr>
          <p:cNvGrpSpPr>
            <a:grpSpLocks noChangeAspect="1"/>
          </p:cNvGrpSpPr>
          <p:nvPr/>
        </p:nvGrpSpPr>
        <p:grpSpPr>
          <a:xfrm>
            <a:off x="743946" y="1524246"/>
            <a:ext cx="817183" cy="817183"/>
            <a:chOff x="633737" y="3087805"/>
            <a:chExt cx="1116625" cy="1116625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AFCD038-52F7-8E75-3802-CCE1426DB0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3737" y="3087805"/>
              <a:ext cx="1116625" cy="111662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Freeform 8">
              <a:extLst>
                <a:ext uri="{FF2B5EF4-FFF2-40B4-BE49-F238E27FC236}">
                  <a16:creationId xmlns:a16="http://schemas.microsoft.com/office/drawing/2014/main" id="{5385EAD2-35E6-5ECF-D1EF-7BFB8272C17D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820697" y="3275177"/>
              <a:ext cx="577931" cy="577106"/>
            </a:xfrm>
            <a:custGeom>
              <a:avLst/>
              <a:gdLst>
                <a:gd name="T0" fmla="*/ 156 w 361"/>
                <a:gd name="T1" fmla="*/ 47 h 360"/>
                <a:gd name="T2" fmla="*/ 185 w 361"/>
                <a:gd name="T3" fmla="*/ 37 h 360"/>
                <a:gd name="T4" fmla="*/ 193 w 361"/>
                <a:gd name="T5" fmla="*/ 95 h 360"/>
                <a:gd name="T6" fmla="*/ 219 w 361"/>
                <a:gd name="T7" fmla="*/ 126 h 360"/>
                <a:gd name="T8" fmla="*/ 196 w 361"/>
                <a:gd name="T9" fmla="*/ 182 h 360"/>
                <a:gd name="T10" fmla="*/ 168 w 361"/>
                <a:gd name="T11" fmla="*/ 186 h 360"/>
                <a:gd name="T12" fmla="*/ 126 w 361"/>
                <a:gd name="T13" fmla="*/ 219 h 360"/>
                <a:gd name="T14" fmla="*/ 96 w 361"/>
                <a:gd name="T15" fmla="*/ 193 h 360"/>
                <a:gd name="T16" fmla="*/ 49 w 361"/>
                <a:gd name="T17" fmla="*/ 196 h 360"/>
                <a:gd name="T18" fmla="*/ 47 w 361"/>
                <a:gd name="T19" fmla="*/ 156 h 360"/>
                <a:gd name="T20" fmla="*/ 11 w 361"/>
                <a:gd name="T21" fmla="*/ 109 h 360"/>
                <a:gd name="T22" fmla="*/ 47 w 361"/>
                <a:gd name="T23" fmla="*/ 65 h 360"/>
                <a:gd name="T24" fmla="*/ 50 w 361"/>
                <a:gd name="T25" fmla="*/ 36 h 360"/>
                <a:gd name="T26" fmla="*/ 103 w 361"/>
                <a:gd name="T27" fmla="*/ 31 h 360"/>
                <a:gd name="T28" fmla="*/ 116 w 361"/>
                <a:gd name="T29" fmla="*/ 161 h 360"/>
                <a:gd name="T30" fmla="*/ 250 w 361"/>
                <a:gd name="T31" fmla="*/ 180 h 360"/>
                <a:gd name="T32" fmla="*/ 293 w 361"/>
                <a:gd name="T33" fmla="*/ 209 h 360"/>
                <a:gd name="T34" fmla="*/ 320 w 361"/>
                <a:gd name="T35" fmla="*/ 199 h 360"/>
                <a:gd name="T36" fmla="*/ 327 w 361"/>
                <a:gd name="T37" fmla="*/ 261 h 360"/>
                <a:gd name="T38" fmla="*/ 346 w 361"/>
                <a:gd name="T39" fmla="*/ 294 h 360"/>
                <a:gd name="T40" fmla="*/ 317 w 361"/>
                <a:gd name="T41" fmla="*/ 299 h 360"/>
                <a:gd name="T42" fmla="*/ 280 w 361"/>
                <a:gd name="T43" fmla="*/ 349 h 360"/>
                <a:gd name="T44" fmla="*/ 237 w 361"/>
                <a:gd name="T45" fmla="*/ 321 h 360"/>
                <a:gd name="T46" fmla="*/ 209 w 361"/>
                <a:gd name="T47" fmla="*/ 330 h 360"/>
                <a:gd name="T48" fmla="*/ 202 w 361"/>
                <a:gd name="T49" fmla="*/ 268 h 360"/>
                <a:gd name="T50" fmla="*/ 186 w 361"/>
                <a:gd name="T51" fmla="*/ 233 h 360"/>
                <a:gd name="T52" fmla="*/ 230 w 361"/>
                <a:gd name="T53" fmla="*/ 212 h 360"/>
                <a:gd name="T54" fmla="*/ 250 w 361"/>
                <a:gd name="T55" fmla="*/ 180 h 360"/>
                <a:gd name="T56" fmla="*/ 240 w 361"/>
                <a:gd name="T57" fmla="*/ 240 h 360"/>
                <a:gd name="T58" fmla="*/ 109 w 361"/>
                <a:gd name="T59" fmla="*/ 0 h 360"/>
                <a:gd name="T60" fmla="*/ 49 w 361"/>
                <a:gd name="T61" fmla="*/ 25 h 360"/>
                <a:gd name="T62" fmla="*/ 29 w 361"/>
                <a:gd name="T63" fmla="*/ 93 h 360"/>
                <a:gd name="T64" fmla="*/ 29 w 361"/>
                <a:gd name="T65" fmla="*/ 140 h 360"/>
                <a:gd name="T66" fmla="*/ 49 w 361"/>
                <a:gd name="T67" fmla="*/ 207 h 360"/>
                <a:gd name="T68" fmla="*/ 109 w 361"/>
                <a:gd name="T69" fmla="*/ 232 h 360"/>
                <a:gd name="T70" fmla="*/ 176 w 361"/>
                <a:gd name="T71" fmla="*/ 205 h 360"/>
                <a:gd name="T72" fmla="*/ 195 w 361"/>
                <a:gd name="T73" fmla="*/ 161 h 360"/>
                <a:gd name="T74" fmla="*/ 221 w 361"/>
                <a:gd name="T75" fmla="*/ 96 h 360"/>
                <a:gd name="T76" fmla="*/ 193 w 361"/>
                <a:gd name="T77" fmla="*/ 29 h 360"/>
                <a:gd name="T78" fmla="*/ 137 w 361"/>
                <a:gd name="T79" fmla="*/ 12 h 360"/>
                <a:gd name="T80" fmla="*/ 151 w 361"/>
                <a:gd name="T81" fmla="*/ 116 h 360"/>
                <a:gd name="T82" fmla="*/ 232 w 361"/>
                <a:gd name="T83" fmla="*/ 173 h 360"/>
                <a:gd name="T84" fmla="*/ 186 w 361"/>
                <a:gd name="T85" fmla="*/ 222 h 360"/>
                <a:gd name="T86" fmla="*/ 199 w 361"/>
                <a:gd name="T87" fmla="*/ 298 h 360"/>
                <a:gd name="T88" fmla="*/ 219 w 361"/>
                <a:gd name="T89" fmla="*/ 340 h 360"/>
                <a:gd name="T90" fmla="*/ 283 w 361"/>
                <a:gd name="T91" fmla="*/ 360 h 360"/>
                <a:gd name="T92" fmla="*/ 342 w 361"/>
                <a:gd name="T93" fmla="*/ 307 h 360"/>
                <a:gd name="T94" fmla="*/ 338 w 361"/>
                <a:gd name="T95" fmla="*/ 260 h 360"/>
                <a:gd name="T96" fmla="*/ 318 w 361"/>
                <a:gd name="T97" fmla="*/ 187 h 360"/>
                <a:gd name="T98" fmla="*/ 250 w 361"/>
                <a:gd name="T99" fmla="*/ 169 h 360"/>
                <a:gd name="T100" fmla="*/ 265 w 361"/>
                <a:gd name="T101" fmla="*/ 241 h 3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61" h="360">
                  <a:moveTo>
                    <a:pt x="124" y="11"/>
                  </a:moveTo>
                  <a:cubicBezTo>
                    <a:pt x="125" y="11"/>
                    <a:pt x="126" y="12"/>
                    <a:pt x="126" y="13"/>
                  </a:cubicBezTo>
                  <a:cubicBezTo>
                    <a:pt x="129" y="31"/>
                    <a:pt x="129" y="31"/>
                    <a:pt x="129" y="31"/>
                  </a:cubicBezTo>
                  <a:cubicBezTo>
                    <a:pt x="130" y="35"/>
                    <a:pt x="133" y="38"/>
                    <a:pt x="137" y="39"/>
                  </a:cubicBezTo>
                  <a:cubicBezTo>
                    <a:pt x="144" y="41"/>
                    <a:pt x="150" y="44"/>
                    <a:pt x="156" y="47"/>
                  </a:cubicBezTo>
                  <a:cubicBezTo>
                    <a:pt x="158" y="48"/>
                    <a:pt x="160" y="49"/>
                    <a:pt x="161" y="49"/>
                  </a:cubicBezTo>
                  <a:cubicBezTo>
                    <a:pt x="164" y="49"/>
                    <a:pt x="166" y="48"/>
                    <a:pt x="168" y="47"/>
                  </a:cubicBezTo>
                  <a:cubicBezTo>
                    <a:pt x="182" y="36"/>
                    <a:pt x="182" y="36"/>
                    <a:pt x="182" y="36"/>
                  </a:cubicBezTo>
                  <a:cubicBezTo>
                    <a:pt x="183" y="36"/>
                    <a:pt x="183" y="36"/>
                    <a:pt x="184" y="36"/>
                  </a:cubicBezTo>
                  <a:cubicBezTo>
                    <a:pt x="184" y="36"/>
                    <a:pt x="185" y="36"/>
                    <a:pt x="185" y="37"/>
                  </a:cubicBezTo>
                  <a:cubicBezTo>
                    <a:pt x="196" y="47"/>
                    <a:pt x="196" y="47"/>
                    <a:pt x="196" y="47"/>
                  </a:cubicBezTo>
                  <a:cubicBezTo>
                    <a:pt x="197" y="48"/>
                    <a:pt x="197" y="49"/>
                    <a:pt x="196" y="50"/>
                  </a:cubicBezTo>
                  <a:cubicBezTo>
                    <a:pt x="186" y="65"/>
                    <a:pt x="186" y="65"/>
                    <a:pt x="186" y="65"/>
                  </a:cubicBezTo>
                  <a:cubicBezTo>
                    <a:pt x="184" y="68"/>
                    <a:pt x="183" y="73"/>
                    <a:pt x="185" y="76"/>
                  </a:cubicBezTo>
                  <a:cubicBezTo>
                    <a:pt x="189" y="82"/>
                    <a:pt x="192" y="89"/>
                    <a:pt x="193" y="95"/>
                  </a:cubicBezTo>
                  <a:cubicBezTo>
                    <a:pt x="194" y="99"/>
                    <a:pt x="198" y="102"/>
                    <a:pt x="202" y="103"/>
                  </a:cubicBezTo>
                  <a:cubicBezTo>
                    <a:pt x="219" y="106"/>
                    <a:pt x="219" y="106"/>
                    <a:pt x="219" y="106"/>
                  </a:cubicBezTo>
                  <a:cubicBezTo>
                    <a:pt x="221" y="106"/>
                    <a:pt x="221" y="107"/>
                    <a:pt x="221" y="109"/>
                  </a:cubicBezTo>
                  <a:cubicBezTo>
                    <a:pt x="221" y="124"/>
                    <a:pt x="221" y="124"/>
                    <a:pt x="221" y="124"/>
                  </a:cubicBezTo>
                  <a:cubicBezTo>
                    <a:pt x="221" y="125"/>
                    <a:pt x="221" y="126"/>
                    <a:pt x="219" y="126"/>
                  </a:cubicBezTo>
                  <a:cubicBezTo>
                    <a:pt x="202" y="129"/>
                    <a:pt x="202" y="129"/>
                    <a:pt x="202" y="129"/>
                  </a:cubicBezTo>
                  <a:cubicBezTo>
                    <a:pt x="198" y="130"/>
                    <a:pt x="194" y="133"/>
                    <a:pt x="193" y="137"/>
                  </a:cubicBezTo>
                  <a:cubicBezTo>
                    <a:pt x="192" y="144"/>
                    <a:pt x="189" y="150"/>
                    <a:pt x="185" y="156"/>
                  </a:cubicBezTo>
                  <a:cubicBezTo>
                    <a:pt x="183" y="160"/>
                    <a:pt x="184" y="164"/>
                    <a:pt x="186" y="168"/>
                  </a:cubicBezTo>
                  <a:cubicBezTo>
                    <a:pt x="196" y="182"/>
                    <a:pt x="196" y="182"/>
                    <a:pt x="196" y="182"/>
                  </a:cubicBezTo>
                  <a:cubicBezTo>
                    <a:pt x="197" y="183"/>
                    <a:pt x="197" y="184"/>
                    <a:pt x="196" y="185"/>
                  </a:cubicBezTo>
                  <a:cubicBezTo>
                    <a:pt x="185" y="196"/>
                    <a:pt x="185" y="196"/>
                    <a:pt x="185" y="196"/>
                  </a:cubicBezTo>
                  <a:cubicBezTo>
                    <a:pt x="185" y="196"/>
                    <a:pt x="184" y="196"/>
                    <a:pt x="184" y="196"/>
                  </a:cubicBezTo>
                  <a:cubicBezTo>
                    <a:pt x="183" y="196"/>
                    <a:pt x="183" y="196"/>
                    <a:pt x="182" y="196"/>
                  </a:cubicBezTo>
                  <a:cubicBezTo>
                    <a:pt x="168" y="186"/>
                    <a:pt x="168" y="186"/>
                    <a:pt x="168" y="186"/>
                  </a:cubicBezTo>
                  <a:cubicBezTo>
                    <a:pt x="166" y="185"/>
                    <a:pt x="164" y="184"/>
                    <a:pt x="162" y="184"/>
                  </a:cubicBezTo>
                  <a:cubicBezTo>
                    <a:pt x="160" y="184"/>
                    <a:pt x="158" y="184"/>
                    <a:pt x="156" y="185"/>
                  </a:cubicBezTo>
                  <a:cubicBezTo>
                    <a:pt x="150" y="189"/>
                    <a:pt x="144" y="191"/>
                    <a:pt x="137" y="193"/>
                  </a:cubicBezTo>
                  <a:cubicBezTo>
                    <a:pt x="133" y="194"/>
                    <a:pt x="130" y="198"/>
                    <a:pt x="129" y="202"/>
                  </a:cubicBezTo>
                  <a:cubicBezTo>
                    <a:pt x="126" y="219"/>
                    <a:pt x="126" y="219"/>
                    <a:pt x="126" y="219"/>
                  </a:cubicBezTo>
                  <a:cubicBezTo>
                    <a:pt x="126" y="220"/>
                    <a:pt x="125" y="221"/>
                    <a:pt x="124" y="221"/>
                  </a:cubicBezTo>
                  <a:cubicBezTo>
                    <a:pt x="109" y="221"/>
                    <a:pt x="109" y="221"/>
                    <a:pt x="109" y="221"/>
                  </a:cubicBezTo>
                  <a:cubicBezTo>
                    <a:pt x="108" y="221"/>
                    <a:pt x="107" y="220"/>
                    <a:pt x="106" y="219"/>
                  </a:cubicBezTo>
                  <a:cubicBezTo>
                    <a:pt x="103" y="202"/>
                    <a:pt x="103" y="202"/>
                    <a:pt x="103" y="202"/>
                  </a:cubicBezTo>
                  <a:cubicBezTo>
                    <a:pt x="103" y="198"/>
                    <a:pt x="100" y="194"/>
                    <a:pt x="96" y="193"/>
                  </a:cubicBezTo>
                  <a:cubicBezTo>
                    <a:pt x="89" y="191"/>
                    <a:pt x="82" y="189"/>
                    <a:pt x="76" y="185"/>
                  </a:cubicBezTo>
                  <a:cubicBezTo>
                    <a:pt x="75" y="184"/>
                    <a:pt x="73" y="184"/>
                    <a:pt x="71" y="184"/>
                  </a:cubicBezTo>
                  <a:cubicBezTo>
                    <a:pt x="69" y="184"/>
                    <a:pt x="67" y="185"/>
                    <a:pt x="65" y="186"/>
                  </a:cubicBezTo>
                  <a:cubicBezTo>
                    <a:pt x="50" y="196"/>
                    <a:pt x="50" y="196"/>
                    <a:pt x="50" y="196"/>
                  </a:cubicBezTo>
                  <a:cubicBezTo>
                    <a:pt x="50" y="196"/>
                    <a:pt x="49" y="196"/>
                    <a:pt x="49" y="196"/>
                  </a:cubicBezTo>
                  <a:cubicBezTo>
                    <a:pt x="49" y="196"/>
                    <a:pt x="48" y="196"/>
                    <a:pt x="47" y="196"/>
                  </a:cubicBezTo>
                  <a:cubicBezTo>
                    <a:pt x="37" y="185"/>
                    <a:pt x="37" y="185"/>
                    <a:pt x="37" y="185"/>
                  </a:cubicBezTo>
                  <a:cubicBezTo>
                    <a:pt x="36" y="184"/>
                    <a:pt x="36" y="183"/>
                    <a:pt x="37" y="182"/>
                  </a:cubicBezTo>
                  <a:cubicBezTo>
                    <a:pt x="47" y="168"/>
                    <a:pt x="47" y="168"/>
                    <a:pt x="47" y="168"/>
                  </a:cubicBezTo>
                  <a:cubicBezTo>
                    <a:pt x="49" y="164"/>
                    <a:pt x="49" y="160"/>
                    <a:pt x="47" y="156"/>
                  </a:cubicBezTo>
                  <a:cubicBezTo>
                    <a:pt x="44" y="150"/>
                    <a:pt x="41" y="144"/>
                    <a:pt x="39" y="137"/>
                  </a:cubicBezTo>
                  <a:cubicBezTo>
                    <a:pt x="38" y="133"/>
                    <a:pt x="35" y="130"/>
                    <a:pt x="31" y="129"/>
                  </a:cubicBezTo>
                  <a:cubicBezTo>
                    <a:pt x="13" y="126"/>
                    <a:pt x="13" y="126"/>
                    <a:pt x="13" y="126"/>
                  </a:cubicBezTo>
                  <a:cubicBezTo>
                    <a:pt x="12" y="126"/>
                    <a:pt x="11" y="125"/>
                    <a:pt x="11" y="124"/>
                  </a:cubicBezTo>
                  <a:cubicBezTo>
                    <a:pt x="11" y="109"/>
                    <a:pt x="11" y="109"/>
                    <a:pt x="11" y="109"/>
                  </a:cubicBezTo>
                  <a:cubicBezTo>
                    <a:pt x="11" y="108"/>
                    <a:pt x="12" y="107"/>
                    <a:pt x="13" y="106"/>
                  </a:cubicBezTo>
                  <a:cubicBezTo>
                    <a:pt x="31" y="103"/>
                    <a:pt x="31" y="103"/>
                    <a:pt x="31" y="103"/>
                  </a:cubicBezTo>
                  <a:cubicBezTo>
                    <a:pt x="35" y="103"/>
                    <a:pt x="38" y="100"/>
                    <a:pt x="39" y="96"/>
                  </a:cubicBezTo>
                  <a:cubicBezTo>
                    <a:pt x="41" y="89"/>
                    <a:pt x="44" y="83"/>
                    <a:pt x="47" y="77"/>
                  </a:cubicBezTo>
                  <a:cubicBezTo>
                    <a:pt x="49" y="73"/>
                    <a:pt x="49" y="68"/>
                    <a:pt x="47" y="65"/>
                  </a:cubicBezTo>
                  <a:cubicBezTo>
                    <a:pt x="36" y="51"/>
                    <a:pt x="36" y="51"/>
                    <a:pt x="36" y="51"/>
                  </a:cubicBezTo>
                  <a:cubicBezTo>
                    <a:pt x="36" y="49"/>
                    <a:pt x="36" y="48"/>
                    <a:pt x="37" y="47"/>
                  </a:cubicBezTo>
                  <a:cubicBezTo>
                    <a:pt x="47" y="37"/>
                    <a:pt x="47" y="37"/>
                    <a:pt x="47" y="37"/>
                  </a:cubicBezTo>
                  <a:cubicBezTo>
                    <a:pt x="48" y="36"/>
                    <a:pt x="49" y="36"/>
                    <a:pt x="49" y="36"/>
                  </a:cubicBezTo>
                  <a:cubicBezTo>
                    <a:pt x="49" y="36"/>
                    <a:pt x="50" y="36"/>
                    <a:pt x="50" y="3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7" y="48"/>
                    <a:pt x="69" y="49"/>
                    <a:pt x="71" y="49"/>
                  </a:cubicBezTo>
                  <a:cubicBezTo>
                    <a:pt x="73" y="49"/>
                    <a:pt x="75" y="48"/>
                    <a:pt x="76" y="47"/>
                  </a:cubicBezTo>
                  <a:cubicBezTo>
                    <a:pt x="82" y="44"/>
                    <a:pt x="89" y="41"/>
                    <a:pt x="95" y="39"/>
                  </a:cubicBezTo>
                  <a:cubicBezTo>
                    <a:pt x="99" y="38"/>
                    <a:pt x="102" y="35"/>
                    <a:pt x="103" y="31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2"/>
                    <a:pt x="107" y="11"/>
                    <a:pt x="109" y="11"/>
                  </a:cubicBezTo>
                  <a:cubicBezTo>
                    <a:pt x="124" y="11"/>
                    <a:pt x="124" y="11"/>
                    <a:pt x="124" y="11"/>
                  </a:cubicBezTo>
                  <a:moveTo>
                    <a:pt x="116" y="161"/>
                  </a:moveTo>
                  <a:cubicBezTo>
                    <a:pt x="116" y="161"/>
                    <a:pt x="116" y="161"/>
                    <a:pt x="116" y="161"/>
                  </a:cubicBezTo>
                  <a:cubicBezTo>
                    <a:pt x="141" y="161"/>
                    <a:pt x="161" y="141"/>
                    <a:pt x="161" y="116"/>
                  </a:cubicBezTo>
                  <a:cubicBezTo>
                    <a:pt x="161" y="91"/>
                    <a:pt x="141" y="71"/>
                    <a:pt x="116" y="71"/>
                  </a:cubicBezTo>
                  <a:cubicBezTo>
                    <a:pt x="91" y="71"/>
                    <a:pt x="71" y="91"/>
                    <a:pt x="71" y="116"/>
                  </a:cubicBezTo>
                  <a:cubicBezTo>
                    <a:pt x="71" y="141"/>
                    <a:pt x="91" y="161"/>
                    <a:pt x="116" y="161"/>
                  </a:cubicBezTo>
                  <a:moveTo>
                    <a:pt x="250" y="180"/>
                  </a:moveTo>
                  <a:cubicBezTo>
                    <a:pt x="251" y="180"/>
                    <a:pt x="252" y="180"/>
                    <a:pt x="252" y="181"/>
                  </a:cubicBezTo>
                  <a:cubicBezTo>
                    <a:pt x="252" y="181"/>
                    <a:pt x="252" y="181"/>
                    <a:pt x="252" y="181"/>
                  </a:cubicBezTo>
                  <a:cubicBezTo>
                    <a:pt x="259" y="196"/>
                    <a:pt x="259" y="196"/>
                    <a:pt x="259" y="196"/>
                  </a:cubicBezTo>
                  <a:cubicBezTo>
                    <a:pt x="261" y="199"/>
                    <a:pt x="264" y="202"/>
                    <a:pt x="268" y="202"/>
                  </a:cubicBezTo>
                  <a:cubicBezTo>
                    <a:pt x="277" y="203"/>
                    <a:pt x="285" y="205"/>
                    <a:pt x="293" y="209"/>
                  </a:cubicBezTo>
                  <a:cubicBezTo>
                    <a:pt x="294" y="209"/>
                    <a:pt x="296" y="210"/>
                    <a:pt x="298" y="210"/>
                  </a:cubicBezTo>
                  <a:cubicBezTo>
                    <a:pt x="300" y="210"/>
                    <a:pt x="302" y="209"/>
                    <a:pt x="304" y="208"/>
                  </a:cubicBezTo>
                  <a:cubicBezTo>
                    <a:pt x="317" y="198"/>
                    <a:pt x="317" y="198"/>
                    <a:pt x="317" y="198"/>
                  </a:cubicBezTo>
                  <a:cubicBezTo>
                    <a:pt x="317" y="198"/>
                    <a:pt x="318" y="198"/>
                    <a:pt x="318" y="198"/>
                  </a:cubicBezTo>
                  <a:cubicBezTo>
                    <a:pt x="319" y="198"/>
                    <a:pt x="319" y="198"/>
                    <a:pt x="320" y="199"/>
                  </a:cubicBezTo>
                  <a:cubicBezTo>
                    <a:pt x="330" y="209"/>
                    <a:pt x="330" y="209"/>
                    <a:pt x="330" y="209"/>
                  </a:cubicBezTo>
                  <a:cubicBezTo>
                    <a:pt x="331" y="210"/>
                    <a:pt x="331" y="211"/>
                    <a:pt x="331" y="212"/>
                  </a:cubicBezTo>
                  <a:cubicBezTo>
                    <a:pt x="322" y="225"/>
                    <a:pt x="322" y="225"/>
                    <a:pt x="322" y="225"/>
                  </a:cubicBezTo>
                  <a:cubicBezTo>
                    <a:pt x="319" y="229"/>
                    <a:pt x="319" y="233"/>
                    <a:pt x="321" y="236"/>
                  </a:cubicBezTo>
                  <a:cubicBezTo>
                    <a:pt x="325" y="244"/>
                    <a:pt x="327" y="252"/>
                    <a:pt x="327" y="261"/>
                  </a:cubicBezTo>
                  <a:cubicBezTo>
                    <a:pt x="328" y="265"/>
                    <a:pt x="330" y="268"/>
                    <a:pt x="333" y="270"/>
                  </a:cubicBezTo>
                  <a:cubicBezTo>
                    <a:pt x="348" y="277"/>
                    <a:pt x="348" y="277"/>
                    <a:pt x="348" y="277"/>
                  </a:cubicBezTo>
                  <a:cubicBezTo>
                    <a:pt x="348" y="277"/>
                    <a:pt x="348" y="277"/>
                    <a:pt x="348" y="277"/>
                  </a:cubicBezTo>
                  <a:cubicBezTo>
                    <a:pt x="349" y="277"/>
                    <a:pt x="350" y="279"/>
                    <a:pt x="349" y="280"/>
                  </a:cubicBezTo>
                  <a:cubicBezTo>
                    <a:pt x="346" y="294"/>
                    <a:pt x="346" y="294"/>
                    <a:pt x="346" y="294"/>
                  </a:cubicBezTo>
                  <a:cubicBezTo>
                    <a:pt x="345" y="295"/>
                    <a:pt x="344" y="296"/>
                    <a:pt x="343" y="296"/>
                  </a:cubicBezTo>
                  <a:cubicBezTo>
                    <a:pt x="343" y="296"/>
                    <a:pt x="343" y="296"/>
                    <a:pt x="343" y="296"/>
                  </a:cubicBezTo>
                  <a:cubicBezTo>
                    <a:pt x="327" y="294"/>
                    <a:pt x="327" y="294"/>
                    <a:pt x="327" y="294"/>
                  </a:cubicBezTo>
                  <a:cubicBezTo>
                    <a:pt x="327" y="294"/>
                    <a:pt x="326" y="294"/>
                    <a:pt x="326" y="294"/>
                  </a:cubicBezTo>
                  <a:cubicBezTo>
                    <a:pt x="322" y="294"/>
                    <a:pt x="319" y="296"/>
                    <a:pt x="317" y="299"/>
                  </a:cubicBezTo>
                  <a:cubicBezTo>
                    <a:pt x="312" y="306"/>
                    <a:pt x="306" y="312"/>
                    <a:pt x="299" y="317"/>
                  </a:cubicBezTo>
                  <a:cubicBezTo>
                    <a:pt x="296" y="319"/>
                    <a:pt x="294" y="323"/>
                    <a:pt x="294" y="327"/>
                  </a:cubicBezTo>
                  <a:cubicBezTo>
                    <a:pt x="296" y="343"/>
                    <a:pt x="296" y="343"/>
                    <a:pt x="296" y="343"/>
                  </a:cubicBezTo>
                  <a:cubicBezTo>
                    <a:pt x="296" y="344"/>
                    <a:pt x="295" y="345"/>
                    <a:pt x="294" y="346"/>
                  </a:cubicBezTo>
                  <a:cubicBezTo>
                    <a:pt x="280" y="349"/>
                    <a:pt x="280" y="349"/>
                    <a:pt x="280" y="349"/>
                  </a:cubicBezTo>
                  <a:cubicBezTo>
                    <a:pt x="280" y="350"/>
                    <a:pt x="279" y="350"/>
                    <a:pt x="279" y="350"/>
                  </a:cubicBezTo>
                  <a:cubicBezTo>
                    <a:pt x="278" y="350"/>
                    <a:pt x="277" y="349"/>
                    <a:pt x="277" y="348"/>
                  </a:cubicBezTo>
                  <a:cubicBezTo>
                    <a:pt x="270" y="334"/>
                    <a:pt x="270" y="334"/>
                    <a:pt x="270" y="334"/>
                  </a:cubicBezTo>
                  <a:cubicBezTo>
                    <a:pt x="268" y="330"/>
                    <a:pt x="265" y="328"/>
                    <a:pt x="261" y="327"/>
                  </a:cubicBezTo>
                  <a:cubicBezTo>
                    <a:pt x="252" y="327"/>
                    <a:pt x="244" y="325"/>
                    <a:pt x="237" y="321"/>
                  </a:cubicBezTo>
                  <a:cubicBezTo>
                    <a:pt x="235" y="320"/>
                    <a:pt x="233" y="320"/>
                    <a:pt x="232" y="320"/>
                  </a:cubicBezTo>
                  <a:cubicBezTo>
                    <a:pt x="230" y="320"/>
                    <a:pt x="227" y="320"/>
                    <a:pt x="226" y="322"/>
                  </a:cubicBezTo>
                  <a:cubicBezTo>
                    <a:pt x="213" y="331"/>
                    <a:pt x="213" y="331"/>
                    <a:pt x="213" y="331"/>
                  </a:cubicBezTo>
                  <a:cubicBezTo>
                    <a:pt x="212" y="331"/>
                    <a:pt x="211" y="331"/>
                    <a:pt x="211" y="331"/>
                  </a:cubicBezTo>
                  <a:cubicBezTo>
                    <a:pt x="211" y="331"/>
                    <a:pt x="210" y="331"/>
                    <a:pt x="209" y="330"/>
                  </a:cubicBezTo>
                  <a:cubicBezTo>
                    <a:pt x="199" y="320"/>
                    <a:pt x="199" y="320"/>
                    <a:pt x="199" y="320"/>
                  </a:cubicBezTo>
                  <a:cubicBezTo>
                    <a:pt x="198" y="319"/>
                    <a:pt x="198" y="318"/>
                    <a:pt x="198" y="317"/>
                  </a:cubicBezTo>
                  <a:cubicBezTo>
                    <a:pt x="208" y="304"/>
                    <a:pt x="208" y="304"/>
                    <a:pt x="208" y="304"/>
                  </a:cubicBezTo>
                  <a:cubicBezTo>
                    <a:pt x="210" y="301"/>
                    <a:pt x="210" y="296"/>
                    <a:pt x="209" y="293"/>
                  </a:cubicBezTo>
                  <a:cubicBezTo>
                    <a:pt x="205" y="285"/>
                    <a:pt x="203" y="277"/>
                    <a:pt x="202" y="268"/>
                  </a:cubicBezTo>
                  <a:cubicBezTo>
                    <a:pt x="202" y="264"/>
                    <a:pt x="200" y="261"/>
                    <a:pt x="196" y="259"/>
                  </a:cubicBezTo>
                  <a:cubicBezTo>
                    <a:pt x="181" y="252"/>
                    <a:pt x="181" y="252"/>
                    <a:pt x="181" y="252"/>
                  </a:cubicBezTo>
                  <a:cubicBezTo>
                    <a:pt x="180" y="252"/>
                    <a:pt x="180" y="251"/>
                    <a:pt x="180" y="249"/>
                  </a:cubicBezTo>
                  <a:cubicBezTo>
                    <a:pt x="184" y="235"/>
                    <a:pt x="184" y="235"/>
                    <a:pt x="184" y="235"/>
                  </a:cubicBezTo>
                  <a:cubicBezTo>
                    <a:pt x="184" y="234"/>
                    <a:pt x="185" y="233"/>
                    <a:pt x="186" y="233"/>
                  </a:cubicBezTo>
                  <a:cubicBezTo>
                    <a:pt x="186" y="233"/>
                    <a:pt x="186" y="233"/>
                    <a:pt x="186" y="233"/>
                  </a:cubicBezTo>
                  <a:cubicBezTo>
                    <a:pt x="202" y="235"/>
                    <a:pt x="202" y="235"/>
                    <a:pt x="202" y="235"/>
                  </a:cubicBezTo>
                  <a:cubicBezTo>
                    <a:pt x="202" y="235"/>
                    <a:pt x="203" y="235"/>
                    <a:pt x="203" y="235"/>
                  </a:cubicBezTo>
                  <a:cubicBezTo>
                    <a:pt x="207" y="235"/>
                    <a:pt x="210" y="233"/>
                    <a:pt x="212" y="230"/>
                  </a:cubicBezTo>
                  <a:cubicBezTo>
                    <a:pt x="217" y="223"/>
                    <a:pt x="223" y="217"/>
                    <a:pt x="230" y="212"/>
                  </a:cubicBezTo>
                  <a:cubicBezTo>
                    <a:pt x="233" y="210"/>
                    <a:pt x="235" y="206"/>
                    <a:pt x="235" y="202"/>
                  </a:cubicBezTo>
                  <a:cubicBezTo>
                    <a:pt x="233" y="186"/>
                    <a:pt x="233" y="186"/>
                    <a:pt x="233" y="186"/>
                  </a:cubicBezTo>
                  <a:cubicBezTo>
                    <a:pt x="233" y="185"/>
                    <a:pt x="234" y="184"/>
                    <a:pt x="235" y="183"/>
                  </a:cubicBezTo>
                  <a:cubicBezTo>
                    <a:pt x="249" y="180"/>
                    <a:pt x="249" y="180"/>
                    <a:pt x="249" y="180"/>
                  </a:cubicBezTo>
                  <a:cubicBezTo>
                    <a:pt x="250" y="180"/>
                    <a:pt x="250" y="180"/>
                    <a:pt x="250" y="180"/>
                  </a:cubicBezTo>
                  <a:moveTo>
                    <a:pt x="265" y="300"/>
                  </a:moveTo>
                  <a:cubicBezTo>
                    <a:pt x="274" y="300"/>
                    <a:pt x="283" y="296"/>
                    <a:pt x="290" y="290"/>
                  </a:cubicBezTo>
                  <a:cubicBezTo>
                    <a:pt x="303" y="276"/>
                    <a:pt x="303" y="254"/>
                    <a:pt x="290" y="240"/>
                  </a:cubicBezTo>
                  <a:cubicBezTo>
                    <a:pt x="283" y="233"/>
                    <a:pt x="274" y="230"/>
                    <a:pt x="265" y="230"/>
                  </a:cubicBezTo>
                  <a:cubicBezTo>
                    <a:pt x="255" y="230"/>
                    <a:pt x="247" y="233"/>
                    <a:pt x="240" y="240"/>
                  </a:cubicBezTo>
                  <a:cubicBezTo>
                    <a:pt x="226" y="254"/>
                    <a:pt x="226" y="276"/>
                    <a:pt x="240" y="290"/>
                  </a:cubicBezTo>
                  <a:cubicBezTo>
                    <a:pt x="240" y="290"/>
                    <a:pt x="240" y="290"/>
                    <a:pt x="240" y="290"/>
                  </a:cubicBezTo>
                  <a:cubicBezTo>
                    <a:pt x="247" y="296"/>
                    <a:pt x="255" y="300"/>
                    <a:pt x="265" y="300"/>
                  </a:cubicBezTo>
                  <a:moveTo>
                    <a:pt x="124" y="0"/>
                  </a:moveTo>
                  <a:cubicBezTo>
                    <a:pt x="109" y="0"/>
                    <a:pt x="109" y="0"/>
                    <a:pt x="109" y="0"/>
                  </a:cubicBezTo>
                  <a:cubicBezTo>
                    <a:pt x="102" y="0"/>
                    <a:pt x="97" y="5"/>
                    <a:pt x="96" y="12"/>
                  </a:cubicBezTo>
                  <a:cubicBezTo>
                    <a:pt x="93" y="29"/>
                    <a:pt x="93" y="29"/>
                    <a:pt x="93" y="29"/>
                  </a:cubicBezTo>
                  <a:cubicBezTo>
                    <a:pt x="85" y="31"/>
                    <a:pt x="78" y="34"/>
                    <a:pt x="71" y="38"/>
                  </a:cubicBezTo>
                  <a:cubicBezTo>
                    <a:pt x="57" y="28"/>
                    <a:pt x="57" y="28"/>
                    <a:pt x="57" y="28"/>
                  </a:cubicBezTo>
                  <a:cubicBezTo>
                    <a:pt x="54" y="26"/>
                    <a:pt x="52" y="25"/>
                    <a:pt x="49" y="25"/>
                  </a:cubicBezTo>
                  <a:cubicBezTo>
                    <a:pt x="46" y="25"/>
                    <a:pt x="42" y="27"/>
                    <a:pt x="40" y="29"/>
                  </a:cubicBezTo>
                  <a:cubicBezTo>
                    <a:pt x="29" y="40"/>
                    <a:pt x="29" y="40"/>
                    <a:pt x="29" y="40"/>
                  </a:cubicBezTo>
                  <a:cubicBezTo>
                    <a:pt x="25" y="44"/>
                    <a:pt x="24" y="51"/>
                    <a:pt x="28" y="57"/>
                  </a:cubicBezTo>
                  <a:cubicBezTo>
                    <a:pt x="38" y="71"/>
                    <a:pt x="38" y="71"/>
                    <a:pt x="38" y="71"/>
                  </a:cubicBezTo>
                  <a:cubicBezTo>
                    <a:pt x="34" y="78"/>
                    <a:pt x="31" y="85"/>
                    <a:pt x="29" y="93"/>
                  </a:cubicBezTo>
                  <a:cubicBezTo>
                    <a:pt x="11" y="96"/>
                    <a:pt x="11" y="96"/>
                    <a:pt x="11" y="96"/>
                  </a:cubicBezTo>
                  <a:cubicBezTo>
                    <a:pt x="5" y="97"/>
                    <a:pt x="0" y="102"/>
                    <a:pt x="0" y="109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0" y="130"/>
                    <a:pt x="5" y="136"/>
                    <a:pt x="11" y="137"/>
                  </a:cubicBezTo>
                  <a:cubicBezTo>
                    <a:pt x="29" y="140"/>
                    <a:pt x="29" y="140"/>
                    <a:pt x="29" y="140"/>
                  </a:cubicBezTo>
                  <a:cubicBezTo>
                    <a:pt x="31" y="148"/>
                    <a:pt x="34" y="155"/>
                    <a:pt x="38" y="162"/>
                  </a:cubicBezTo>
                  <a:cubicBezTo>
                    <a:pt x="28" y="176"/>
                    <a:pt x="28" y="176"/>
                    <a:pt x="28" y="176"/>
                  </a:cubicBezTo>
                  <a:cubicBezTo>
                    <a:pt x="24" y="181"/>
                    <a:pt x="25" y="188"/>
                    <a:pt x="29" y="193"/>
                  </a:cubicBezTo>
                  <a:cubicBezTo>
                    <a:pt x="40" y="203"/>
                    <a:pt x="40" y="203"/>
                    <a:pt x="40" y="203"/>
                  </a:cubicBezTo>
                  <a:cubicBezTo>
                    <a:pt x="42" y="206"/>
                    <a:pt x="46" y="207"/>
                    <a:pt x="49" y="207"/>
                  </a:cubicBezTo>
                  <a:cubicBezTo>
                    <a:pt x="52" y="207"/>
                    <a:pt x="54" y="206"/>
                    <a:pt x="57" y="205"/>
                  </a:cubicBezTo>
                  <a:cubicBezTo>
                    <a:pt x="71" y="195"/>
                    <a:pt x="71" y="195"/>
                    <a:pt x="71" y="195"/>
                  </a:cubicBezTo>
                  <a:cubicBezTo>
                    <a:pt x="78" y="199"/>
                    <a:pt x="85" y="202"/>
                    <a:pt x="93" y="204"/>
                  </a:cubicBezTo>
                  <a:cubicBezTo>
                    <a:pt x="96" y="221"/>
                    <a:pt x="96" y="221"/>
                    <a:pt x="96" y="221"/>
                  </a:cubicBezTo>
                  <a:cubicBezTo>
                    <a:pt x="97" y="227"/>
                    <a:pt x="102" y="232"/>
                    <a:pt x="109" y="232"/>
                  </a:cubicBezTo>
                  <a:cubicBezTo>
                    <a:pt x="124" y="232"/>
                    <a:pt x="124" y="232"/>
                    <a:pt x="124" y="232"/>
                  </a:cubicBezTo>
                  <a:cubicBezTo>
                    <a:pt x="130" y="232"/>
                    <a:pt x="136" y="227"/>
                    <a:pt x="137" y="221"/>
                  </a:cubicBezTo>
                  <a:cubicBezTo>
                    <a:pt x="140" y="204"/>
                    <a:pt x="140" y="204"/>
                    <a:pt x="140" y="204"/>
                  </a:cubicBezTo>
                  <a:cubicBezTo>
                    <a:pt x="148" y="202"/>
                    <a:pt x="155" y="199"/>
                    <a:pt x="162" y="195"/>
                  </a:cubicBezTo>
                  <a:cubicBezTo>
                    <a:pt x="176" y="205"/>
                    <a:pt x="176" y="205"/>
                    <a:pt x="176" y="205"/>
                  </a:cubicBezTo>
                  <a:cubicBezTo>
                    <a:pt x="178" y="206"/>
                    <a:pt x="181" y="207"/>
                    <a:pt x="184" y="207"/>
                  </a:cubicBezTo>
                  <a:cubicBezTo>
                    <a:pt x="187" y="207"/>
                    <a:pt x="190" y="206"/>
                    <a:pt x="193" y="203"/>
                  </a:cubicBezTo>
                  <a:cubicBezTo>
                    <a:pt x="203" y="193"/>
                    <a:pt x="203" y="193"/>
                    <a:pt x="203" y="193"/>
                  </a:cubicBezTo>
                  <a:cubicBezTo>
                    <a:pt x="208" y="188"/>
                    <a:pt x="209" y="181"/>
                    <a:pt x="205" y="176"/>
                  </a:cubicBezTo>
                  <a:cubicBezTo>
                    <a:pt x="195" y="161"/>
                    <a:pt x="195" y="161"/>
                    <a:pt x="195" y="161"/>
                  </a:cubicBezTo>
                  <a:cubicBezTo>
                    <a:pt x="199" y="155"/>
                    <a:pt x="202" y="147"/>
                    <a:pt x="204" y="140"/>
                  </a:cubicBezTo>
                  <a:cubicBezTo>
                    <a:pt x="221" y="137"/>
                    <a:pt x="221" y="137"/>
                    <a:pt x="221" y="137"/>
                  </a:cubicBezTo>
                  <a:cubicBezTo>
                    <a:pt x="227" y="136"/>
                    <a:pt x="232" y="130"/>
                    <a:pt x="232" y="124"/>
                  </a:cubicBezTo>
                  <a:cubicBezTo>
                    <a:pt x="232" y="109"/>
                    <a:pt x="232" y="109"/>
                    <a:pt x="232" y="109"/>
                  </a:cubicBezTo>
                  <a:cubicBezTo>
                    <a:pt x="232" y="102"/>
                    <a:pt x="227" y="97"/>
                    <a:pt x="221" y="96"/>
                  </a:cubicBezTo>
                  <a:cubicBezTo>
                    <a:pt x="204" y="92"/>
                    <a:pt x="204" y="92"/>
                    <a:pt x="204" y="92"/>
                  </a:cubicBezTo>
                  <a:cubicBezTo>
                    <a:pt x="202" y="85"/>
                    <a:pt x="199" y="78"/>
                    <a:pt x="195" y="71"/>
                  </a:cubicBezTo>
                  <a:cubicBezTo>
                    <a:pt x="205" y="57"/>
                    <a:pt x="205" y="57"/>
                    <a:pt x="205" y="57"/>
                  </a:cubicBezTo>
                  <a:cubicBezTo>
                    <a:pt x="209" y="51"/>
                    <a:pt x="208" y="44"/>
                    <a:pt x="203" y="39"/>
                  </a:cubicBezTo>
                  <a:cubicBezTo>
                    <a:pt x="193" y="29"/>
                    <a:pt x="193" y="29"/>
                    <a:pt x="193" y="29"/>
                  </a:cubicBezTo>
                  <a:cubicBezTo>
                    <a:pt x="190" y="27"/>
                    <a:pt x="187" y="25"/>
                    <a:pt x="184" y="25"/>
                  </a:cubicBezTo>
                  <a:cubicBezTo>
                    <a:pt x="181" y="25"/>
                    <a:pt x="178" y="26"/>
                    <a:pt x="176" y="28"/>
                  </a:cubicBezTo>
                  <a:cubicBezTo>
                    <a:pt x="161" y="38"/>
                    <a:pt x="161" y="38"/>
                    <a:pt x="161" y="38"/>
                  </a:cubicBezTo>
                  <a:cubicBezTo>
                    <a:pt x="155" y="34"/>
                    <a:pt x="147" y="31"/>
                    <a:pt x="140" y="29"/>
                  </a:cubicBezTo>
                  <a:cubicBezTo>
                    <a:pt x="137" y="12"/>
                    <a:pt x="137" y="12"/>
                    <a:pt x="137" y="12"/>
                  </a:cubicBezTo>
                  <a:cubicBezTo>
                    <a:pt x="136" y="5"/>
                    <a:pt x="130" y="0"/>
                    <a:pt x="124" y="0"/>
                  </a:cubicBezTo>
                  <a:close/>
                  <a:moveTo>
                    <a:pt x="116" y="150"/>
                  </a:moveTo>
                  <a:cubicBezTo>
                    <a:pt x="97" y="150"/>
                    <a:pt x="82" y="135"/>
                    <a:pt x="82" y="116"/>
                  </a:cubicBezTo>
                  <a:cubicBezTo>
                    <a:pt x="82" y="97"/>
                    <a:pt x="97" y="82"/>
                    <a:pt x="116" y="82"/>
                  </a:cubicBezTo>
                  <a:cubicBezTo>
                    <a:pt x="135" y="82"/>
                    <a:pt x="151" y="97"/>
                    <a:pt x="151" y="116"/>
                  </a:cubicBezTo>
                  <a:cubicBezTo>
                    <a:pt x="151" y="135"/>
                    <a:pt x="135" y="150"/>
                    <a:pt x="116" y="150"/>
                  </a:cubicBezTo>
                  <a:cubicBezTo>
                    <a:pt x="116" y="150"/>
                    <a:pt x="116" y="150"/>
                    <a:pt x="116" y="150"/>
                  </a:cubicBezTo>
                  <a:close/>
                  <a:moveTo>
                    <a:pt x="250" y="169"/>
                  </a:moveTo>
                  <a:cubicBezTo>
                    <a:pt x="249" y="169"/>
                    <a:pt x="248" y="169"/>
                    <a:pt x="247" y="169"/>
                  </a:cubicBezTo>
                  <a:cubicBezTo>
                    <a:pt x="232" y="173"/>
                    <a:pt x="232" y="173"/>
                    <a:pt x="232" y="173"/>
                  </a:cubicBezTo>
                  <a:cubicBezTo>
                    <a:pt x="226" y="175"/>
                    <a:pt x="222" y="181"/>
                    <a:pt x="223" y="187"/>
                  </a:cubicBezTo>
                  <a:cubicBezTo>
                    <a:pt x="224" y="203"/>
                    <a:pt x="224" y="203"/>
                    <a:pt x="224" y="203"/>
                  </a:cubicBezTo>
                  <a:cubicBezTo>
                    <a:pt x="216" y="208"/>
                    <a:pt x="209" y="215"/>
                    <a:pt x="203" y="224"/>
                  </a:cubicBezTo>
                  <a:cubicBezTo>
                    <a:pt x="187" y="222"/>
                    <a:pt x="187" y="222"/>
                    <a:pt x="187" y="222"/>
                  </a:cubicBezTo>
                  <a:cubicBezTo>
                    <a:pt x="187" y="222"/>
                    <a:pt x="187" y="222"/>
                    <a:pt x="186" y="222"/>
                  </a:cubicBezTo>
                  <a:cubicBezTo>
                    <a:pt x="180" y="222"/>
                    <a:pt x="175" y="226"/>
                    <a:pt x="173" y="232"/>
                  </a:cubicBezTo>
                  <a:cubicBezTo>
                    <a:pt x="170" y="247"/>
                    <a:pt x="170" y="247"/>
                    <a:pt x="170" y="247"/>
                  </a:cubicBezTo>
                  <a:cubicBezTo>
                    <a:pt x="168" y="253"/>
                    <a:pt x="171" y="259"/>
                    <a:pt x="177" y="262"/>
                  </a:cubicBezTo>
                  <a:cubicBezTo>
                    <a:pt x="191" y="269"/>
                    <a:pt x="191" y="269"/>
                    <a:pt x="191" y="269"/>
                  </a:cubicBezTo>
                  <a:cubicBezTo>
                    <a:pt x="192" y="279"/>
                    <a:pt x="195" y="289"/>
                    <a:pt x="199" y="298"/>
                  </a:cubicBezTo>
                  <a:cubicBezTo>
                    <a:pt x="190" y="311"/>
                    <a:pt x="190" y="311"/>
                    <a:pt x="190" y="311"/>
                  </a:cubicBezTo>
                  <a:cubicBezTo>
                    <a:pt x="186" y="316"/>
                    <a:pt x="187" y="323"/>
                    <a:pt x="191" y="328"/>
                  </a:cubicBezTo>
                  <a:cubicBezTo>
                    <a:pt x="202" y="338"/>
                    <a:pt x="202" y="338"/>
                    <a:pt x="202" y="338"/>
                  </a:cubicBezTo>
                  <a:cubicBezTo>
                    <a:pt x="204" y="341"/>
                    <a:pt x="208" y="342"/>
                    <a:pt x="211" y="342"/>
                  </a:cubicBezTo>
                  <a:cubicBezTo>
                    <a:pt x="214" y="342"/>
                    <a:pt x="216" y="341"/>
                    <a:pt x="219" y="340"/>
                  </a:cubicBezTo>
                  <a:cubicBezTo>
                    <a:pt x="232" y="330"/>
                    <a:pt x="232" y="330"/>
                    <a:pt x="232" y="330"/>
                  </a:cubicBezTo>
                  <a:cubicBezTo>
                    <a:pt x="241" y="335"/>
                    <a:pt x="250" y="337"/>
                    <a:pt x="260" y="338"/>
                  </a:cubicBezTo>
                  <a:cubicBezTo>
                    <a:pt x="267" y="352"/>
                    <a:pt x="267" y="352"/>
                    <a:pt x="267" y="352"/>
                  </a:cubicBezTo>
                  <a:cubicBezTo>
                    <a:pt x="269" y="357"/>
                    <a:pt x="274" y="360"/>
                    <a:pt x="279" y="360"/>
                  </a:cubicBezTo>
                  <a:cubicBezTo>
                    <a:pt x="280" y="360"/>
                    <a:pt x="281" y="360"/>
                    <a:pt x="283" y="360"/>
                  </a:cubicBezTo>
                  <a:cubicBezTo>
                    <a:pt x="297" y="356"/>
                    <a:pt x="297" y="356"/>
                    <a:pt x="297" y="356"/>
                  </a:cubicBezTo>
                  <a:cubicBezTo>
                    <a:pt x="303" y="354"/>
                    <a:pt x="307" y="348"/>
                    <a:pt x="307" y="342"/>
                  </a:cubicBezTo>
                  <a:cubicBezTo>
                    <a:pt x="305" y="326"/>
                    <a:pt x="305" y="326"/>
                    <a:pt x="305" y="326"/>
                  </a:cubicBezTo>
                  <a:cubicBezTo>
                    <a:pt x="313" y="321"/>
                    <a:pt x="321" y="313"/>
                    <a:pt x="326" y="305"/>
                  </a:cubicBezTo>
                  <a:cubicBezTo>
                    <a:pt x="342" y="307"/>
                    <a:pt x="342" y="307"/>
                    <a:pt x="342" y="307"/>
                  </a:cubicBezTo>
                  <a:cubicBezTo>
                    <a:pt x="342" y="307"/>
                    <a:pt x="343" y="307"/>
                    <a:pt x="343" y="307"/>
                  </a:cubicBezTo>
                  <a:cubicBezTo>
                    <a:pt x="349" y="307"/>
                    <a:pt x="354" y="303"/>
                    <a:pt x="356" y="297"/>
                  </a:cubicBezTo>
                  <a:cubicBezTo>
                    <a:pt x="360" y="282"/>
                    <a:pt x="360" y="282"/>
                    <a:pt x="360" y="282"/>
                  </a:cubicBezTo>
                  <a:cubicBezTo>
                    <a:pt x="361" y="276"/>
                    <a:pt x="358" y="270"/>
                    <a:pt x="352" y="267"/>
                  </a:cubicBezTo>
                  <a:cubicBezTo>
                    <a:pt x="338" y="260"/>
                    <a:pt x="338" y="260"/>
                    <a:pt x="338" y="260"/>
                  </a:cubicBezTo>
                  <a:cubicBezTo>
                    <a:pt x="338" y="250"/>
                    <a:pt x="335" y="241"/>
                    <a:pt x="330" y="232"/>
                  </a:cubicBezTo>
                  <a:cubicBezTo>
                    <a:pt x="340" y="219"/>
                    <a:pt x="340" y="219"/>
                    <a:pt x="340" y="219"/>
                  </a:cubicBezTo>
                  <a:cubicBezTo>
                    <a:pt x="343" y="213"/>
                    <a:pt x="343" y="206"/>
                    <a:pt x="338" y="202"/>
                  </a:cubicBezTo>
                  <a:cubicBezTo>
                    <a:pt x="328" y="191"/>
                    <a:pt x="328" y="191"/>
                    <a:pt x="328" y="191"/>
                  </a:cubicBezTo>
                  <a:cubicBezTo>
                    <a:pt x="325" y="189"/>
                    <a:pt x="322" y="187"/>
                    <a:pt x="318" y="187"/>
                  </a:cubicBezTo>
                  <a:cubicBezTo>
                    <a:pt x="316" y="187"/>
                    <a:pt x="313" y="188"/>
                    <a:pt x="311" y="190"/>
                  </a:cubicBezTo>
                  <a:cubicBezTo>
                    <a:pt x="298" y="199"/>
                    <a:pt x="298" y="199"/>
                    <a:pt x="298" y="199"/>
                  </a:cubicBezTo>
                  <a:cubicBezTo>
                    <a:pt x="289" y="194"/>
                    <a:pt x="279" y="192"/>
                    <a:pt x="269" y="191"/>
                  </a:cubicBezTo>
                  <a:cubicBezTo>
                    <a:pt x="262" y="177"/>
                    <a:pt x="262" y="177"/>
                    <a:pt x="262" y="177"/>
                  </a:cubicBezTo>
                  <a:cubicBezTo>
                    <a:pt x="260" y="172"/>
                    <a:pt x="255" y="169"/>
                    <a:pt x="250" y="169"/>
                  </a:cubicBezTo>
                  <a:close/>
                  <a:moveTo>
                    <a:pt x="265" y="289"/>
                  </a:moveTo>
                  <a:cubicBezTo>
                    <a:pt x="259" y="289"/>
                    <a:pt x="252" y="287"/>
                    <a:pt x="248" y="282"/>
                  </a:cubicBezTo>
                  <a:cubicBezTo>
                    <a:pt x="248" y="282"/>
                    <a:pt x="247" y="282"/>
                    <a:pt x="247" y="282"/>
                  </a:cubicBezTo>
                  <a:cubicBezTo>
                    <a:pt x="238" y="272"/>
                    <a:pt x="238" y="257"/>
                    <a:pt x="248" y="248"/>
                  </a:cubicBezTo>
                  <a:cubicBezTo>
                    <a:pt x="252" y="243"/>
                    <a:pt x="259" y="241"/>
                    <a:pt x="265" y="241"/>
                  </a:cubicBezTo>
                  <a:cubicBezTo>
                    <a:pt x="271" y="241"/>
                    <a:pt x="277" y="243"/>
                    <a:pt x="282" y="248"/>
                  </a:cubicBezTo>
                  <a:cubicBezTo>
                    <a:pt x="291" y="257"/>
                    <a:pt x="291" y="273"/>
                    <a:pt x="282" y="282"/>
                  </a:cubicBezTo>
                  <a:cubicBezTo>
                    <a:pt x="277" y="287"/>
                    <a:pt x="271" y="289"/>
                    <a:pt x="265" y="28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87741E1-1A69-CD81-44D3-220861495EC9}"/>
              </a:ext>
            </a:extLst>
          </p:cNvPr>
          <p:cNvGrpSpPr>
            <a:grpSpLocks noChangeAspect="1"/>
          </p:cNvGrpSpPr>
          <p:nvPr/>
        </p:nvGrpSpPr>
        <p:grpSpPr>
          <a:xfrm>
            <a:off x="703589" y="3714406"/>
            <a:ext cx="789597" cy="789597"/>
            <a:chOff x="4172868" y="2949635"/>
            <a:chExt cx="1093745" cy="109374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492E01F-8512-7164-B3A4-7D83DCC3B3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72868" y="2949635"/>
              <a:ext cx="1093745" cy="109374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 15">
              <a:extLst>
                <a:ext uri="{FF2B5EF4-FFF2-40B4-BE49-F238E27FC236}">
                  <a16:creationId xmlns:a16="http://schemas.microsoft.com/office/drawing/2014/main" id="{F143B010-BCD5-EB44-A879-50A9424A472B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446470" y="3136053"/>
              <a:ext cx="401315" cy="574502"/>
            </a:xfrm>
            <a:custGeom>
              <a:avLst/>
              <a:gdLst>
                <a:gd name="T0" fmla="*/ 168 w 252"/>
                <a:gd name="T1" fmla="*/ 133 h 361"/>
                <a:gd name="T2" fmla="*/ 80 w 252"/>
                <a:gd name="T3" fmla="*/ 134 h 361"/>
                <a:gd name="T4" fmla="*/ 126 w 252"/>
                <a:gd name="T5" fmla="*/ 361 h 361"/>
                <a:gd name="T6" fmla="*/ 172 w 252"/>
                <a:gd name="T7" fmla="*/ 134 h 361"/>
                <a:gd name="T8" fmla="*/ 12 w 252"/>
                <a:gd name="T9" fmla="*/ 265 h 361"/>
                <a:gd name="T10" fmla="*/ 166 w 252"/>
                <a:gd name="T11" fmla="*/ 145 h 361"/>
                <a:gd name="T12" fmla="*/ 126 w 252"/>
                <a:gd name="T13" fmla="*/ 349 h 361"/>
                <a:gd name="T14" fmla="*/ 78 w 252"/>
                <a:gd name="T15" fmla="*/ 115 h 361"/>
                <a:gd name="T16" fmla="*/ 168 w 252"/>
                <a:gd name="T17" fmla="*/ 121 h 361"/>
                <a:gd name="T18" fmla="*/ 168 w 252"/>
                <a:gd name="T19" fmla="*/ 109 h 361"/>
                <a:gd name="T20" fmla="*/ 84 w 252"/>
                <a:gd name="T21" fmla="*/ 91 h 361"/>
                <a:gd name="T22" fmla="*/ 162 w 252"/>
                <a:gd name="T23" fmla="*/ 97 h 361"/>
                <a:gd name="T24" fmla="*/ 197 w 252"/>
                <a:gd name="T25" fmla="*/ 28 h 361"/>
                <a:gd name="T26" fmla="*/ 190 w 252"/>
                <a:gd name="T27" fmla="*/ 19 h 361"/>
                <a:gd name="T28" fmla="*/ 131 w 252"/>
                <a:gd name="T29" fmla="*/ 4 h 361"/>
                <a:gd name="T30" fmla="*/ 105 w 252"/>
                <a:gd name="T31" fmla="*/ 35 h 361"/>
                <a:gd name="T32" fmla="*/ 55 w 252"/>
                <a:gd name="T33" fmla="*/ 21 h 361"/>
                <a:gd name="T34" fmla="*/ 84 w 252"/>
                <a:gd name="T35" fmla="*/ 91 h 361"/>
                <a:gd name="T36" fmla="*/ 113 w 252"/>
                <a:gd name="T37" fmla="*/ 45 h 361"/>
                <a:gd name="T38" fmla="*/ 139 w 252"/>
                <a:gd name="T39" fmla="*/ 45 h 361"/>
                <a:gd name="T40" fmla="*/ 176 w 252"/>
                <a:gd name="T41" fmla="*/ 37 h 361"/>
                <a:gd name="T42" fmla="*/ 96 w 252"/>
                <a:gd name="T43" fmla="*/ 85 h 361"/>
                <a:gd name="T44" fmla="*/ 106 w 252"/>
                <a:gd name="T45" fmla="*/ 48 h 361"/>
                <a:gd name="T46" fmla="*/ 144 w 252"/>
                <a:gd name="T47" fmla="*/ 229 h 361"/>
                <a:gd name="T48" fmla="*/ 156 w 252"/>
                <a:gd name="T49" fmla="*/ 229 h 361"/>
                <a:gd name="T50" fmla="*/ 132 w 252"/>
                <a:gd name="T51" fmla="*/ 193 h 361"/>
                <a:gd name="T52" fmla="*/ 120 w 252"/>
                <a:gd name="T53" fmla="*/ 193 h 361"/>
                <a:gd name="T54" fmla="*/ 96 w 252"/>
                <a:gd name="T55" fmla="*/ 229 h 361"/>
                <a:gd name="T56" fmla="*/ 144 w 252"/>
                <a:gd name="T57" fmla="*/ 277 h 361"/>
                <a:gd name="T58" fmla="*/ 108 w 252"/>
                <a:gd name="T59" fmla="*/ 277 h 361"/>
                <a:gd name="T60" fmla="*/ 96 w 252"/>
                <a:gd name="T61" fmla="*/ 277 h 361"/>
                <a:gd name="T62" fmla="*/ 120 w 252"/>
                <a:gd name="T63" fmla="*/ 313 h 361"/>
                <a:gd name="T64" fmla="*/ 132 w 252"/>
                <a:gd name="T65" fmla="*/ 313 h 361"/>
                <a:gd name="T66" fmla="*/ 156 w 252"/>
                <a:gd name="T67" fmla="*/ 277 h 361"/>
                <a:gd name="T68" fmla="*/ 108 w 252"/>
                <a:gd name="T69" fmla="*/ 229 h 3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2" h="361">
                  <a:moveTo>
                    <a:pt x="172" y="134"/>
                  </a:moveTo>
                  <a:cubicBezTo>
                    <a:pt x="171" y="133"/>
                    <a:pt x="169" y="133"/>
                    <a:pt x="168" y="133"/>
                  </a:cubicBezTo>
                  <a:cubicBezTo>
                    <a:pt x="84" y="133"/>
                    <a:pt x="84" y="133"/>
                    <a:pt x="84" y="133"/>
                  </a:cubicBezTo>
                  <a:cubicBezTo>
                    <a:pt x="83" y="133"/>
                    <a:pt x="81" y="133"/>
                    <a:pt x="80" y="134"/>
                  </a:cubicBezTo>
                  <a:cubicBezTo>
                    <a:pt x="48" y="157"/>
                    <a:pt x="0" y="221"/>
                    <a:pt x="0" y="265"/>
                  </a:cubicBezTo>
                  <a:cubicBezTo>
                    <a:pt x="0" y="301"/>
                    <a:pt x="16" y="361"/>
                    <a:pt x="126" y="361"/>
                  </a:cubicBezTo>
                  <a:cubicBezTo>
                    <a:pt x="236" y="361"/>
                    <a:pt x="252" y="301"/>
                    <a:pt x="252" y="265"/>
                  </a:cubicBezTo>
                  <a:cubicBezTo>
                    <a:pt x="252" y="221"/>
                    <a:pt x="204" y="157"/>
                    <a:pt x="172" y="134"/>
                  </a:cubicBezTo>
                  <a:close/>
                  <a:moveTo>
                    <a:pt x="126" y="349"/>
                  </a:moveTo>
                  <a:cubicBezTo>
                    <a:pt x="51" y="349"/>
                    <a:pt x="12" y="320"/>
                    <a:pt x="12" y="265"/>
                  </a:cubicBezTo>
                  <a:cubicBezTo>
                    <a:pt x="12" y="229"/>
                    <a:pt x="52" y="170"/>
                    <a:pt x="86" y="145"/>
                  </a:cubicBezTo>
                  <a:cubicBezTo>
                    <a:pt x="166" y="145"/>
                    <a:pt x="166" y="145"/>
                    <a:pt x="166" y="145"/>
                  </a:cubicBezTo>
                  <a:cubicBezTo>
                    <a:pt x="200" y="170"/>
                    <a:pt x="240" y="229"/>
                    <a:pt x="240" y="265"/>
                  </a:cubicBezTo>
                  <a:cubicBezTo>
                    <a:pt x="240" y="320"/>
                    <a:pt x="201" y="349"/>
                    <a:pt x="126" y="349"/>
                  </a:cubicBezTo>
                  <a:close/>
                  <a:moveTo>
                    <a:pt x="84" y="109"/>
                  </a:moveTo>
                  <a:cubicBezTo>
                    <a:pt x="81" y="109"/>
                    <a:pt x="78" y="111"/>
                    <a:pt x="78" y="115"/>
                  </a:cubicBezTo>
                  <a:cubicBezTo>
                    <a:pt x="78" y="118"/>
                    <a:pt x="81" y="121"/>
                    <a:pt x="84" y="121"/>
                  </a:cubicBezTo>
                  <a:cubicBezTo>
                    <a:pt x="168" y="121"/>
                    <a:pt x="168" y="121"/>
                    <a:pt x="168" y="121"/>
                  </a:cubicBezTo>
                  <a:cubicBezTo>
                    <a:pt x="171" y="121"/>
                    <a:pt x="174" y="118"/>
                    <a:pt x="174" y="115"/>
                  </a:cubicBezTo>
                  <a:cubicBezTo>
                    <a:pt x="174" y="111"/>
                    <a:pt x="171" y="109"/>
                    <a:pt x="168" y="109"/>
                  </a:cubicBezTo>
                  <a:lnTo>
                    <a:pt x="84" y="109"/>
                  </a:lnTo>
                  <a:close/>
                  <a:moveTo>
                    <a:pt x="84" y="91"/>
                  </a:moveTo>
                  <a:cubicBezTo>
                    <a:pt x="84" y="94"/>
                    <a:pt x="87" y="97"/>
                    <a:pt x="90" y="97"/>
                  </a:cubicBezTo>
                  <a:cubicBezTo>
                    <a:pt x="162" y="97"/>
                    <a:pt x="162" y="97"/>
                    <a:pt x="162" y="97"/>
                  </a:cubicBezTo>
                  <a:cubicBezTo>
                    <a:pt x="165" y="97"/>
                    <a:pt x="168" y="94"/>
                    <a:pt x="168" y="91"/>
                  </a:cubicBezTo>
                  <a:cubicBezTo>
                    <a:pt x="168" y="63"/>
                    <a:pt x="196" y="29"/>
                    <a:pt x="197" y="28"/>
                  </a:cubicBezTo>
                  <a:cubicBezTo>
                    <a:pt x="198" y="26"/>
                    <a:pt x="199" y="23"/>
                    <a:pt x="197" y="21"/>
                  </a:cubicBezTo>
                  <a:cubicBezTo>
                    <a:pt x="195" y="19"/>
                    <a:pt x="193" y="18"/>
                    <a:pt x="190" y="19"/>
                  </a:cubicBezTo>
                  <a:cubicBezTo>
                    <a:pt x="147" y="35"/>
                    <a:pt x="147" y="35"/>
                    <a:pt x="147" y="35"/>
                  </a:cubicBezTo>
                  <a:cubicBezTo>
                    <a:pt x="131" y="4"/>
                    <a:pt x="131" y="4"/>
                    <a:pt x="131" y="4"/>
                  </a:cubicBezTo>
                  <a:cubicBezTo>
                    <a:pt x="129" y="0"/>
                    <a:pt x="123" y="0"/>
                    <a:pt x="121" y="4"/>
                  </a:cubicBezTo>
                  <a:cubicBezTo>
                    <a:pt x="105" y="35"/>
                    <a:pt x="105" y="35"/>
                    <a:pt x="105" y="35"/>
                  </a:cubicBezTo>
                  <a:cubicBezTo>
                    <a:pt x="62" y="19"/>
                    <a:pt x="62" y="19"/>
                    <a:pt x="62" y="19"/>
                  </a:cubicBezTo>
                  <a:cubicBezTo>
                    <a:pt x="60" y="18"/>
                    <a:pt x="57" y="19"/>
                    <a:pt x="55" y="21"/>
                  </a:cubicBezTo>
                  <a:cubicBezTo>
                    <a:pt x="53" y="23"/>
                    <a:pt x="54" y="26"/>
                    <a:pt x="55" y="28"/>
                  </a:cubicBezTo>
                  <a:cubicBezTo>
                    <a:pt x="56" y="29"/>
                    <a:pt x="84" y="63"/>
                    <a:pt x="84" y="91"/>
                  </a:cubicBezTo>
                  <a:close/>
                  <a:moveTo>
                    <a:pt x="106" y="48"/>
                  </a:moveTo>
                  <a:cubicBezTo>
                    <a:pt x="109" y="49"/>
                    <a:pt x="112" y="48"/>
                    <a:pt x="113" y="45"/>
                  </a:cubicBezTo>
                  <a:cubicBezTo>
                    <a:pt x="126" y="20"/>
                    <a:pt x="126" y="20"/>
                    <a:pt x="126" y="20"/>
                  </a:cubicBezTo>
                  <a:cubicBezTo>
                    <a:pt x="139" y="45"/>
                    <a:pt x="139" y="45"/>
                    <a:pt x="139" y="45"/>
                  </a:cubicBezTo>
                  <a:cubicBezTo>
                    <a:pt x="140" y="48"/>
                    <a:pt x="143" y="49"/>
                    <a:pt x="146" y="48"/>
                  </a:cubicBezTo>
                  <a:cubicBezTo>
                    <a:pt x="176" y="37"/>
                    <a:pt x="176" y="37"/>
                    <a:pt x="176" y="37"/>
                  </a:cubicBezTo>
                  <a:cubicBezTo>
                    <a:pt x="168" y="50"/>
                    <a:pt x="158" y="67"/>
                    <a:pt x="156" y="85"/>
                  </a:cubicBezTo>
                  <a:cubicBezTo>
                    <a:pt x="96" y="85"/>
                    <a:pt x="96" y="85"/>
                    <a:pt x="96" y="85"/>
                  </a:cubicBezTo>
                  <a:cubicBezTo>
                    <a:pt x="94" y="67"/>
                    <a:pt x="84" y="50"/>
                    <a:pt x="76" y="37"/>
                  </a:cubicBezTo>
                  <a:lnTo>
                    <a:pt x="106" y="48"/>
                  </a:lnTo>
                  <a:close/>
                  <a:moveTo>
                    <a:pt x="126" y="211"/>
                  </a:moveTo>
                  <a:cubicBezTo>
                    <a:pt x="136" y="211"/>
                    <a:pt x="144" y="219"/>
                    <a:pt x="144" y="229"/>
                  </a:cubicBezTo>
                  <a:cubicBezTo>
                    <a:pt x="144" y="232"/>
                    <a:pt x="147" y="235"/>
                    <a:pt x="150" y="235"/>
                  </a:cubicBezTo>
                  <a:cubicBezTo>
                    <a:pt x="153" y="235"/>
                    <a:pt x="156" y="232"/>
                    <a:pt x="156" y="229"/>
                  </a:cubicBezTo>
                  <a:cubicBezTo>
                    <a:pt x="156" y="214"/>
                    <a:pt x="146" y="202"/>
                    <a:pt x="132" y="199"/>
                  </a:cubicBezTo>
                  <a:cubicBezTo>
                    <a:pt x="132" y="193"/>
                    <a:pt x="132" y="193"/>
                    <a:pt x="132" y="193"/>
                  </a:cubicBezTo>
                  <a:cubicBezTo>
                    <a:pt x="132" y="189"/>
                    <a:pt x="129" y="187"/>
                    <a:pt x="126" y="187"/>
                  </a:cubicBezTo>
                  <a:cubicBezTo>
                    <a:pt x="123" y="187"/>
                    <a:pt x="120" y="189"/>
                    <a:pt x="120" y="193"/>
                  </a:cubicBezTo>
                  <a:cubicBezTo>
                    <a:pt x="120" y="199"/>
                    <a:pt x="120" y="199"/>
                    <a:pt x="120" y="199"/>
                  </a:cubicBezTo>
                  <a:cubicBezTo>
                    <a:pt x="106" y="202"/>
                    <a:pt x="96" y="214"/>
                    <a:pt x="96" y="229"/>
                  </a:cubicBezTo>
                  <a:cubicBezTo>
                    <a:pt x="96" y="245"/>
                    <a:pt x="109" y="259"/>
                    <a:pt x="126" y="259"/>
                  </a:cubicBezTo>
                  <a:cubicBezTo>
                    <a:pt x="136" y="259"/>
                    <a:pt x="144" y="267"/>
                    <a:pt x="144" y="277"/>
                  </a:cubicBezTo>
                  <a:cubicBezTo>
                    <a:pt x="144" y="287"/>
                    <a:pt x="136" y="295"/>
                    <a:pt x="126" y="295"/>
                  </a:cubicBezTo>
                  <a:cubicBezTo>
                    <a:pt x="116" y="295"/>
                    <a:pt x="108" y="287"/>
                    <a:pt x="108" y="277"/>
                  </a:cubicBezTo>
                  <a:cubicBezTo>
                    <a:pt x="108" y="273"/>
                    <a:pt x="105" y="271"/>
                    <a:pt x="102" y="271"/>
                  </a:cubicBezTo>
                  <a:cubicBezTo>
                    <a:pt x="99" y="271"/>
                    <a:pt x="96" y="273"/>
                    <a:pt x="96" y="277"/>
                  </a:cubicBezTo>
                  <a:cubicBezTo>
                    <a:pt x="96" y="291"/>
                    <a:pt x="106" y="303"/>
                    <a:pt x="120" y="306"/>
                  </a:cubicBezTo>
                  <a:cubicBezTo>
                    <a:pt x="120" y="313"/>
                    <a:pt x="120" y="313"/>
                    <a:pt x="120" y="313"/>
                  </a:cubicBezTo>
                  <a:cubicBezTo>
                    <a:pt x="120" y="316"/>
                    <a:pt x="123" y="319"/>
                    <a:pt x="126" y="319"/>
                  </a:cubicBezTo>
                  <a:cubicBezTo>
                    <a:pt x="129" y="319"/>
                    <a:pt x="132" y="316"/>
                    <a:pt x="132" y="313"/>
                  </a:cubicBezTo>
                  <a:cubicBezTo>
                    <a:pt x="132" y="306"/>
                    <a:pt x="132" y="306"/>
                    <a:pt x="132" y="306"/>
                  </a:cubicBezTo>
                  <a:cubicBezTo>
                    <a:pt x="146" y="303"/>
                    <a:pt x="156" y="291"/>
                    <a:pt x="156" y="277"/>
                  </a:cubicBezTo>
                  <a:cubicBezTo>
                    <a:pt x="156" y="260"/>
                    <a:pt x="143" y="247"/>
                    <a:pt x="126" y="247"/>
                  </a:cubicBezTo>
                  <a:cubicBezTo>
                    <a:pt x="116" y="247"/>
                    <a:pt x="108" y="239"/>
                    <a:pt x="108" y="229"/>
                  </a:cubicBezTo>
                  <a:cubicBezTo>
                    <a:pt x="108" y="219"/>
                    <a:pt x="116" y="211"/>
                    <a:pt x="126" y="21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dirty="0">
                <a:solidFill>
                  <a:srgbClr val="226092"/>
                </a:solidFill>
              </a:rPr>
              <a:t>Next Steps</a:t>
            </a:r>
            <a:endParaRPr spc="-10" dirty="0">
              <a:solidFill>
                <a:srgbClr val="226092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E30B3EB-8AE0-E6CB-1537-BF7ED1C309B1}"/>
              </a:ext>
            </a:extLst>
          </p:cNvPr>
          <p:cNvSpPr txBox="1"/>
          <p:nvPr/>
        </p:nvSpPr>
        <p:spPr>
          <a:xfrm>
            <a:off x="918527" y="1600200"/>
            <a:ext cx="8915400" cy="162865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  <a:tabLst>
                <a:tab pos="299085" algn="l"/>
              </a:tabLst>
            </a:pPr>
            <a:r>
              <a:rPr lang="en-CA" sz="2000" spc="-20" dirty="0">
                <a:latin typeface="Helvetica" pitchFamily="2" charset="0"/>
                <a:cs typeface="Arial"/>
              </a:rPr>
              <a:t>Integrating postal code information from Statistics Canada to improve geographical insights.  </a:t>
            </a:r>
          </a:p>
          <a:p>
            <a:pPr marL="299085" indent="-286385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  <a:tabLst>
                <a:tab pos="299085" algn="l"/>
              </a:tabLst>
            </a:pPr>
            <a:endParaRPr lang="en-CA" sz="2000" spc="-20" dirty="0">
              <a:latin typeface="Helvetica" pitchFamily="2" charset="0"/>
              <a:cs typeface="Arial"/>
            </a:endParaRPr>
          </a:p>
          <a:p>
            <a:pPr marL="299085" indent="-286385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  <a:tabLst>
                <a:tab pos="299085" algn="l"/>
              </a:tabLst>
            </a:pPr>
            <a:r>
              <a:rPr lang="en-CA" sz="2000" spc="-20" dirty="0">
                <a:latin typeface="Helvetica" pitchFamily="2" charset="0"/>
                <a:cs typeface="Arial"/>
              </a:rPr>
              <a:t>Analysis of the current ticket pricing design</a:t>
            </a:r>
          </a:p>
          <a:p>
            <a:pPr marL="299085" indent="-286385">
              <a:lnSpc>
                <a:spcPct val="100000"/>
              </a:lnSpc>
              <a:spcBef>
                <a:spcPts val="200"/>
              </a:spcBef>
              <a:buFont typeface="Arial" panose="020B0604020202020204" pitchFamily="34" charset="0"/>
              <a:buChar char="•"/>
              <a:tabLst>
                <a:tab pos="299085" algn="l"/>
              </a:tabLst>
            </a:pPr>
            <a:endParaRPr sz="2000" dirty="0">
              <a:latin typeface="Helvetica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7995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5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156</TotalTime>
  <Words>283</Words>
  <Application>Microsoft Macintosh PowerPoint</Application>
  <PresentationFormat>Widescreen</PresentationFormat>
  <Paragraphs>49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Helvetica</vt:lpstr>
      <vt:lpstr>Office Theme</vt:lpstr>
      <vt:lpstr>PowerPoint Presentation</vt:lpstr>
      <vt:lpstr>Toronto Parking Tickets</vt:lpstr>
      <vt:lpstr>Time and Seasonality</vt:lpstr>
      <vt:lpstr>Time and Seasonality</vt:lpstr>
      <vt:lpstr>Infractions</vt:lpstr>
      <vt:lpstr>Location</vt:lpstr>
      <vt:lpstr>Location</vt:lpstr>
      <vt:lpstr>Ticket Amount Forecasting</vt:lpstr>
      <vt:lpstr>Recommendations</vt:lpstr>
      <vt:lpstr>Next Steps</vt:lpstr>
    </vt:vector>
  </TitlesOfParts>
  <Company>City of Toronto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Strategies and Practices II Design Course</dc:title>
  <dc:creator>Meghan Murray</dc:creator>
  <cp:lastModifiedBy>Edimaobong Udo</cp:lastModifiedBy>
  <cp:revision>4</cp:revision>
  <dcterms:created xsi:type="dcterms:W3CDTF">2025-12-18T18:57:31Z</dcterms:created>
  <dcterms:modified xsi:type="dcterms:W3CDTF">2025-12-20T00:41:42Z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2024-03-18T00:00:00Z</vt:filetime>
  </property>
  <property fmtid="{D5CDD505-2E9C-101B-9397-08002B2CF9AE}" pid="3" name="Creator">
    <vt:lpwstr>Acrobat PDFMaker 23 for PowerPoint</vt:lpwstr>
  </property>
  <property fmtid="{D5CDD505-2E9C-101B-9397-08002B2CF9AE}" pid="4" name="LastSaved">
    <vt:filetime>2025-12-18T00:00:00Z</vt:filetime>
  </property>
  <property fmtid="{D5CDD505-2E9C-101B-9397-08002B2CF9AE}" pid="5" name="Producer">
    <vt:lpwstr>Adobe PDF Library 23.8.53</vt:lpwstr>
  </property>
</Properties>
</file>