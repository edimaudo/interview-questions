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2" r:id="rId5"/>
    <p:sldId id="261" r:id="rId6"/>
    <p:sldId id="275" r:id="rId7"/>
    <p:sldId id="264" r:id="rId8"/>
    <p:sldId id="271" r:id="rId9"/>
    <p:sldId id="273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4"/>
  </p:normalViewPr>
  <p:slideViewPr>
    <p:cSldViewPr>
      <p:cViewPr varScale="1">
        <p:scale>
          <a:sx n="95" d="100"/>
          <a:sy n="95" d="100"/>
        </p:scale>
        <p:origin x="200" y="8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8527" y="631158"/>
            <a:ext cx="98310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60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60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58275" y="1413919"/>
            <a:ext cx="4972684" cy="4557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260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60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569720"/>
          </a:xfrm>
          <a:custGeom>
            <a:avLst/>
            <a:gdLst/>
            <a:ahLst/>
            <a:cxnLst/>
            <a:rect l="l" t="t" r="r" b="b"/>
            <a:pathLst>
              <a:path w="12192000" h="1569720">
                <a:moveTo>
                  <a:pt x="12192000" y="0"/>
                </a:moveTo>
                <a:lnTo>
                  <a:pt x="0" y="0"/>
                </a:lnTo>
                <a:lnTo>
                  <a:pt x="0" y="1569720"/>
                </a:lnTo>
                <a:lnTo>
                  <a:pt x="12192000" y="1569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569720"/>
          </a:xfrm>
          <a:custGeom>
            <a:avLst/>
            <a:gdLst/>
            <a:ahLst/>
            <a:cxnLst/>
            <a:rect l="l" t="t" r="r" b="b"/>
            <a:pathLst>
              <a:path w="12192000" h="1569720">
                <a:moveTo>
                  <a:pt x="0" y="0"/>
                </a:moveTo>
                <a:lnTo>
                  <a:pt x="12192000" y="0"/>
                </a:lnTo>
                <a:lnTo>
                  <a:pt x="12192000" y="1569720"/>
                </a:lnTo>
                <a:lnTo>
                  <a:pt x="0" y="156972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1476" y="353568"/>
            <a:ext cx="3430524" cy="136550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103" y="6271259"/>
            <a:ext cx="1107947" cy="33832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089903"/>
            <a:ext cx="12192000" cy="45720"/>
          </a:xfrm>
          <a:custGeom>
            <a:avLst/>
            <a:gdLst/>
            <a:ahLst/>
            <a:cxnLst/>
            <a:rect l="l" t="t" r="r" b="b"/>
            <a:pathLst>
              <a:path w="12192000" h="45720">
                <a:moveTo>
                  <a:pt x="12192000" y="0"/>
                </a:moveTo>
                <a:lnTo>
                  <a:pt x="0" y="0"/>
                </a:lnTo>
                <a:lnTo>
                  <a:pt x="0" y="45720"/>
                </a:lnTo>
                <a:lnTo>
                  <a:pt x="12192000" y="457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6083553"/>
            <a:ext cx="12192000" cy="59055"/>
          </a:xfrm>
          <a:custGeom>
            <a:avLst/>
            <a:gdLst/>
            <a:ahLst/>
            <a:cxnLst/>
            <a:rect l="l" t="t" r="r" b="b"/>
            <a:pathLst>
              <a:path w="12192000" h="59054">
                <a:moveTo>
                  <a:pt x="12192000" y="45732"/>
                </a:moveTo>
                <a:lnTo>
                  <a:pt x="0" y="45732"/>
                </a:lnTo>
                <a:lnTo>
                  <a:pt x="0" y="58432"/>
                </a:lnTo>
                <a:lnTo>
                  <a:pt x="12192000" y="58432"/>
                </a:lnTo>
                <a:lnTo>
                  <a:pt x="12192000" y="45732"/>
                </a:lnTo>
                <a:close/>
              </a:path>
              <a:path w="12192000" h="59054">
                <a:moveTo>
                  <a:pt x="12192000" y="0"/>
                </a:moveTo>
                <a:lnTo>
                  <a:pt x="0" y="0"/>
                </a:lnTo>
                <a:lnTo>
                  <a:pt x="0" y="12700"/>
                </a:lnTo>
                <a:lnTo>
                  <a:pt x="12192000" y="127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60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260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93191" y="431291"/>
            <a:ext cx="45720" cy="1191895"/>
          </a:xfrm>
          <a:custGeom>
            <a:avLst/>
            <a:gdLst/>
            <a:ahLst/>
            <a:cxnLst/>
            <a:rect l="l" t="t" r="r" b="b"/>
            <a:pathLst>
              <a:path w="45720" h="1191895">
                <a:moveTo>
                  <a:pt x="45720" y="0"/>
                </a:moveTo>
                <a:lnTo>
                  <a:pt x="0" y="0"/>
                </a:lnTo>
                <a:lnTo>
                  <a:pt x="0" y="1191767"/>
                </a:lnTo>
                <a:lnTo>
                  <a:pt x="45720" y="1191767"/>
                </a:lnTo>
                <a:lnTo>
                  <a:pt x="45720" y="0"/>
                </a:lnTo>
                <a:close/>
              </a:path>
            </a:pathLst>
          </a:custGeom>
          <a:solidFill>
            <a:srgbClr val="22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93191" y="431291"/>
            <a:ext cx="45720" cy="1191895"/>
          </a:xfrm>
          <a:custGeom>
            <a:avLst/>
            <a:gdLst/>
            <a:ahLst/>
            <a:cxnLst/>
            <a:rect l="l" t="t" r="r" b="b"/>
            <a:pathLst>
              <a:path w="45720" h="1191895">
                <a:moveTo>
                  <a:pt x="0" y="0"/>
                </a:moveTo>
                <a:lnTo>
                  <a:pt x="45720" y="0"/>
                </a:lnTo>
                <a:lnTo>
                  <a:pt x="45720" y="1191767"/>
                </a:lnTo>
                <a:lnTo>
                  <a:pt x="0" y="119176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2260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2103" y="6323076"/>
            <a:ext cx="1107947" cy="3398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8527" y="598886"/>
            <a:ext cx="981011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7738" y="2625255"/>
            <a:ext cx="5860415" cy="2360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288" y="6463728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26092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ronto.ca/services-payments/water-environment/environmentally-friendly-city-initiatives/transformto/torontos-greenhouse-gas-inventory/#%3A%7E%3Atext%3D2020%20Key%20Findings%3A%2Cemitted%2016%20MT%20CO2e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ronto.ca/services-payments/water-environment/environmentally-friendly-city-initiatives/transformto/torontos-greenhouse-gas-inventory/#%3A%7E%3Atext%3D2020%20Key%20Findings%3A%2Cemitted%2016%20MT%20CO2e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642100"/>
          </a:xfrm>
          <a:custGeom>
            <a:avLst/>
            <a:gdLst/>
            <a:ahLst/>
            <a:cxnLst/>
            <a:rect l="l" t="t" r="r" b="b"/>
            <a:pathLst>
              <a:path w="12192000" h="6642100">
                <a:moveTo>
                  <a:pt x="12192000" y="0"/>
                </a:moveTo>
                <a:lnTo>
                  <a:pt x="0" y="0"/>
                </a:lnTo>
                <a:lnTo>
                  <a:pt x="0" y="6641592"/>
                </a:lnTo>
                <a:lnTo>
                  <a:pt x="12192000" y="6641592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12204700" cy="6859905"/>
            <a:chOff x="-6350" y="-6350"/>
            <a:chExt cx="12204700" cy="685990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6642100"/>
            </a:xfrm>
            <a:custGeom>
              <a:avLst/>
              <a:gdLst/>
              <a:ahLst/>
              <a:cxnLst/>
              <a:rect l="l" t="t" r="r" b="b"/>
              <a:pathLst>
                <a:path w="12192000" h="6642100">
                  <a:moveTo>
                    <a:pt x="0" y="0"/>
                  </a:moveTo>
                  <a:lnTo>
                    <a:pt x="12192000" y="0"/>
                  </a:lnTo>
                  <a:lnTo>
                    <a:pt x="12192000" y="6641592"/>
                  </a:lnTo>
                  <a:lnTo>
                    <a:pt x="0" y="664159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97140" y="5024628"/>
              <a:ext cx="4594859" cy="18287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1" y="5817108"/>
              <a:ext cx="1476755" cy="47243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/>
          <p:nvPr/>
        </p:nvSpPr>
        <p:spPr>
          <a:xfrm>
            <a:off x="2859182" y="1692846"/>
            <a:ext cx="6472555" cy="176276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30504" marR="5080" indent="-218440">
              <a:lnSpc>
                <a:spcPts val="6480"/>
              </a:lnSpc>
              <a:spcBef>
                <a:spcPts val="915"/>
              </a:spcBef>
              <a:tabLst>
                <a:tab pos="2805430" algn="l"/>
              </a:tabLst>
            </a:pPr>
            <a:r>
              <a:rPr sz="6000" b="1" spc="-10" dirty="0">
                <a:solidFill>
                  <a:srgbClr val="FFFFFF"/>
                </a:solidFill>
                <a:latin typeface="Arial"/>
                <a:cs typeface="Arial"/>
              </a:rPr>
              <a:t>Energy</a:t>
            </a:r>
            <a:r>
              <a:rPr sz="6000" b="1" dirty="0">
                <a:solidFill>
                  <a:srgbClr val="FFFFFF"/>
                </a:solidFill>
                <a:latin typeface="Arial"/>
                <a:cs typeface="Arial"/>
              </a:rPr>
              <a:t>	and</a:t>
            </a:r>
            <a:r>
              <a:rPr sz="6000" b="1" spc="-50" dirty="0">
                <a:solidFill>
                  <a:srgbClr val="FFFFFF"/>
                </a:solidFill>
                <a:latin typeface="Arial"/>
                <a:cs typeface="Arial"/>
              </a:rPr>
              <a:t> Water </a:t>
            </a:r>
            <a:r>
              <a:rPr sz="6000" b="1" dirty="0">
                <a:solidFill>
                  <a:srgbClr val="FFFFFF"/>
                </a:solidFill>
                <a:latin typeface="Arial"/>
                <a:cs typeface="Arial"/>
              </a:rPr>
              <a:t>Reporting</a:t>
            </a:r>
            <a:r>
              <a:rPr sz="600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0" b="1" spc="-10" dirty="0">
                <a:solidFill>
                  <a:srgbClr val="FFFFFF"/>
                </a:solidFill>
                <a:latin typeface="Arial"/>
                <a:cs typeface="Arial"/>
              </a:rPr>
              <a:t>Bylaw</a:t>
            </a:r>
            <a:endParaRPr sz="6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4664" y="4051932"/>
            <a:ext cx="1981200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93040">
              <a:lnSpc>
                <a:spcPct val="1315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BBP</a:t>
            </a:r>
            <a:r>
              <a:rPr sz="20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Webinar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March</a:t>
            </a:r>
            <a:r>
              <a:rPr sz="20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r>
              <a:rPr sz="1950" baseline="25641" dirty="0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0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0589" y="3445223"/>
            <a:ext cx="97047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226092"/>
                </a:solidFill>
              </a:rPr>
              <a:t>Background:</a:t>
            </a:r>
            <a:r>
              <a:rPr sz="6000" spc="-195" dirty="0">
                <a:solidFill>
                  <a:srgbClr val="226092"/>
                </a:solidFill>
              </a:rPr>
              <a:t> </a:t>
            </a:r>
            <a:r>
              <a:rPr sz="6000" spc="-25" dirty="0">
                <a:solidFill>
                  <a:srgbClr val="226092"/>
                </a:solidFill>
              </a:rPr>
              <a:t>TransformTO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5"/>
              </a:spcBef>
            </a:pPr>
            <a:r>
              <a:rPr spc="-30" dirty="0">
                <a:solidFill>
                  <a:srgbClr val="226092"/>
                </a:solidFill>
              </a:rPr>
              <a:t>TransformTO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39621" y="1725548"/>
            <a:ext cx="8829675" cy="4404995"/>
            <a:chOff x="1539621" y="1725548"/>
            <a:chExt cx="8829675" cy="4404995"/>
          </a:xfrm>
        </p:grpSpPr>
        <p:sp>
          <p:nvSpPr>
            <p:cNvPr id="4" name="object 4"/>
            <p:cNvSpPr/>
            <p:nvPr/>
          </p:nvSpPr>
          <p:spPr>
            <a:xfrm>
              <a:off x="1549146" y="1735073"/>
              <a:ext cx="8810625" cy="2139950"/>
            </a:xfrm>
            <a:custGeom>
              <a:avLst/>
              <a:gdLst/>
              <a:ahLst/>
              <a:cxnLst/>
              <a:rect l="l" t="t" r="r" b="b"/>
              <a:pathLst>
                <a:path w="8810625" h="2139950">
                  <a:moveTo>
                    <a:pt x="0" y="0"/>
                  </a:moveTo>
                  <a:lnTo>
                    <a:pt x="8810244" y="0"/>
                  </a:lnTo>
                  <a:lnTo>
                    <a:pt x="8810244" y="2139696"/>
                  </a:lnTo>
                  <a:lnTo>
                    <a:pt x="0" y="213969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2B6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Graphical representation of the City of Toronto skyline with a cyclist and a TTC street car visible in the foreground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7924" y="3549395"/>
              <a:ext cx="8675605" cy="258089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91947" y="1876624"/>
            <a:ext cx="8366759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TransformTO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Toronto’s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strategy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reduce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local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greenhouse </a:t>
            </a:r>
            <a:r>
              <a:rPr sz="2400" dirty="0">
                <a:latin typeface="Arial"/>
                <a:cs typeface="Arial"/>
              </a:rPr>
              <a:t>gas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emissions,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improve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health,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grow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economy, </a:t>
            </a:r>
            <a:r>
              <a:rPr sz="2400" dirty="0">
                <a:latin typeface="Arial"/>
                <a:cs typeface="Arial"/>
              </a:rPr>
              <a:t>improve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social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equity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&amp;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increase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climate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resilience.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Everyone </a:t>
            </a:r>
            <a:r>
              <a:rPr sz="2400" dirty="0">
                <a:latin typeface="Arial"/>
                <a:cs typeface="Arial"/>
              </a:rPr>
              <a:t>will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have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play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transforming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Toronto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low-</a:t>
            </a:r>
            <a:r>
              <a:rPr sz="2400" dirty="0">
                <a:latin typeface="Arial"/>
                <a:cs typeface="Arial"/>
              </a:rPr>
              <a:t>carbon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city.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46980" algn="l"/>
              </a:tabLst>
            </a:pPr>
            <a:r>
              <a:rPr dirty="0">
                <a:solidFill>
                  <a:srgbClr val="226092"/>
                </a:solidFill>
              </a:rPr>
              <a:t>GHG</a:t>
            </a:r>
            <a:r>
              <a:rPr spc="-80" dirty="0">
                <a:solidFill>
                  <a:srgbClr val="226092"/>
                </a:solidFill>
              </a:rPr>
              <a:t> </a:t>
            </a:r>
            <a:r>
              <a:rPr dirty="0">
                <a:solidFill>
                  <a:srgbClr val="226092"/>
                </a:solidFill>
              </a:rPr>
              <a:t>Emissions</a:t>
            </a:r>
            <a:r>
              <a:rPr spc="-65" dirty="0">
                <a:solidFill>
                  <a:srgbClr val="226092"/>
                </a:solidFill>
              </a:rPr>
              <a:t> </a:t>
            </a:r>
            <a:r>
              <a:rPr spc="-25" dirty="0">
                <a:solidFill>
                  <a:srgbClr val="226092"/>
                </a:solidFill>
              </a:rPr>
              <a:t>in</a:t>
            </a:r>
            <a:r>
              <a:rPr dirty="0">
                <a:solidFill>
                  <a:srgbClr val="226092"/>
                </a:solidFill>
              </a:rPr>
              <a:t>	</a:t>
            </a:r>
            <a:r>
              <a:rPr spc="-10" dirty="0">
                <a:solidFill>
                  <a:srgbClr val="226092"/>
                </a:solidFill>
              </a:rPr>
              <a:t>Toronto</a:t>
            </a:r>
            <a:r>
              <a:rPr spc="-305" dirty="0">
                <a:solidFill>
                  <a:srgbClr val="226092"/>
                </a:solidFill>
              </a:rPr>
              <a:t> </a:t>
            </a:r>
            <a:r>
              <a:rPr spc="-10" dirty="0">
                <a:solidFill>
                  <a:srgbClr val="226092"/>
                </a:solidFill>
              </a:rPr>
              <a:t>Buildings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352" y="1614584"/>
            <a:ext cx="293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26092"/>
                </a:solidFill>
                <a:latin typeface="Arial"/>
                <a:cs typeface="Arial"/>
              </a:rPr>
              <a:t>2020</a:t>
            </a:r>
            <a:r>
              <a:rPr sz="2400" b="1" spc="-40" dirty="0">
                <a:solidFill>
                  <a:srgbClr val="226092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26092"/>
                </a:solidFill>
                <a:latin typeface="Arial"/>
                <a:cs typeface="Arial"/>
              </a:rPr>
              <a:t>GHG</a:t>
            </a:r>
            <a:r>
              <a:rPr sz="2400" b="1" spc="-60" dirty="0">
                <a:solidFill>
                  <a:srgbClr val="226092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26092"/>
                </a:solidFill>
                <a:latin typeface="Arial"/>
                <a:cs typeface="Arial"/>
              </a:rPr>
              <a:t>Inventory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A pie chart showing the breakdown of 2020 GHG emissions from Toronto buildings: 56% from residential buildings (includes single family and multi-unit residential buildings); 32% from commercial and industrial buildings, and 12% from industrial buildings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609" y="2279904"/>
            <a:ext cx="4724702" cy="28948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5352" y="5798299"/>
            <a:ext cx="5167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3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Toronto’s</a:t>
            </a:r>
            <a:r>
              <a:rPr sz="12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2020</a:t>
            </a:r>
            <a:r>
              <a:rPr sz="12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Sector-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based</a:t>
            </a:r>
            <a:r>
              <a:rPr sz="1200" u="sng" spc="-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Greenhouse</a:t>
            </a:r>
            <a:r>
              <a:rPr sz="1200" u="sng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Gas</a:t>
            </a:r>
            <a:r>
              <a:rPr sz="12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Emissions</a:t>
            </a:r>
            <a:r>
              <a:rPr sz="12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Inventory</a:t>
            </a:r>
            <a:r>
              <a:rPr sz="1200" u="sng" spc="-4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–</a:t>
            </a:r>
            <a:r>
              <a:rPr sz="12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City</a:t>
            </a:r>
            <a:r>
              <a:rPr sz="12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of </a:t>
            </a:r>
            <a:r>
              <a:rPr sz="12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Toronto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 descr="A bar chart showing the breakdown of GHG emissions from buildings by fuel use.  The bar chart shows 0.57 megatonnes of CO2 equivalent GHG emissions come from electricity use in buildings; whereas 7.58 megattones of CO2 equivalent GHG emissions come from the use of natural gas in buildings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2194" y="1880632"/>
            <a:ext cx="5124094" cy="421040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527" y="631158"/>
            <a:ext cx="71304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46980" algn="l"/>
              </a:tabLst>
            </a:pPr>
            <a:r>
              <a:rPr dirty="0">
                <a:solidFill>
                  <a:srgbClr val="226092"/>
                </a:solidFill>
              </a:rPr>
              <a:t>GHG</a:t>
            </a:r>
            <a:r>
              <a:rPr spc="-80" dirty="0">
                <a:solidFill>
                  <a:srgbClr val="226092"/>
                </a:solidFill>
              </a:rPr>
              <a:t> </a:t>
            </a:r>
            <a:r>
              <a:rPr dirty="0">
                <a:solidFill>
                  <a:srgbClr val="226092"/>
                </a:solidFill>
              </a:rPr>
              <a:t>Emissions</a:t>
            </a:r>
            <a:r>
              <a:rPr spc="-65" dirty="0">
                <a:solidFill>
                  <a:srgbClr val="226092"/>
                </a:solidFill>
              </a:rPr>
              <a:t> </a:t>
            </a:r>
            <a:r>
              <a:rPr spc="-25" dirty="0">
                <a:solidFill>
                  <a:srgbClr val="226092"/>
                </a:solidFill>
              </a:rPr>
              <a:t>in</a:t>
            </a:r>
            <a:r>
              <a:rPr dirty="0">
                <a:solidFill>
                  <a:srgbClr val="226092"/>
                </a:solidFill>
              </a:rPr>
              <a:t>	</a:t>
            </a:r>
            <a:r>
              <a:rPr spc="-45" dirty="0">
                <a:solidFill>
                  <a:srgbClr val="226092"/>
                </a:solidFill>
              </a:rPr>
              <a:t>Toronto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352" y="1614584"/>
            <a:ext cx="293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26092"/>
                </a:solidFill>
                <a:latin typeface="Arial"/>
                <a:cs typeface="Arial"/>
              </a:rPr>
              <a:t>2020</a:t>
            </a:r>
            <a:r>
              <a:rPr sz="2400" b="1" spc="-40" dirty="0">
                <a:solidFill>
                  <a:srgbClr val="226092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26092"/>
                </a:solidFill>
                <a:latin typeface="Arial"/>
                <a:cs typeface="Arial"/>
              </a:rPr>
              <a:t>GHG</a:t>
            </a:r>
            <a:r>
              <a:rPr sz="2400" b="1" spc="-60" dirty="0">
                <a:solidFill>
                  <a:srgbClr val="226092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226092"/>
                </a:solidFill>
                <a:latin typeface="Arial"/>
                <a:cs typeface="Arial"/>
              </a:rPr>
              <a:t>Inventory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A pie chart showing the results of Toronto's 2020 GHG Inventory: 58% of GHG emissions are associated with buildings; 33% of GHG emissions are associated with transportation, and 9% of emissions are associated with waste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485" y="2490829"/>
            <a:ext cx="5108476" cy="30611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5352" y="5798299"/>
            <a:ext cx="5167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spc="-3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Toronto’s</a:t>
            </a:r>
            <a:r>
              <a:rPr sz="12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2020</a:t>
            </a:r>
            <a:r>
              <a:rPr sz="12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Sector-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based</a:t>
            </a:r>
            <a:r>
              <a:rPr sz="1200" u="sng" spc="-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Greenhouse</a:t>
            </a:r>
            <a:r>
              <a:rPr sz="1200" u="sng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Gas</a:t>
            </a:r>
            <a:r>
              <a:rPr sz="12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Emissions</a:t>
            </a:r>
            <a:r>
              <a:rPr sz="12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Inventory</a:t>
            </a:r>
            <a:r>
              <a:rPr sz="1200" u="sng" spc="-4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–</a:t>
            </a:r>
            <a:r>
              <a:rPr sz="12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City</a:t>
            </a:r>
            <a:r>
              <a:rPr sz="12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of </a:t>
            </a:r>
            <a:r>
              <a:rPr sz="12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Toronto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spc="-50" dirty="0"/>
              <a:t>5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/>
              <a:t>New</a:t>
            </a:r>
            <a:r>
              <a:rPr spc="-35" dirty="0"/>
              <a:t> </a:t>
            </a:r>
            <a:r>
              <a:rPr spc="-20" dirty="0"/>
              <a:t>TransformTO</a:t>
            </a:r>
            <a:r>
              <a:rPr spc="-45" dirty="0"/>
              <a:t> </a:t>
            </a:r>
            <a:r>
              <a:rPr dirty="0"/>
              <a:t>NZ</a:t>
            </a:r>
            <a:r>
              <a:rPr spc="-40" dirty="0"/>
              <a:t> </a:t>
            </a:r>
            <a:r>
              <a:rPr spc="-10" dirty="0"/>
              <a:t>Strategy</a:t>
            </a:r>
          </a:p>
          <a:p>
            <a:pPr marL="241300" marR="13970" indent="-228600">
              <a:lnSpc>
                <a:spcPts val="2380"/>
              </a:lnSpc>
              <a:spcBef>
                <a:spcPts val="1735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0" spc="-120" dirty="0">
                <a:solidFill>
                  <a:srgbClr val="000000"/>
                </a:solidFill>
                <a:latin typeface="Calibri"/>
                <a:cs typeface="Calibri"/>
              </a:rPr>
              <a:t>Toronto</a:t>
            </a:r>
            <a:r>
              <a:rPr sz="2200" b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75" dirty="0">
                <a:solidFill>
                  <a:srgbClr val="000000"/>
                </a:solidFill>
                <a:latin typeface="Calibri"/>
                <a:cs typeface="Calibri"/>
              </a:rPr>
              <a:t>surpassed</a:t>
            </a:r>
            <a:r>
              <a:rPr sz="2200" b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65" dirty="0">
                <a:solidFill>
                  <a:srgbClr val="000000"/>
                </a:solidFill>
                <a:latin typeface="Calibri"/>
                <a:cs typeface="Calibri"/>
              </a:rPr>
              <a:t>its</a:t>
            </a:r>
            <a:r>
              <a:rPr sz="2200" b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60" dirty="0">
                <a:solidFill>
                  <a:srgbClr val="000000"/>
                </a:solidFill>
                <a:latin typeface="Calibri"/>
                <a:cs typeface="Calibri"/>
              </a:rPr>
              <a:t>2020</a:t>
            </a:r>
            <a:r>
              <a:rPr sz="2200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90" dirty="0">
                <a:solidFill>
                  <a:srgbClr val="000000"/>
                </a:solidFill>
                <a:latin typeface="Calibri"/>
                <a:cs typeface="Calibri"/>
              </a:rPr>
              <a:t>target</a:t>
            </a:r>
            <a:r>
              <a:rPr sz="220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2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20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000000"/>
                </a:solidFill>
                <a:latin typeface="Calibri"/>
                <a:cs typeface="Calibri"/>
              </a:rPr>
              <a:t>30</a:t>
            </a:r>
            <a:r>
              <a:rPr sz="220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000000"/>
                </a:solidFill>
                <a:latin typeface="Calibri"/>
                <a:cs typeface="Calibri"/>
              </a:rPr>
              <a:t>per </a:t>
            </a:r>
            <a:r>
              <a:rPr sz="2200" spc="-75" dirty="0">
                <a:solidFill>
                  <a:srgbClr val="000000"/>
                </a:solidFill>
                <a:latin typeface="Calibri"/>
                <a:cs typeface="Calibri"/>
              </a:rPr>
              <a:t>cent</a:t>
            </a:r>
            <a:r>
              <a:rPr sz="22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solidFill>
                  <a:srgbClr val="000000"/>
                </a:solidFill>
                <a:latin typeface="Calibri"/>
                <a:cs typeface="Calibri"/>
              </a:rPr>
              <a:t>reduction</a:t>
            </a:r>
            <a:r>
              <a:rPr sz="22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sz="220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70" dirty="0">
                <a:solidFill>
                  <a:srgbClr val="000000"/>
                </a:solidFill>
                <a:latin typeface="Calibri"/>
                <a:cs typeface="Calibri"/>
              </a:rPr>
              <a:t>GHG</a:t>
            </a:r>
            <a:r>
              <a:rPr sz="220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solidFill>
                  <a:srgbClr val="000000"/>
                </a:solidFill>
                <a:latin typeface="Calibri"/>
                <a:cs typeface="Calibri"/>
              </a:rPr>
              <a:t>emissions</a:t>
            </a:r>
            <a:r>
              <a:rPr sz="22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solidFill>
                  <a:srgbClr val="000000"/>
                </a:solidFill>
                <a:latin typeface="Calibri"/>
                <a:cs typeface="Calibri"/>
              </a:rPr>
              <a:t>from</a:t>
            </a:r>
            <a:r>
              <a:rPr sz="220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sz="2200" spc="-60" dirty="0">
                <a:solidFill>
                  <a:srgbClr val="000000"/>
                </a:solidFill>
                <a:latin typeface="Calibri"/>
                <a:cs typeface="Calibri"/>
              </a:rPr>
              <a:t>1990</a:t>
            </a:r>
            <a:r>
              <a:rPr sz="220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75" dirty="0">
                <a:solidFill>
                  <a:srgbClr val="000000"/>
                </a:solidFill>
                <a:latin typeface="Calibri"/>
                <a:cs typeface="Calibri"/>
              </a:rPr>
              <a:t>baseline</a:t>
            </a:r>
            <a:r>
              <a:rPr sz="2200" b="0" spc="-75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22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10" dirty="0">
                <a:solidFill>
                  <a:srgbClr val="000000"/>
                </a:solidFill>
                <a:latin typeface="Calibri"/>
                <a:cs typeface="Calibri"/>
              </a:rPr>
              <a:t>However,</a:t>
            </a:r>
            <a:r>
              <a:rPr sz="22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60" dirty="0">
                <a:solidFill>
                  <a:srgbClr val="000000"/>
                </a:solidFill>
                <a:latin typeface="Calibri"/>
                <a:cs typeface="Calibri"/>
              </a:rPr>
              <a:t>2020</a:t>
            </a:r>
            <a:r>
              <a:rPr sz="22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75" dirty="0">
                <a:solidFill>
                  <a:srgbClr val="000000"/>
                </a:solidFill>
                <a:latin typeface="Calibri"/>
                <a:cs typeface="Calibri"/>
              </a:rPr>
              <a:t>was</a:t>
            </a:r>
            <a:r>
              <a:rPr sz="22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25" dirty="0">
                <a:solidFill>
                  <a:srgbClr val="000000"/>
                </a:solidFill>
                <a:latin typeface="Calibri"/>
                <a:cs typeface="Calibri"/>
              </a:rPr>
              <a:t>an </a:t>
            </a:r>
            <a:r>
              <a:rPr sz="2200" b="0" spc="-75" dirty="0">
                <a:solidFill>
                  <a:srgbClr val="000000"/>
                </a:solidFill>
                <a:latin typeface="Calibri"/>
                <a:cs typeface="Calibri"/>
              </a:rPr>
              <a:t>anomaly</a:t>
            </a:r>
            <a:r>
              <a:rPr sz="22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75" dirty="0">
                <a:solidFill>
                  <a:srgbClr val="000000"/>
                </a:solidFill>
                <a:latin typeface="Calibri"/>
                <a:cs typeface="Calibri"/>
              </a:rPr>
              <a:t>year</a:t>
            </a:r>
            <a:r>
              <a:rPr sz="22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60" dirty="0">
                <a:solidFill>
                  <a:srgbClr val="000000"/>
                </a:solidFill>
                <a:latin typeface="Calibri"/>
                <a:cs typeface="Calibri"/>
              </a:rPr>
              <a:t>due</a:t>
            </a:r>
            <a:r>
              <a:rPr sz="22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6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200" b="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6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200" b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95" dirty="0">
                <a:solidFill>
                  <a:srgbClr val="000000"/>
                </a:solidFill>
                <a:latin typeface="Calibri"/>
                <a:cs typeface="Calibri"/>
              </a:rPr>
              <a:t>COVID-</a:t>
            </a:r>
            <a:r>
              <a:rPr sz="2200" b="0" spc="-25" dirty="0">
                <a:solidFill>
                  <a:srgbClr val="000000"/>
                </a:solidFill>
                <a:latin typeface="Calibri"/>
                <a:cs typeface="Calibri"/>
              </a:rPr>
              <a:t>19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pandemic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90100"/>
              </a:lnSpc>
              <a:spcBef>
                <a:spcPts val="945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Continued</a:t>
            </a:r>
            <a:r>
              <a:rPr sz="22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ambitious</a:t>
            </a:r>
            <a:r>
              <a:rPr sz="22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85" dirty="0">
                <a:solidFill>
                  <a:srgbClr val="000000"/>
                </a:solidFill>
                <a:latin typeface="Calibri"/>
                <a:cs typeface="Calibri"/>
              </a:rPr>
              <a:t>climate</a:t>
            </a:r>
            <a:r>
              <a:rPr sz="22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75" dirty="0">
                <a:solidFill>
                  <a:srgbClr val="000000"/>
                </a:solidFill>
                <a:latin typeface="Calibri"/>
                <a:cs typeface="Calibri"/>
              </a:rPr>
              <a:t>actions</a:t>
            </a:r>
            <a:r>
              <a:rPr sz="2200" b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25" dirty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sz="2200" b="0" spc="-90" dirty="0">
                <a:solidFill>
                  <a:srgbClr val="000000"/>
                </a:solidFill>
                <a:latin typeface="Calibri"/>
                <a:cs typeface="Calibri"/>
              </a:rPr>
              <a:t>programs</a:t>
            </a:r>
            <a:r>
              <a:rPr sz="2200" b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65" dirty="0">
                <a:solidFill>
                  <a:srgbClr val="000000"/>
                </a:solidFill>
                <a:latin typeface="Calibri"/>
                <a:cs typeface="Calibri"/>
              </a:rPr>
              <a:t>will</a:t>
            </a:r>
            <a:r>
              <a:rPr sz="22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55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2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critical</a:t>
            </a:r>
            <a:r>
              <a:rPr sz="2200" b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6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200" b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reaching</a:t>
            </a:r>
            <a:r>
              <a:rPr sz="2200" b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70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sz="22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40" dirty="0">
                <a:solidFill>
                  <a:srgbClr val="000000"/>
                </a:solidFill>
                <a:latin typeface="Calibri"/>
                <a:cs typeface="Calibri"/>
              </a:rPr>
              <a:t>City’s </a:t>
            </a:r>
            <a:r>
              <a:rPr sz="2200" spc="-60" dirty="0">
                <a:solidFill>
                  <a:srgbClr val="000000"/>
                </a:solidFill>
                <a:latin typeface="Calibri"/>
                <a:cs typeface="Calibri"/>
              </a:rPr>
              <a:t>2025</a:t>
            </a:r>
            <a:r>
              <a:rPr sz="220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90" dirty="0">
                <a:solidFill>
                  <a:srgbClr val="000000"/>
                </a:solidFill>
                <a:latin typeface="Calibri"/>
                <a:cs typeface="Calibri"/>
              </a:rPr>
              <a:t>target </a:t>
            </a:r>
            <a:r>
              <a:rPr sz="2200" spc="-5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20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000000"/>
                </a:solidFill>
                <a:latin typeface="Calibri"/>
                <a:cs typeface="Calibri"/>
              </a:rPr>
              <a:t>45</a:t>
            </a:r>
            <a:r>
              <a:rPr sz="2200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65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220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75" dirty="0">
                <a:solidFill>
                  <a:srgbClr val="000000"/>
                </a:solidFill>
                <a:latin typeface="Calibri"/>
                <a:cs typeface="Calibri"/>
              </a:rPr>
              <a:t>cent</a:t>
            </a:r>
            <a:r>
              <a:rPr sz="220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70" dirty="0">
                <a:solidFill>
                  <a:srgbClr val="000000"/>
                </a:solidFill>
                <a:latin typeface="Calibri"/>
                <a:cs typeface="Calibri"/>
              </a:rPr>
              <a:t>GHG</a:t>
            </a:r>
            <a:r>
              <a:rPr sz="2200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emissions </a:t>
            </a:r>
            <a:r>
              <a:rPr sz="2200" spc="-80" dirty="0">
                <a:solidFill>
                  <a:srgbClr val="000000"/>
                </a:solidFill>
                <a:latin typeface="Calibri"/>
                <a:cs typeface="Calibri"/>
              </a:rPr>
              <a:t>reduction</a:t>
            </a: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r>
              <a:rPr sz="22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0" dirty="0">
                <a:solidFill>
                  <a:srgbClr val="000000"/>
                </a:solidFill>
                <a:latin typeface="Calibri"/>
                <a:cs typeface="Calibri"/>
              </a:rPr>
              <a:t>Further,</a:t>
            </a:r>
            <a:r>
              <a:rPr sz="2200" b="0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75" dirty="0">
                <a:solidFill>
                  <a:srgbClr val="000000"/>
                </a:solidFill>
                <a:latin typeface="Calibri"/>
                <a:cs typeface="Calibri"/>
              </a:rPr>
              <a:t>these</a:t>
            </a: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90" dirty="0">
                <a:solidFill>
                  <a:srgbClr val="000000"/>
                </a:solidFill>
                <a:latin typeface="Calibri"/>
                <a:cs typeface="Calibri"/>
              </a:rPr>
              <a:t>efforts</a:t>
            </a:r>
            <a:r>
              <a:rPr sz="22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must </a:t>
            </a:r>
            <a:r>
              <a:rPr sz="2200" b="0" spc="-25" dirty="0">
                <a:solidFill>
                  <a:srgbClr val="000000"/>
                </a:solidFill>
                <a:latin typeface="Calibri"/>
                <a:cs typeface="Calibri"/>
              </a:rPr>
              <a:t>be </a:t>
            </a: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scaled</a:t>
            </a:r>
            <a:r>
              <a:rPr sz="2200" b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45" dirty="0">
                <a:solidFill>
                  <a:srgbClr val="000000"/>
                </a:solidFill>
                <a:latin typeface="Calibri"/>
                <a:cs typeface="Calibri"/>
              </a:rPr>
              <a:t>up</a:t>
            </a:r>
            <a:r>
              <a:rPr sz="22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65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2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75" dirty="0">
                <a:solidFill>
                  <a:srgbClr val="000000"/>
                </a:solidFill>
                <a:latin typeface="Calibri"/>
                <a:cs typeface="Calibri"/>
              </a:rPr>
              <a:t>reach</a:t>
            </a:r>
            <a:r>
              <a:rPr sz="22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25" dirty="0">
                <a:solidFill>
                  <a:srgbClr val="000000"/>
                </a:solidFill>
                <a:latin typeface="Calibri"/>
                <a:cs typeface="Calibri"/>
              </a:rPr>
              <a:t>Toronto’s</a:t>
            </a:r>
            <a:r>
              <a:rPr sz="22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80" dirty="0">
                <a:solidFill>
                  <a:srgbClr val="000000"/>
                </a:solidFill>
                <a:latin typeface="Calibri"/>
                <a:cs typeface="Calibri"/>
              </a:rPr>
              <a:t>future</a:t>
            </a:r>
            <a:r>
              <a:rPr sz="2200" b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85" dirty="0">
                <a:solidFill>
                  <a:srgbClr val="000000"/>
                </a:solidFill>
                <a:latin typeface="Calibri"/>
                <a:cs typeface="Calibri"/>
              </a:rPr>
              <a:t>targets</a:t>
            </a:r>
            <a:r>
              <a:rPr sz="2200" b="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25" dirty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sz="22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2200" b="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000000"/>
                </a:solidFill>
                <a:latin typeface="Calibri"/>
                <a:cs typeface="Calibri"/>
              </a:rPr>
              <a:t>65</a:t>
            </a:r>
            <a:r>
              <a:rPr sz="220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60" dirty="0">
                <a:solidFill>
                  <a:srgbClr val="000000"/>
                </a:solidFill>
                <a:latin typeface="Calibri"/>
                <a:cs typeface="Calibri"/>
              </a:rPr>
              <a:t>per</a:t>
            </a:r>
            <a:r>
              <a:rPr sz="220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75" dirty="0">
                <a:solidFill>
                  <a:srgbClr val="000000"/>
                </a:solidFill>
                <a:latin typeface="Calibri"/>
                <a:cs typeface="Calibri"/>
              </a:rPr>
              <a:t>cent</a:t>
            </a:r>
            <a:r>
              <a:rPr sz="220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solidFill>
                  <a:srgbClr val="000000"/>
                </a:solidFill>
                <a:latin typeface="Calibri"/>
                <a:cs typeface="Calibri"/>
              </a:rPr>
              <a:t>reduction</a:t>
            </a:r>
            <a:r>
              <a:rPr sz="220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z="220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60" dirty="0">
                <a:solidFill>
                  <a:srgbClr val="000000"/>
                </a:solidFill>
                <a:latin typeface="Calibri"/>
                <a:cs typeface="Calibri"/>
              </a:rPr>
              <a:t>2030</a:t>
            </a:r>
            <a:r>
              <a:rPr sz="2200" spc="-1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55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200" b="0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000000"/>
                </a:solidFill>
                <a:latin typeface="Calibri"/>
                <a:cs typeface="Calibri"/>
              </a:rPr>
              <a:t>net </a:t>
            </a:r>
            <a:r>
              <a:rPr sz="2200" spc="-85" dirty="0">
                <a:solidFill>
                  <a:srgbClr val="000000"/>
                </a:solidFill>
                <a:latin typeface="Calibri"/>
                <a:cs typeface="Calibri"/>
              </a:rPr>
              <a:t>zero</a:t>
            </a:r>
            <a:r>
              <a:rPr sz="2200" spc="-1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sz="2200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000"/>
                </a:solidFill>
                <a:latin typeface="Calibri"/>
                <a:cs typeface="Calibri"/>
              </a:rPr>
              <a:t>2040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2043-0288-4173-F9CC-7C4B4367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7A8EB-27B7-A3A1-1C23-E553ACABA5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F6EF5-52B7-E88A-8B5F-8352F9946F0E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26092"/>
                </a:solidFill>
              </a:rPr>
              <a:t>Strategy</a:t>
            </a:r>
            <a:r>
              <a:rPr spc="-55" dirty="0">
                <a:solidFill>
                  <a:srgbClr val="226092"/>
                </a:solidFill>
              </a:rPr>
              <a:t> </a:t>
            </a:r>
            <a:r>
              <a:rPr dirty="0">
                <a:solidFill>
                  <a:srgbClr val="226092"/>
                </a:solidFill>
              </a:rPr>
              <a:t>Recommended</a:t>
            </a:r>
            <a:r>
              <a:rPr spc="-210" dirty="0">
                <a:solidFill>
                  <a:srgbClr val="226092"/>
                </a:solidFill>
              </a:rPr>
              <a:t> </a:t>
            </a:r>
            <a:r>
              <a:rPr spc="-10" dirty="0">
                <a:solidFill>
                  <a:srgbClr val="226092"/>
                </a:solidFill>
              </a:rPr>
              <a:t>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6841" y="424941"/>
            <a:ext cx="58419" cy="1204595"/>
            <a:chOff x="386841" y="424941"/>
            <a:chExt cx="58419" cy="1204595"/>
          </a:xfrm>
        </p:grpSpPr>
        <p:sp>
          <p:nvSpPr>
            <p:cNvPr id="3" name="object 3"/>
            <p:cNvSpPr/>
            <p:nvPr/>
          </p:nvSpPr>
          <p:spPr>
            <a:xfrm>
              <a:off x="393191" y="431291"/>
              <a:ext cx="45720" cy="1191895"/>
            </a:xfrm>
            <a:custGeom>
              <a:avLst/>
              <a:gdLst/>
              <a:ahLst/>
              <a:cxnLst/>
              <a:rect l="l" t="t" r="r" b="b"/>
              <a:pathLst>
                <a:path w="45720" h="1191895">
                  <a:moveTo>
                    <a:pt x="45720" y="0"/>
                  </a:moveTo>
                  <a:lnTo>
                    <a:pt x="0" y="0"/>
                  </a:lnTo>
                  <a:lnTo>
                    <a:pt x="0" y="1191767"/>
                  </a:lnTo>
                  <a:lnTo>
                    <a:pt x="45720" y="1191767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226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3191" y="431291"/>
              <a:ext cx="45720" cy="1191895"/>
            </a:xfrm>
            <a:custGeom>
              <a:avLst/>
              <a:gdLst/>
              <a:ahLst/>
              <a:cxnLst/>
              <a:rect l="l" t="t" r="r" b="b"/>
              <a:pathLst>
                <a:path w="45720" h="1191895">
                  <a:moveTo>
                    <a:pt x="0" y="0"/>
                  </a:moveTo>
                  <a:lnTo>
                    <a:pt x="45720" y="0"/>
                  </a:lnTo>
                  <a:lnTo>
                    <a:pt x="45720" y="1191767"/>
                  </a:lnTo>
                  <a:lnTo>
                    <a:pt x="0" y="119176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260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2103" y="6323076"/>
            <a:ext cx="1107947" cy="339851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226092"/>
                </a:solidFill>
              </a:rPr>
              <a:t>Key</a:t>
            </a:r>
            <a:r>
              <a:rPr spc="-10" dirty="0">
                <a:solidFill>
                  <a:srgbClr val="226092"/>
                </a:solidFill>
              </a:rPr>
              <a:t> benefits</a:t>
            </a:r>
          </a:p>
        </p:txBody>
      </p:sp>
      <p:pic>
        <p:nvPicPr>
          <p:cNvPr id="7" name="object 7" descr="Two icons representing two key benefits to building owners: 1. Determine the baseline performance level of your building, and  2. Identify energy and water efficiency opportuniti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895" y="2672012"/>
            <a:ext cx="5485448" cy="1897550"/>
          </a:xfrm>
          <a:prstGeom prst="rect">
            <a:avLst/>
          </a:prstGeom>
        </p:spPr>
      </p:pic>
      <p:pic>
        <p:nvPicPr>
          <p:cNvPr id="8" name="object 8" descr="Two additional icons representing key benefits to building owners: 3. Save money by tracking and understanding usage 4. Take action to reduce your building's greenhouse gas emissions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5632" y="2593762"/>
            <a:ext cx="5440625" cy="195623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527" y="329406"/>
            <a:ext cx="911415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  <a:tabLst>
                <a:tab pos="6553834" algn="l"/>
              </a:tabLst>
            </a:pPr>
            <a:r>
              <a:rPr dirty="0">
                <a:solidFill>
                  <a:srgbClr val="226092"/>
                </a:solidFill>
              </a:rPr>
              <a:t>City</a:t>
            </a:r>
            <a:r>
              <a:rPr spc="-80" dirty="0">
                <a:solidFill>
                  <a:srgbClr val="226092"/>
                </a:solidFill>
              </a:rPr>
              <a:t> </a:t>
            </a:r>
            <a:r>
              <a:rPr dirty="0">
                <a:solidFill>
                  <a:srgbClr val="226092"/>
                </a:solidFill>
              </a:rPr>
              <a:t>of</a:t>
            </a:r>
            <a:r>
              <a:rPr spc="-85" dirty="0">
                <a:solidFill>
                  <a:srgbClr val="226092"/>
                </a:solidFill>
              </a:rPr>
              <a:t> </a:t>
            </a:r>
            <a:r>
              <a:rPr spc="-10" dirty="0">
                <a:solidFill>
                  <a:srgbClr val="226092"/>
                </a:solidFill>
              </a:rPr>
              <a:t>Toronto</a:t>
            </a:r>
            <a:r>
              <a:rPr spc="-95" dirty="0">
                <a:solidFill>
                  <a:srgbClr val="226092"/>
                </a:solidFill>
              </a:rPr>
              <a:t> </a:t>
            </a:r>
            <a:r>
              <a:rPr dirty="0">
                <a:solidFill>
                  <a:srgbClr val="226092"/>
                </a:solidFill>
              </a:rPr>
              <a:t>Net</a:t>
            </a:r>
            <a:r>
              <a:rPr spc="-80" dirty="0">
                <a:solidFill>
                  <a:srgbClr val="226092"/>
                </a:solidFill>
              </a:rPr>
              <a:t> </a:t>
            </a:r>
            <a:r>
              <a:rPr spc="-20" dirty="0">
                <a:solidFill>
                  <a:srgbClr val="226092"/>
                </a:solidFill>
              </a:rPr>
              <a:t>Zero</a:t>
            </a:r>
            <a:r>
              <a:rPr dirty="0">
                <a:solidFill>
                  <a:srgbClr val="226092"/>
                </a:solidFill>
              </a:rPr>
              <a:t>	</a:t>
            </a:r>
            <a:r>
              <a:rPr spc="-10" dirty="0">
                <a:solidFill>
                  <a:srgbClr val="226092"/>
                </a:solidFill>
              </a:rPr>
              <a:t>Buildings </a:t>
            </a:r>
            <a:r>
              <a:rPr dirty="0">
                <a:solidFill>
                  <a:srgbClr val="226092"/>
                </a:solidFill>
              </a:rPr>
              <a:t>Programs</a:t>
            </a:r>
            <a:r>
              <a:rPr spc="-40" dirty="0">
                <a:solidFill>
                  <a:srgbClr val="226092"/>
                </a:solidFill>
              </a:rPr>
              <a:t> </a:t>
            </a:r>
            <a:r>
              <a:rPr dirty="0">
                <a:solidFill>
                  <a:srgbClr val="226092"/>
                </a:solidFill>
              </a:rPr>
              <a:t>&amp;</a:t>
            </a:r>
            <a:r>
              <a:rPr spc="-50" dirty="0">
                <a:solidFill>
                  <a:srgbClr val="226092"/>
                </a:solidFill>
              </a:rPr>
              <a:t> </a:t>
            </a:r>
            <a:r>
              <a:rPr spc="-10" dirty="0">
                <a:solidFill>
                  <a:srgbClr val="226092"/>
                </a:solidFill>
              </a:rPr>
              <a:t>Policies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2662" y="2276961"/>
            <a:ext cx="4667250" cy="2010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63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D3B6C"/>
                </a:solidFill>
                <a:latin typeface="Arial"/>
                <a:cs typeface="Arial"/>
              </a:rPr>
              <a:t>Support,</a:t>
            </a:r>
            <a:r>
              <a:rPr sz="1800" b="1" spc="-60" dirty="0">
                <a:solidFill>
                  <a:srgbClr val="1D3B6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D3B6C"/>
                </a:solidFill>
                <a:latin typeface="Arial"/>
                <a:cs typeface="Arial"/>
              </a:rPr>
              <a:t>Guidance</a:t>
            </a:r>
            <a:r>
              <a:rPr sz="1800" b="1" spc="-50" dirty="0">
                <a:solidFill>
                  <a:srgbClr val="1D3B6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D3B6C"/>
                </a:solidFill>
                <a:latin typeface="Arial"/>
                <a:cs typeface="Arial"/>
              </a:rPr>
              <a:t>&amp;</a:t>
            </a:r>
            <a:r>
              <a:rPr sz="1800" b="1" spc="-40" dirty="0">
                <a:solidFill>
                  <a:srgbClr val="1D3B6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D3B6C"/>
                </a:solidFill>
                <a:latin typeface="Arial"/>
                <a:cs typeface="Arial"/>
              </a:rPr>
              <a:t>Enablement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Navigation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&amp;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Support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Services</a:t>
            </a: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spc="-10" dirty="0">
                <a:latin typeface="Arial"/>
                <a:cs typeface="Arial"/>
              </a:rPr>
              <a:t>BetterHomesTO</a:t>
            </a: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Renewable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Energy</a:t>
            </a: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spc="-10" dirty="0">
                <a:latin typeface="Arial"/>
                <a:cs typeface="Arial"/>
              </a:rPr>
              <a:t>Sustainable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Towers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Engaging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People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(STEP)</a:t>
            </a: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Green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Will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Initiative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(GWI)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6823" y="2274370"/>
            <a:ext cx="5048885" cy="252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D3B6C"/>
                </a:solidFill>
                <a:latin typeface="Arial"/>
                <a:cs typeface="Arial"/>
              </a:rPr>
              <a:t>Financing</a:t>
            </a:r>
            <a:r>
              <a:rPr sz="1800" b="1" spc="-50" dirty="0">
                <a:solidFill>
                  <a:srgbClr val="1D3B6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D3B6C"/>
                </a:solidFill>
                <a:latin typeface="Arial"/>
                <a:cs typeface="Arial"/>
              </a:rPr>
              <a:t>&amp;</a:t>
            </a:r>
            <a:r>
              <a:rPr sz="1800" b="1" spc="-35" dirty="0">
                <a:solidFill>
                  <a:srgbClr val="1D3B6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D3B6C"/>
                </a:solidFill>
                <a:latin typeface="Arial"/>
                <a:cs typeface="Arial"/>
              </a:rPr>
              <a:t>Incentives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Energy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Retrofit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Loans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(ERL)</a:t>
            </a: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Home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Energy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Loan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Program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(HELP)</a:t>
            </a:r>
            <a:endParaRPr sz="1700">
              <a:latin typeface="Arial"/>
              <a:cs typeface="Arial"/>
            </a:endParaRPr>
          </a:p>
          <a:p>
            <a:pPr marL="299085" marR="5080" indent="-287020">
              <a:lnSpc>
                <a:spcPts val="1839"/>
              </a:lnSpc>
              <a:spcBef>
                <a:spcPts val="430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spc="-10" dirty="0">
                <a:latin typeface="Arial"/>
                <a:cs typeface="Arial"/>
              </a:rPr>
              <a:t>High-</a:t>
            </a:r>
            <a:r>
              <a:rPr sz="1700" dirty="0">
                <a:latin typeface="Arial"/>
                <a:cs typeface="Arial"/>
              </a:rPr>
              <a:t>Rise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Retrofit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Improvement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Support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Program </a:t>
            </a:r>
            <a:r>
              <a:rPr sz="1700" dirty="0">
                <a:latin typeface="Arial"/>
                <a:cs typeface="Arial"/>
              </a:rPr>
              <a:t>(Hi-</a:t>
            </a:r>
            <a:r>
              <a:rPr sz="1700" spc="-20" dirty="0">
                <a:latin typeface="Arial"/>
                <a:cs typeface="Arial"/>
              </a:rPr>
              <a:t>RIS)</a:t>
            </a: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75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spc="-45" dirty="0">
                <a:latin typeface="Arial"/>
                <a:cs typeface="Arial"/>
              </a:rPr>
              <a:t>Taking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Action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on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Tower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Renewal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(TATR)</a:t>
            </a: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spc="-20" dirty="0">
                <a:latin typeface="Arial"/>
                <a:cs typeface="Arial"/>
              </a:rPr>
              <a:t>Eco-</a:t>
            </a:r>
            <a:r>
              <a:rPr sz="1700" dirty="0">
                <a:latin typeface="Arial"/>
                <a:cs typeface="Arial"/>
              </a:rPr>
              <a:t>roof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Incentive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Program</a:t>
            </a:r>
            <a:endParaRPr sz="17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00"/>
              </a:spcBef>
              <a:buFont typeface="Wingdings"/>
              <a:buChar char=""/>
              <a:tabLst>
                <a:tab pos="299085" algn="l"/>
              </a:tabLst>
            </a:pPr>
            <a:r>
              <a:rPr sz="1700" dirty="0">
                <a:latin typeface="Arial"/>
                <a:cs typeface="Arial"/>
              </a:rPr>
              <a:t>Deep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Retrofit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Challenge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9677" y="5557397"/>
            <a:ext cx="817880" cy="491490"/>
            <a:chOff x="2239677" y="5557397"/>
            <a:chExt cx="817880" cy="4914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3421" y="5829593"/>
              <a:ext cx="269101" cy="2036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9677" y="5557397"/>
              <a:ext cx="188200" cy="22411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55511" y="5642201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323015" y="406115"/>
                  </a:moveTo>
                  <a:lnTo>
                    <a:pt x="315481" y="403288"/>
                  </a:lnTo>
                  <a:lnTo>
                    <a:pt x="308889" y="399519"/>
                  </a:lnTo>
                  <a:lnTo>
                    <a:pt x="295705" y="389154"/>
                  </a:lnTo>
                  <a:lnTo>
                    <a:pt x="327724" y="352406"/>
                  </a:lnTo>
                  <a:lnTo>
                    <a:pt x="332109" y="346414"/>
                  </a:lnTo>
                  <a:lnTo>
                    <a:pt x="335258" y="339803"/>
                  </a:lnTo>
                  <a:lnTo>
                    <a:pt x="336994" y="332662"/>
                  </a:lnTo>
                  <a:lnTo>
                    <a:pt x="337141" y="325080"/>
                  </a:lnTo>
                  <a:lnTo>
                    <a:pt x="335743" y="318057"/>
                  </a:lnTo>
                  <a:lnTo>
                    <a:pt x="306343" y="290761"/>
                  </a:lnTo>
                  <a:lnTo>
                    <a:pt x="299472" y="290216"/>
                  </a:lnTo>
                  <a:lnTo>
                    <a:pt x="295705" y="290216"/>
                  </a:lnTo>
                  <a:lnTo>
                    <a:pt x="291938" y="291159"/>
                  </a:lnTo>
                  <a:lnTo>
                    <a:pt x="289113" y="292101"/>
                  </a:lnTo>
                  <a:lnTo>
                    <a:pt x="287700" y="283827"/>
                  </a:lnTo>
                  <a:lnTo>
                    <a:pt x="261567" y="255235"/>
                  </a:lnTo>
                  <a:lnTo>
                    <a:pt x="246734" y="252526"/>
                  </a:lnTo>
                  <a:lnTo>
                    <a:pt x="242968" y="252526"/>
                  </a:lnTo>
                  <a:lnTo>
                    <a:pt x="238259" y="253468"/>
                  </a:lnTo>
                  <a:lnTo>
                    <a:pt x="234492" y="254410"/>
                  </a:lnTo>
                  <a:lnTo>
                    <a:pt x="233447" y="244723"/>
                  </a:lnTo>
                  <a:lnTo>
                    <a:pt x="204003" y="211066"/>
                  </a:lnTo>
                  <a:lnTo>
                    <a:pt x="187405" y="208240"/>
                  </a:lnTo>
                  <a:lnTo>
                    <a:pt x="181755" y="208240"/>
                  </a:lnTo>
                  <a:lnTo>
                    <a:pt x="176104" y="209182"/>
                  </a:lnTo>
                  <a:lnTo>
                    <a:pt x="171396" y="211066"/>
                  </a:lnTo>
                  <a:lnTo>
                    <a:pt x="169954" y="201393"/>
                  </a:lnTo>
                  <a:lnTo>
                    <a:pt x="140907" y="168665"/>
                  </a:lnTo>
                  <a:lnTo>
                    <a:pt x="124309" y="165838"/>
                  </a:lnTo>
                  <a:lnTo>
                    <a:pt x="113950" y="166883"/>
                  </a:lnTo>
                  <a:lnTo>
                    <a:pt x="104297" y="169960"/>
                  </a:lnTo>
                  <a:lnTo>
                    <a:pt x="95703" y="174981"/>
                  </a:lnTo>
                  <a:lnTo>
                    <a:pt x="88523" y="181856"/>
                  </a:lnTo>
                  <a:lnTo>
                    <a:pt x="64038" y="210124"/>
                  </a:lnTo>
                  <a:lnTo>
                    <a:pt x="0" y="135685"/>
                  </a:lnTo>
                  <a:lnTo>
                    <a:pt x="81931" y="0"/>
                  </a:lnTo>
                  <a:lnTo>
                    <a:pt x="124500" y="12897"/>
                  </a:lnTo>
                  <a:lnTo>
                    <a:pt x="165392" y="14133"/>
                  </a:lnTo>
                  <a:lnTo>
                    <a:pt x="203635" y="11130"/>
                  </a:lnTo>
                  <a:lnTo>
                    <a:pt x="238259" y="11307"/>
                  </a:lnTo>
                  <a:lnTo>
                    <a:pt x="182696" y="75381"/>
                  </a:lnTo>
                  <a:lnTo>
                    <a:pt x="171925" y="94918"/>
                  </a:lnTo>
                  <a:lnTo>
                    <a:pt x="174750" y="137526"/>
                  </a:lnTo>
                  <a:lnTo>
                    <a:pt x="204945" y="166073"/>
                  </a:lnTo>
                  <a:lnTo>
                    <a:pt x="225075" y="169607"/>
                  </a:lnTo>
                  <a:lnTo>
                    <a:pt x="229783" y="169607"/>
                  </a:lnTo>
                  <a:lnTo>
                    <a:pt x="267453" y="150762"/>
                  </a:lnTo>
                  <a:lnTo>
                    <a:pt x="332432" y="76323"/>
                  </a:lnTo>
                  <a:lnTo>
                    <a:pt x="342792" y="85745"/>
                  </a:lnTo>
                  <a:lnTo>
                    <a:pt x="494411" y="215778"/>
                  </a:lnTo>
                  <a:lnTo>
                    <a:pt x="504770" y="241219"/>
                  </a:lnTo>
                  <a:lnTo>
                    <a:pt x="503181" y="256030"/>
                  </a:lnTo>
                  <a:lnTo>
                    <a:pt x="496295" y="268544"/>
                  </a:lnTo>
                  <a:lnTo>
                    <a:pt x="485170" y="277525"/>
                  </a:lnTo>
                  <a:lnTo>
                    <a:pt x="470868" y="281736"/>
                  </a:lnTo>
                  <a:lnTo>
                    <a:pt x="463334" y="282678"/>
                  </a:lnTo>
                  <a:lnTo>
                    <a:pt x="456742" y="280794"/>
                  </a:lnTo>
                  <a:lnTo>
                    <a:pt x="451091" y="277967"/>
                  </a:lnTo>
                  <a:lnTo>
                    <a:pt x="451091" y="279852"/>
                  </a:lnTo>
                  <a:lnTo>
                    <a:pt x="452033" y="281736"/>
                  </a:lnTo>
                  <a:lnTo>
                    <a:pt x="452033" y="283621"/>
                  </a:lnTo>
                  <a:lnTo>
                    <a:pt x="450444" y="298432"/>
                  </a:lnTo>
                  <a:lnTo>
                    <a:pt x="443557" y="310946"/>
                  </a:lnTo>
                  <a:lnTo>
                    <a:pt x="432433" y="319927"/>
                  </a:lnTo>
                  <a:lnTo>
                    <a:pt x="418131" y="324138"/>
                  </a:lnTo>
                  <a:lnTo>
                    <a:pt x="411538" y="324138"/>
                  </a:lnTo>
                  <a:lnTo>
                    <a:pt x="408713" y="323196"/>
                  </a:lnTo>
                  <a:lnTo>
                    <a:pt x="408713" y="324138"/>
                  </a:lnTo>
                  <a:lnTo>
                    <a:pt x="407124" y="338949"/>
                  </a:lnTo>
                  <a:lnTo>
                    <a:pt x="400238" y="351463"/>
                  </a:lnTo>
                  <a:lnTo>
                    <a:pt x="389113" y="360444"/>
                  </a:lnTo>
                  <a:lnTo>
                    <a:pt x="374811" y="364655"/>
                  </a:lnTo>
                  <a:lnTo>
                    <a:pt x="368218" y="364655"/>
                  </a:lnTo>
                  <a:lnTo>
                    <a:pt x="365393" y="363713"/>
                  </a:lnTo>
                  <a:lnTo>
                    <a:pt x="365393" y="364655"/>
                  </a:lnTo>
                  <a:lnTo>
                    <a:pt x="363804" y="379466"/>
                  </a:lnTo>
                  <a:lnTo>
                    <a:pt x="356918" y="391981"/>
                  </a:lnTo>
                  <a:lnTo>
                    <a:pt x="345793" y="400962"/>
                  </a:lnTo>
                  <a:lnTo>
                    <a:pt x="331491" y="405172"/>
                  </a:lnTo>
                  <a:lnTo>
                    <a:pt x="323015" y="406115"/>
                  </a:lnTo>
                  <a:close/>
                </a:path>
              </a:pathLst>
            </a:custGeom>
            <a:solidFill>
              <a:srgbClr val="226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68904" y="5557397"/>
              <a:ext cx="188200" cy="22411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41974" y="56337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80" h="221614">
                  <a:moveTo>
                    <a:pt x="41436" y="159242"/>
                  </a:moveTo>
                  <a:lnTo>
                    <a:pt x="3855" y="138262"/>
                  </a:lnTo>
                  <a:lnTo>
                    <a:pt x="0" y="124496"/>
                  </a:lnTo>
                  <a:lnTo>
                    <a:pt x="1795" y="110200"/>
                  </a:lnTo>
                  <a:lnTo>
                    <a:pt x="83814" y="12249"/>
                  </a:lnTo>
                  <a:lnTo>
                    <a:pt x="115833" y="0"/>
                  </a:lnTo>
                  <a:lnTo>
                    <a:pt x="119600" y="942"/>
                  </a:lnTo>
                  <a:lnTo>
                    <a:pt x="120542" y="942"/>
                  </a:lnTo>
                  <a:lnTo>
                    <a:pt x="167069" y="11851"/>
                  </a:lnTo>
                  <a:lnTo>
                    <a:pt x="213774" y="21789"/>
                  </a:lnTo>
                  <a:lnTo>
                    <a:pt x="263303" y="24130"/>
                  </a:lnTo>
                  <a:lnTo>
                    <a:pt x="325568" y="24130"/>
                  </a:lnTo>
                  <a:lnTo>
                    <a:pt x="345949" y="57478"/>
                  </a:lnTo>
                  <a:lnTo>
                    <a:pt x="144085" y="57478"/>
                  </a:lnTo>
                  <a:lnTo>
                    <a:pt x="66863" y="146050"/>
                  </a:lnTo>
                  <a:lnTo>
                    <a:pt x="61433" y="151557"/>
                  </a:lnTo>
                  <a:lnTo>
                    <a:pt x="55209" y="155473"/>
                  </a:lnTo>
                  <a:lnTo>
                    <a:pt x="48455" y="157976"/>
                  </a:lnTo>
                  <a:lnTo>
                    <a:pt x="41436" y="159242"/>
                  </a:lnTo>
                  <a:close/>
                </a:path>
                <a:path w="398780" h="221614">
                  <a:moveTo>
                    <a:pt x="325568" y="24130"/>
                  </a:moveTo>
                  <a:lnTo>
                    <a:pt x="263303" y="24130"/>
                  </a:lnTo>
                  <a:lnTo>
                    <a:pt x="318306" y="12249"/>
                  </a:lnTo>
                  <a:lnTo>
                    <a:pt x="325568" y="24130"/>
                  </a:lnTo>
                  <a:close/>
                </a:path>
                <a:path w="398780" h="221614">
                  <a:moveTo>
                    <a:pt x="330549" y="221431"/>
                  </a:moveTo>
                  <a:lnTo>
                    <a:pt x="326782" y="215778"/>
                  </a:lnTo>
                  <a:lnTo>
                    <a:pt x="320190" y="209182"/>
                  </a:lnTo>
                  <a:lnTo>
                    <a:pt x="144085" y="57478"/>
                  </a:lnTo>
                  <a:lnTo>
                    <a:pt x="345949" y="57478"/>
                  </a:lnTo>
                  <a:lnTo>
                    <a:pt x="398354" y="143223"/>
                  </a:lnTo>
                  <a:lnTo>
                    <a:pt x="330549" y="221431"/>
                  </a:lnTo>
                  <a:close/>
                </a:path>
              </a:pathLst>
            </a:custGeom>
            <a:solidFill>
              <a:srgbClr val="226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815101" y="5454269"/>
            <a:ext cx="640715" cy="688340"/>
          </a:xfrm>
          <a:custGeom>
            <a:avLst/>
            <a:gdLst/>
            <a:ahLst/>
            <a:cxnLst/>
            <a:rect l="l" t="t" r="r" b="b"/>
            <a:pathLst>
              <a:path w="640714" h="688339">
                <a:moveTo>
                  <a:pt x="278434" y="387070"/>
                </a:moveTo>
                <a:lnTo>
                  <a:pt x="276567" y="377774"/>
                </a:lnTo>
                <a:lnTo>
                  <a:pt x="271449" y="370192"/>
                </a:lnTo>
                <a:lnTo>
                  <a:pt x="263867" y="365074"/>
                </a:lnTo>
                <a:lnTo>
                  <a:pt x="254584" y="363194"/>
                </a:lnTo>
                <a:lnTo>
                  <a:pt x="245300" y="365074"/>
                </a:lnTo>
                <a:lnTo>
                  <a:pt x="237718" y="370192"/>
                </a:lnTo>
                <a:lnTo>
                  <a:pt x="232600" y="377774"/>
                </a:lnTo>
                <a:lnTo>
                  <a:pt x="230733" y="387070"/>
                </a:lnTo>
                <a:lnTo>
                  <a:pt x="232613" y="396354"/>
                </a:lnTo>
                <a:lnTo>
                  <a:pt x="237731" y="403936"/>
                </a:lnTo>
                <a:lnTo>
                  <a:pt x="245300" y="409054"/>
                </a:lnTo>
                <a:lnTo>
                  <a:pt x="254584" y="410933"/>
                </a:lnTo>
                <a:lnTo>
                  <a:pt x="263867" y="409054"/>
                </a:lnTo>
                <a:lnTo>
                  <a:pt x="271449" y="403948"/>
                </a:lnTo>
                <a:lnTo>
                  <a:pt x="276567" y="396354"/>
                </a:lnTo>
                <a:lnTo>
                  <a:pt x="278434" y="387070"/>
                </a:lnTo>
                <a:close/>
              </a:path>
              <a:path w="640714" h="688339">
                <a:moveTo>
                  <a:pt x="409663" y="518363"/>
                </a:moveTo>
                <a:lnTo>
                  <a:pt x="407771" y="509079"/>
                </a:lnTo>
                <a:lnTo>
                  <a:pt x="402666" y="501497"/>
                </a:lnTo>
                <a:lnTo>
                  <a:pt x="395084" y="496379"/>
                </a:lnTo>
                <a:lnTo>
                  <a:pt x="385800" y="494499"/>
                </a:lnTo>
                <a:lnTo>
                  <a:pt x="376516" y="496366"/>
                </a:lnTo>
                <a:lnTo>
                  <a:pt x="368935" y="501484"/>
                </a:lnTo>
                <a:lnTo>
                  <a:pt x="363829" y="509066"/>
                </a:lnTo>
                <a:lnTo>
                  <a:pt x="361950" y="518363"/>
                </a:lnTo>
                <a:lnTo>
                  <a:pt x="363829" y="527646"/>
                </a:lnTo>
                <a:lnTo>
                  <a:pt x="368935" y="535241"/>
                </a:lnTo>
                <a:lnTo>
                  <a:pt x="376516" y="540359"/>
                </a:lnTo>
                <a:lnTo>
                  <a:pt x="385800" y="542226"/>
                </a:lnTo>
                <a:lnTo>
                  <a:pt x="395097" y="540359"/>
                </a:lnTo>
                <a:lnTo>
                  <a:pt x="402678" y="535241"/>
                </a:lnTo>
                <a:lnTo>
                  <a:pt x="407784" y="527646"/>
                </a:lnTo>
                <a:lnTo>
                  <a:pt x="409663" y="518363"/>
                </a:lnTo>
                <a:close/>
              </a:path>
              <a:path w="640714" h="688339">
                <a:moveTo>
                  <a:pt x="490728" y="20574"/>
                </a:moveTo>
                <a:lnTo>
                  <a:pt x="470230" y="1752"/>
                </a:lnTo>
                <a:lnTo>
                  <a:pt x="464324" y="3644"/>
                </a:lnTo>
                <a:lnTo>
                  <a:pt x="395414" y="38112"/>
                </a:lnTo>
                <a:lnTo>
                  <a:pt x="323202" y="1981"/>
                </a:lnTo>
                <a:lnTo>
                  <a:pt x="316953" y="1981"/>
                </a:lnTo>
                <a:lnTo>
                  <a:pt x="244741" y="38112"/>
                </a:lnTo>
                <a:lnTo>
                  <a:pt x="175628" y="3581"/>
                </a:lnTo>
                <a:lnTo>
                  <a:pt x="169024" y="0"/>
                </a:lnTo>
                <a:lnTo>
                  <a:pt x="160858" y="1155"/>
                </a:lnTo>
                <a:lnTo>
                  <a:pt x="155498" y="6413"/>
                </a:lnTo>
                <a:lnTo>
                  <a:pt x="150469" y="11798"/>
                </a:lnTo>
                <a:lnTo>
                  <a:pt x="149072" y="19621"/>
                </a:lnTo>
                <a:lnTo>
                  <a:pt x="207276" y="160616"/>
                </a:lnTo>
                <a:lnTo>
                  <a:pt x="432879" y="160616"/>
                </a:lnTo>
                <a:lnTo>
                  <a:pt x="490728" y="20574"/>
                </a:lnTo>
                <a:close/>
              </a:path>
              <a:path w="640714" h="688339">
                <a:moveTo>
                  <a:pt x="640384" y="499833"/>
                </a:moveTo>
                <a:lnTo>
                  <a:pt x="635774" y="452742"/>
                </a:lnTo>
                <a:lnTo>
                  <a:pt x="622769" y="410337"/>
                </a:lnTo>
                <a:lnTo>
                  <a:pt x="602589" y="371614"/>
                </a:lnTo>
                <a:lnTo>
                  <a:pt x="576478" y="335584"/>
                </a:lnTo>
                <a:lnTo>
                  <a:pt x="575894" y="334937"/>
                </a:lnTo>
                <a:lnTo>
                  <a:pt x="545680" y="301244"/>
                </a:lnTo>
                <a:lnTo>
                  <a:pt x="511403" y="267576"/>
                </a:lnTo>
                <a:lnTo>
                  <a:pt x="474903" y="233603"/>
                </a:lnTo>
                <a:lnTo>
                  <a:pt x="437908" y="198793"/>
                </a:lnTo>
                <a:lnTo>
                  <a:pt x="437908" y="518363"/>
                </a:lnTo>
                <a:lnTo>
                  <a:pt x="433793" y="538645"/>
                </a:lnTo>
                <a:lnTo>
                  <a:pt x="422630" y="555205"/>
                </a:lnTo>
                <a:lnTo>
                  <a:pt x="406069" y="566381"/>
                </a:lnTo>
                <a:lnTo>
                  <a:pt x="385800" y="570496"/>
                </a:lnTo>
                <a:lnTo>
                  <a:pt x="365493" y="566381"/>
                </a:lnTo>
                <a:lnTo>
                  <a:pt x="355206" y="559447"/>
                </a:lnTo>
                <a:lnTo>
                  <a:pt x="348945" y="555205"/>
                </a:lnTo>
                <a:lnTo>
                  <a:pt x="337794" y="538645"/>
                </a:lnTo>
                <a:lnTo>
                  <a:pt x="333705" y="518363"/>
                </a:lnTo>
                <a:lnTo>
                  <a:pt x="337794" y="498068"/>
                </a:lnTo>
                <a:lnTo>
                  <a:pt x="365518" y="470319"/>
                </a:lnTo>
                <a:lnTo>
                  <a:pt x="406095" y="470319"/>
                </a:lnTo>
                <a:lnTo>
                  <a:pt x="433819" y="498068"/>
                </a:lnTo>
                <a:lnTo>
                  <a:pt x="437908" y="518363"/>
                </a:lnTo>
                <a:lnTo>
                  <a:pt x="437908" y="198793"/>
                </a:lnTo>
                <a:lnTo>
                  <a:pt x="437388" y="198297"/>
                </a:lnTo>
                <a:lnTo>
                  <a:pt x="423405" y="198297"/>
                </a:lnTo>
                <a:lnTo>
                  <a:pt x="423405" y="369417"/>
                </a:lnTo>
                <a:lnTo>
                  <a:pt x="233502" y="559447"/>
                </a:lnTo>
                <a:lnTo>
                  <a:pt x="213525" y="539457"/>
                </a:lnTo>
                <a:lnTo>
                  <a:pt x="313715" y="439204"/>
                </a:lnTo>
                <a:lnTo>
                  <a:pt x="403440" y="349427"/>
                </a:lnTo>
                <a:lnTo>
                  <a:pt x="423405" y="369417"/>
                </a:lnTo>
                <a:lnTo>
                  <a:pt x="423405" y="198297"/>
                </a:lnTo>
                <a:lnTo>
                  <a:pt x="306692" y="198297"/>
                </a:lnTo>
                <a:lnTo>
                  <a:pt x="306692" y="387070"/>
                </a:lnTo>
                <a:lnTo>
                  <a:pt x="302590" y="407365"/>
                </a:lnTo>
                <a:lnTo>
                  <a:pt x="291426" y="423938"/>
                </a:lnTo>
                <a:lnTo>
                  <a:pt x="274866" y="435102"/>
                </a:lnTo>
                <a:lnTo>
                  <a:pt x="254584" y="439204"/>
                </a:lnTo>
                <a:lnTo>
                  <a:pt x="234302" y="435102"/>
                </a:lnTo>
                <a:lnTo>
                  <a:pt x="217741" y="423938"/>
                </a:lnTo>
                <a:lnTo>
                  <a:pt x="206578" y="407365"/>
                </a:lnTo>
                <a:lnTo>
                  <a:pt x="202476" y="387070"/>
                </a:lnTo>
                <a:lnTo>
                  <a:pt x="206603" y="366776"/>
                </a:lnTo>
                <a:lnTo>
                  <a:pt x="217792" y="350202"/>
                </a:lnTo>
                <a:lnTo>
                  <a:pt x="234403" y="339026"/>
                </a:lnTo>
                <a:lnTo>
                  <a:pt x="254584" y="334937"/>
                </a:lnTo>
                <a:lnTo>
                  <a:pt x="274866" y="339026"/>
                </a:lnTo>
                <a:lnTo>
                  <a:pt x="291426" y="350202"/>
                </a:lnTo>
                <a:lnTo>
                  <a:pt x="302590" y="366776"/>
                </a:lnTo>
                <a:lnTo>
                  <a:pt x="306692" y="387070"/>
                </a:lnTo>
                <a:lnTo>
                  <a:pt x="306692" y="198297"/>
                </a:lnTo>
                <a:lnTo>
                  <a:pt x="202996" y="198297"/>
                </a:lnTo>
                <a:lnTo>
                  <a:pt x="165493" y="233603"/>
                </a:lnTo>
                <a:lnTo>
                  <a:pt x="128981" y="267576"/>
                </a:lnTo>
                <a:lnTo>
                  <a:pt x="94716" y="301244"/>
                </a:lnTo>
                <a:lnTo>
                  <a:pt x="63906" y="335584"/>
                </a:lnTo>
                <a:lnTo>
                  <a:pt x="37795" y="371614"/>
                </a:lnTo>
                <a:lnTo>
                  <a:pt x="17627" y="410337"/>
                </a:lnTo>
                <a:lnTo>
                  <a:pt x="4610" y="452742"/>
                </a:lnTo>
                <a:lnTo>
                  <a:pt x="0" y="499833"/>
                </a:lnTo>
                <a:lnTo>
                  <a:pt x="4940" y="551357"/>
                </a:lnTo>
                <a:lnTo>
                  <a:pt x="19926" y="595287"/>
                </a:lnTo>
                <a:lnTo>
                  <a:pt x="45212" y="631774"/>
                </a:lnTo>
                <a:lnTo>
                  <a:pt x="81038" y="660908"/>
                </a:lnTo>
                <a:lnTo>
                  <a:pt x="127660" y="682853"/>
                </a:lnTo>
                <a:lnTo>
                  <a:pt x="159321" y="688276"/>
                </a:lnTo>
                <a:lnTo>
                  <a:pt x="481063" y="688276"/>
                </a:lnTo>
                <a:lnTo>
                  <a:pt x="559346" y="660908"/>
                </a:lnTo>
                <a:lnTo>
                  <a:pt x="595172" y="631774"/>
                </a:lnTo>
                <a:lnTo>
                  <a:pt x="620458" y="595287"/>
                </a:lnTo>
                <a:lnTo>
                  <a:pt x="635444" y="551357"/>
                </a:lnTo>
                <a:lnTo>
                  <a:pt x="640384" y="499833"/>
                </a:lnTo>
                <a:close/>
              </a:path>
            </a:pathLst>
          </a:custGeom>
          <a:solidFill>
            <a:srgbClr val="22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71619" y="5459541"/>
            <a:ext cx="716280" cy="678815"/>
          </a:xfrm>
          <a:custGeom>
            <a:avLst/>
            <a:gdLst/>
            <a:ahLst/>
            <a:cxnLst/>
            <a:rect l="l" t="t" r="r" b="b"/>
            <a:pathLst>
              <a:path w="716279" h="678814">
                <a:moveTo>
                  <a:pt x="649798" y="179029"/>
                </a:moveTo>
                <a:lnTo>
                  <a:pt x="65921" y="179029"/>
                </a:lnTo>
                <a:lnTo>
                  <a:pt x="357859" y="0"/>
                </a:lnTo>
                <a:lnTo>
                  <a:pt x="496146" y="84803"/>
                </a:lnTo>
                <a:lnTo>
                  <a:pt x="348442" y="84803"/>
                </a:lnTo>
                <a:lnTo>
                  <a:pt x="333816" y="87777"/>
                </a:lnTo>
                <a:lnTo>
                  <a:pt x="321838" y="95875"/>
                </a:lnTo>
                <a:lnTo>
                  <a:pt x="313745" y="107859"/>
                </a:lnTo>
                <a:lnTo>
                  <a:pt x="310773" y="122494"/>
                </a:lnTo>
                <a:lnTo>
                  <a:pt x="313745" y="137128"/>
                </a:lnTo>
                <a:lnTo>
                  <a:pt x="321838" y="149113"/>
                </a:lnTo>
                <a:lnTo>
                  <a:pt x="333816" y="157210"/>
                </a:lnTo>
                <a:lnTo>
                  <a:pt x="348442" y="160184"/>
                </a:lnTo>
                <a:lnTo>
                  <a:pt x="619067" y="160184"/>
                </a:lnTo>
                <a:lnTo>
                  <a:pt x="649798" y="179029"/>
                </a:lnTo>
                <a:close/>
              </a:path>
              <a:path w="716279" h="678814">
                <a:moveTo>
                  <a:pt x="619067" y="160184"/>
                </a:moveTo>
                <a:lnTo>
                  <a:pt x="348442" y="160184"/>
                </a:lnTo>
                <a:lnTo>
                  <a:pt x="363068" y="157210"/>
                </a:lnTo>
                <a:lnTo>
                  <a:pt x="375046" y="149113"/>
                </a:lnTo>
                <a:lnTo>
                  <a:pt x="383139" y="137128"/>
                </a:lnTo>
                <a:lnTo>
                  <a:pt x="386111" y="122494"/>
                </a:lnTo>
                <a:lnTo>
                  <a:pt x="383139" y="107859"/>
                </a:lnTo>
                <a:lnTo>
                  <a:pt x="375046" y="95875"/>
                </a:lnTo>
                <a:lnTo>
                  <a:pt x="363068" y="87777"/>
                </a:lnTo>
                <a:lnTo>
                  <a:pt x="348442" y="84803"/>
                </a:lnTo>
                <a:lnTo>
                  <a:pt x="496146" y="84803"/>
                </a:lnTo>
                <a:lnTo>
                  <a:pt x="619067" y="160184"/>
                </a:lnTo>
                <a:close/>
              </a:path>
              <a:path w="716279" h="678814">
                <a:moveTo>
                  <a:pt x="678050" y="235565"/>
                </a:moveTo>
                <a:lnTo>
                  <a:pt x="37669" y="235565"/>
                </a:lnTo>
                <a:lnTo>
                  <a:pt x="37669" y="179029"/>
                </a:lnTo>
                <a:lnTo>
                  <a:pt x="678050" y="179029"/>
                </a:lnTo>
                <a:lnTo>
                  <a:pt x="678050" y="235565"/>
                </a:lnTo>
                <a:close/>
              </a:path>
              <a:path w="716279" h="678814">
                <a:moveTo>
                  <a:pt x="649798" y="254410"/>
                </a:moveTo>
                <a:lnTo>
                  <a:pt x="65921" y="254410"/>
                </a:lnTo>
                <a:lnTo>
                  <a:pt x="65921" y="235565"/>
                </a:lnTo>
                <a:lnTo>
                  <a:pt x="649798" y="235565"/>
                </a:lnTo>
                <a:lnTo>
                  <a:pt x="649798" y="254410"/>
                </a:lnTo>
                <a:close/>
              </a:path>
              <a:path w="716279" h="678814">
                <a:moveTo>
                  <a:pt x="160095" y="574780"/>
                </a:moveTo>
                <a:lnTo>
                  <a:pt x="103591" y="574780"/>
                </a:lnTo>
                <a:lnTo>
                  <a:pt x="103591" y="254410"/>
                </a:lnTo>
                <a:lnTo>
                  <a:pt x="160095" y="254410"/>
                </a:lnTo>
                <a:lnTo>
                  <a:pt x="160095" y="574780"/>
                </a:lnTo>
                <a:close/>
              </a:path>
              <a:path w="716279" h="678814">
                <a:moveTo>
                  <a:pt x="273103" y="574780"/>
                </a:moveTo>
                <a:lnTo>
                  <a:pt x="216599" y="574780"/>
                </a:lnTo>
                <a:lnTo>
                  <a:pt x="216599" y="254410"/>
                </a:lnTo>
                <a:lnTo>
                  <a:pt x="273103" y="254410"/>
                </a:lnTo>
                <a:lnTo>
                  <a:pt x="273103" y="574780"/>
                </a:lnTo>
                <a:close/>
              </a:path>
              <a:path w="716279" h="678814">
                <a:moveTo>
                  <a:pt x="386111" y="574780"/>
                </a:moveTo>
                <a:lnTo>
                  <a:pt x="329607" y="574780"/>
                </a:lnTo>
                <a:lnTo>
                  <a:pt x="329607" y="254410"/>
                </a:lnTo>
                <a:lnTo>
                  <a:pt x="386111" y="254410"/>
                </a:lnTo>
                <a:lnTo>
                  <a:pt x="386111" y="574780"/>
                </a:lnTo>
                <a:close/>
              </a:path>
              <a:path w="716279" h="678814">
                <a:moveTo>
                  <a:pt x="499120" y="574780"/>
                </a:moveTo>
                <a:lnTo>
                  <a:pt x="442616" y="574780"/>
                </a:lnTo>
                <a:lnTo>
                  <a:pt x="442616" y="254410"/>
                </a:lnTo>
                <a:lnTo>
                  <a:pt x="499120" y="254410"/>
                </a:lnTo>
                <a:lnTo>
                  <a:pt x="499120" y="574780"/>
                </a:lnTo>
                <a:close/>
              </a:path>
              <a:path w="716279" h="678814">
                <a:moveTo>
                  <a:pt x="612128" y="574780"/>
                </a:moveTo>
                <a:lnTo>
                  <a:pt x="555624" y="574780"/>
                </a:lnTo>
                <a:lnTo>
                  <a:pt x="555624" y="254410"/>
                </a:lnTo>
                <a:lnTo>
                  <a:pt x="612128" y="254410"/>
                </a:lnTo>
                <a:lnTo>
                  <a:pt x="612128" y="574780"/>
                </a:lnTo>
                <a:close/>
              </a:path>
              <a:path w="716279" h="678814">
                <a:moveTo>
                  <a:pt x="715719" y="678429"/>
                </a:moveTo>
                <a:lnTo>
                  <a:pt x="0" y="678429"/>
                </a:lnTo>
                <a:lnTo>
                  <a:pt x="0" y="640738"/>
                </a:lnTo>
                <a:lnTo>
                  <a:pt x="65921" y="593625"/>
                </a:lnTo>
                <a:lnTo>
                  <a:pt x="65921" y="574780"/>
                </a:lnTo>
                <a:lnTo>
                  <a:pt x="649798" y="574780"/>
                </a:lnTo>
                <a:lnTo>
                  <a:pt x="649798" y="593625"/>
                </a:lnTo>
                <a:lnTo>
                  <a:pt x="715719" y="640738"/>
                </a:lnTo>
                <a:lnTo>
                  <a:pt x="715719" y="678429"/>
                </a:lnTo>
                <a:close/>
              </a:path>
            </a:pathLst>
          </a:custGeom>
          <a:solidFill>
            <a:srgbClr val="22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266</Words>
  <Application>Microsoft Macintosh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PowerPoint Presentation</vt:lpstr>
      <vt:lpstr>Background: TransformTO</vt:lpstr>
      <vt:lpstr>TransformTO</vt:lpstr>
      <vt:lpstr>GHG Emissions in Toronto Buildings</vt:lpstr>
      <vt:lpstr>GHG Emissions in Toronto</vt:lpstr>
      <vt:lpstr>PowerPoint Presentation</vt:lpstr>
      <vt:lpstr>Strategy Recommended Actions</vt:lpstr>
      <vt:lpstr>Key benefits</vt:lpstr>
      <vt:lpstr>City of Toronto Net Zero Buildings Programs &amp; Policies</vt:lpstr>
    </vt:vector>
  </TitlesOfParts>
  <Company>City of Toronto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Strategies and Practices II Design Course</dc:title>
  <dc:creator>Meghan Murray</dc:creator>
  <cp:lastModifiedBy>Edimaobong Udo</cp:lastModifiedBy>
  <cp:revision>1</cp:revision>
  <dcterms:created xsi:type="dcterms:W3CDTF">2025-12-18T18:57:31Z</dcterms:created>
  <dcterms:modified xsi:type="dcterms:W3CDTF">2025-12-19T21:18:01Z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2024-03-18T00:00:00Z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2025-12-18T00:00:00Z</vt:filetime>
  </property>
  <property fmtid="{D5CDD505-2E9C-101B-9397-08002B2CF9AE}" pid="5" name="Producer">
    <vt:lpwstr>Adobe PDF Library 23.8.53</vt:lpwstr>
  </property>
</Properties>
</file>