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01" r:id="rId2"/>
    <p:sldId id="424" r:id="rId3"/>
    <p:sldId id="428" r:id="rId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C00000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" initials="EU" lastIdx="1" clrIdx="0">
    <p:extLst>
      <p:ext uri="{19B8F6BF-5375-455C-9EA6-DF929625EA0E}">
        <p15:presenceInfo xmlns:p15="http://schemas.microsoft.com/office/powerpoint/2012/main" userId="E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0000"/>
    <a:srgbClr val="FCD64D"/>
    <a:srgbClr val="FFFF99"/>
    <a:srgbClr val="F65F22"/>
    <a:srgbClr val="FFFF47"/>
    <a:srgbClr val="0097E2"/>
    <a:srgbClr val="99CCFF"/>
    <a:srgbClr val="CCEC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23" autoAdjust="0"/>
    <p:restoredTop sz="95687" autoAdjust="0"/>
  </p:normalViewPr>
  <p:slideViewPr>
    <p:cSldViewPr snapToGrid="0">
      <p:cViewPr varScale="1">
        <p:scale>
          <a:sx n="131" d="100"/>
          <a:sy n="131" d="100"/>
        </p:scale>
        <p:origin x="1696" y="184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-2514" y="-84"/>
      </p:cViewPr>
      <p:guideLst>
        <p:guide orient="horz" pos="2928"/>
        <p:guide pos="2208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Collections Framework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2A5A0C3C-CA57-453F-8927-7BB7BD13671E}" type="datetimeFigureOut">
              <a:rPr lang="en-US"/>
              <a:pPr>
                <a:defRPr/>
              </a:pPr>
              <a:t>12/13/25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4F34A0A7-51F6-4301-81B2-BA5FAB725D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89714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Collections Framework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1C69169-C853-4C08-B868-29B671633EB0}" type="datetimeFigureOut">
              <a:rPr lang="en-US"/>
              <a:pPr>
                <a:defRPr/>
              </a:pPr>
              <a:t>12/13/25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3" rIns="91427" bIns="4571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27" tIns="45713" rIns="91427" bIns="45713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96D9EC78-152C-4A12-BED8-759FEBB618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0687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 userDrawn="1"/>
        </p:nvSpPr>
        <p:spPr bwMode="auto">
          <a:xfrm>
            <a:off x="457200" y="741363"/>
            <a:ext cx="822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6537325"/>
            <a:ext cx="9144000" cy="0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9A782-897E-4EF7-B963-C233F3A56D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23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 userDrawn="1"/>
        </p:nvSpPr>
        <p:spPr bwMode="auto">
          <a:xfrm>
            <a:off x="457200" y="741363"/>
            <a:ext cx="822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5" name="Line 7"/>
          <p:cNvSpPr>
            <a:spLocks noChangeShapeType="1"/>
          </p:cNvSpPr>
          <p:nvPr userDrawn="1"/>
        </p:nvSpPr>
        <p:spPr bwMode="auto">
          <a:xfrm>
            <a:off x="0" y="6537325"/>
            <a:ext cx="9144000" cy="0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1385"/>
            <a:ext cx="8229600" cy="563562"/>
          </a:xfr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505200" y="651986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9F20B-3FEE-49B8-A509-019141A245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7"/>
          <p:cNvSpPr>
            <a:spLocks noChangeShapeType="1"/>
          </p:cNvSpPr>
          <p:nvPr userDrawn="1"/>
        </p:nvSpPr>
        <p:spPr bwMode="auto">
          <a:xfrm>
            <a:off x="457200" y="838200"/>
            <a:ext cx="82296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0" y="6537325"/>
            <a:ext cx="9144000" cy="0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4040188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668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828800"/>
            <a:ext cx="4041775" cy="42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117ED-7DD8-4E9A-9C68-77D9875104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8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D61944-1174-4CB2-9A8F-CA53DB95ED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47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316D7-8147-444B-88D6-203116B4D1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6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CA7F3-D010-45E6-946A-FD23674DB2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09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6025"/>
            <a:ext cx="20574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A9204-5737-4AEF-8FA8-1FCCA912DA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35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25AAD-9CEE-4DA2-875E-1A4BD11E09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059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00" b="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ACD06-DC43-4F2E-AB5E-351083B979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5E7D74-9C27-4CA3-9B9D-C31B8B2769A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095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05200" y="648176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45E7D74-9C27-4CA3-9B9D-C31B8B2769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0" name="Picture 7" descr="scotiabank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6578600"/>
            <a:ext cx="10668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2" r:id="rId4"/>
    <p:sldLayoutId id="2147483673" r:id="rId5"/>
    <p:sldLayoutId id="2147483674" r:id="rId6"/>
    <p:sldLayoutId id="2147483679" r:id="rId7"/>
    <p:sldLayoutId id="2147483675" r:id="rId8"/>
    <p:sldLayoutId id="2147483680" r:id="rId9"/>
    <p:sldLayoutId id="2147483681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16987"/>
            <a:ext cx="7772400" cy="1470025"/>
          </a:xfrm>
        </p:spPr>
        <p:txBody>
          <a:bodyPr/>
          <a:lstStyle/>
          <a:p>
            <a:pPr algn="ctr"/>
            <a:r>
              <a:rPr lang="en-US" dirty="0"/>
              <a:t>Credit Risk Analytics</a:t>
            </a:r>
          </a:p>
        </p:txBody>
      </p:sp>
    </p:spTree>
    <p:extLst>
      <p:ext uri="{BB962C8B-B14F-4D97-AF65-F5344CB8AC3E}">
        <p14:creationId xmlns:p14="http://schemas.microsoft.com/office/powerpoint/2010/main" val="220713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432E-9097-1E73-591B-A4C03888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Risk Portfolio Snapshot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8954-3D5D-2BD2-1A34-39D1A3FA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153400" cy="513556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Credit risk in the portfolio is 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driven primarily by utilization behavior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,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A meaningful portion of accounts remain 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current but highly utilized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, representing latent risk.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Exposure is </a:t>
            </a: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concentrated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, with higher median credit limits in weaker score segments.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Product behavior differs: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Cards: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 higher delinquency incidence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CA" sz="1800" b="1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Lines: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Helvetica" pitchFamily="2" charset="0"/>
              </a:rPr>
              <a:t> higher exposure and loss severity</a:t>
            </a:r>
          </a:p>
          <a:p>
            <a:pPr marL="0" indent="0" algn="l">
              <a:buNone/>
            </a:pPr>
            <a:endParaRPr lang="en-CA" b="1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1E9BE-3B0A-CBA9-0ACB-27CB643ED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89F20B-3FEE-49B8-A509-019141A2453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CADE6D-8830-0606-7BD9-FD4B2AC00AF7}"/>
              </a:ext>
            </a:extLst>
          </p:cNvPr>
          <p:cNvSpPr txBox="1">
            <a:spLocks/>
          </p:cNvSpPr>
          <p:nvPr/>
        </p:nvSpPr>
        <p:spPr bwMode="auto">
          <a:xfrm>
            <a:off x="533400" y="3722940"/>
            <a:ext cx="7887511" cy="16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sz="1800" dirty="0">
                <a:solidFill>
                  <a:srgbClr val="C00000"/>
                </a:solidFill>
                <a:latin typeface="Helvetica" pitchFamily="2" charset="0"/>
              </a:rPr>
              <a:t>Key Implication</a:t>
            </a:r>
            <a:r>
              <a:rPr lang="en-CA" sz="1800" b="0" dirty="0">
                <a:solidFill>
                  <a:srgbClr val="000000"/>
                </a:solidFill>
                <a:latin typeface="Helvetica" pitchFamily="2" charset="0"/>
              </a:rPr>
              <a:t>: Monitoring delinquency alone is insufficient; early warning indicators must be prioritized.</a:t>
            </a:r>
          </a:p>
          <a:p>
            <a:pPr marL="0" indent="0">
              <a:buFont typeface="Arial" charset="0"/>
              <a:buNone/>
            </a:pPr>
            <a:endParaRPr lang="en-CA" b="1" dirty="0">
              <a:solidFill>
                <a:srgbClr val="000000"/>
              </a:solidFill>
            </a:endParaRP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9320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B50E-19F5-30AE-A2CE-9DD12812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&amp; Action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86FE-E5A4-0803-0F92-1B9D8DB97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4040188" cy="372894"/>
          </a:xfrm>
        </p:spPr>
        <p:txBody>
          <a:bodyPr/>
          <a:lstStyle/>
          <a:p>
            <a:r>
              <a:rPr lang="en-US" sz="2000" dirty="0"/>
              <a:t>Key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761C2-D048-18E2-CC7B-8CD8F77A3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439694"/>
            <a:ext cx="4040188" cy="3122579"/>
          </a:xfrm>
        </p:spPr>
        <p:txBody>
          <a:bodyPr/>
          <a:lstStyle/>
          <a:p>
            <a:r>
              <a:rPr lang="en-CA" sz="1800" dirty="0"/>
              <a:t>High utilization accounts (&gt;70%) show elevated delinquency migration risk.</a:t>
            </a:r>
          </a:p>
          <a:p>
            <a:r>
              <a:rPr lang="en-CA" sz="1800" dirty="0"/>
              <a:t>Median credit limits remain materially high in non-prime score bands.</a:t>
            </a:r>
          </a:p>
          <a:p>
            <a:r>
              <a:rPr lang="en-CA" sz="1800" dirty="0"/>
              <a:t>New and mid-tenure accounts exhibit greater instability.</a:t>
            </a:r>
          </a:p>
          <a:p>
            <a:r>
              <a:rPr lang="en-CA" sz="1800" dirty="0"/>
              <a:t>Severe roll accounts represent a small share of volume but outsized risk.</a:t>
            </a:r>
          </a:p>
          <a:p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80090-95CA-B627-BAEC-FF1A4D809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066800"/>
            <a:ext cx="4041775" cy="372894"/>
          </a:xfrm>
        </p:spPr>
        <p:txBody>
          <a:bodyPr/>
          <a:lstStyle/>
          <a:p>
            <a:r>
              <a:rPr lang="en-US" sz="2000" dirty="0"/>
              <a:t>Recommendations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73D32-0119-0B78-2B18-2A906B0564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439694"/>
            <a:ext cx="4041775" cy="3122579"/>
          </a:xfrm>
        </p:spPr>
        <p:txBody>
          <a:bodyPr/>
          <a:lstStyle/>
          <a:p>
            <a:r>
              <a:rPr lang="en-CA" sz="1800" dirty="0"/>
              <a:t>Introduce utilization-based early warning thresholds</a:t>
            </a:r>
          </a:p>
          <a:p>
            <a:r>
              <a:rPr lang="en-CA" sz="1800" dirty="0"/>
              <a:t>Apply score- and tenure-based exposure controls</a:t>
            </a:r>
          </a:p>
          <a:p>
            <a:r>
              <a:rPr lang="en-CA" sz="1800" dirty="0"/>
              <a:t>Differentiate strategies for Cards vs Lines</a:t>
            </a:r>
          </a:p>
          <a:p>
            <a:r>
              <a:rPr lang="en-CA" sz="1800" dirty="0"/>
              <a:t>Prioritize proactive intervention before delinquency</a:t>
            </a:r>
          </a:p>
          <a:p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BA60-E748-AB5F-4641-B8D312334E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F7117ED-7DD8-4E9A-9C68-77D9875104F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9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88231</TotalTime>
  <Words>156</Words>
  <Application>Microsoft Macintosh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Helvetica</vt:lpstr>
      <vt:lpstr>Office Theme</vt:lpstr>
      <vt:lpstr>Credit Risk Analytics</vt:lpstr>
      <vt:lpstr>Credit Risk Portfolio Snapshot</vt:lpstr>
      <vt:lpstr>Key Insights &amp; Action Steps</vt:lpstr>
    </vt:vector>
  </TitlesOfParts>
  <Company>Scotiabank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</dc:title>
  <dc:creator>Kingsley Chak</dc:creator>
  <cp:lastModifiedBy>Edimaobong Udo</cp:lastModifiedBy>
  <cp:revision>2716</cp:revision>
  <cp:lastPrinted>2014-09-18T20:40:14Z</cp:lastPrinted>
  <dcterms:created xsi:type="dcterms:W3CDTF">2011-06-20T20:41:31Z</dcterms:created>
  <dcterms:modified xsi:type="dcterms:W3CDTF">2025-12-13T19:41:46Z</dcterms:modified>
</cp:coreProperties>
</file>