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21"/>
  </p:notesMasterIdLst>
  <p:sldIdLst>
    <p:sldId id="256" r:id="rId2"/>
    <p:sldId id="261" r:id="rId3"/>
    <p:sldId id="272" r:id="rId4"/>
    <p:sldId id="267" r:id="rId5"/>
    <p:sldId id="281" r:id="rId6"/>
    <p:sldId id="282" r:id="rId7"/>
    <p:sldId id="271" r:id="rId8"/>
    <p:sldId id="265" r:id="rId9"/>
    <p:sldId id="275" r:id="rId10"/>
    <p:sldId id="276" r:id="rId11"/>
    <p:sldId id="277" r:id="rId12"/>
    <p:sldId id="278" r:id="rId13"/>
    <p:sldId id="279" r:id="rId14"/>
    <p:sldId id="280" r:id="rId15"/>
    <p:sldId id="283" r:id="rId16"/>
    <p:sldId id="284" r:id="rId17"/>
    <p:sldId id="285" r:id="rId18"/>
    <p:sldId id="286" r:id="rId19"/>
    <p:sldId id="287" r:id="rId20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Montserrat" pitchFamily="2" charset="77"/>
      <p:regular r:id="rId26"/>
      <p:bold r:id="rId27"/>
      <p:italic r:id="rId28"/>
      <p:boldItalic r:id="rId29"/>
    </p:embeddedFont>
    <p:embeddedFont>
      <p:font typeface="Nunito" pitchFamily="2" charset="77"/>
      <p:regular r:id="rId30"/>
      <p:bold r:id="rId31"/>
      <p:italic r:id="rId32"/>
      <p:boldItalic r:id="rId33"/>
    </p:embeddedFont>
    <p:embeddedFont>
      <p:font typeface="Playfair Display" pitchFamily="2" charset="77"/>
      <p:regular r:id="rId34"/>
      <p:bold r:id="rId35"/>
      <p:italic r:id="rId36"/>
      <p:boldItalic r:id="rId37"/>
    </p:embeddedFont>
    <p:embeddedFont>
      <p:font typeface="Playfair Display Medium" pitchFamily="2" charset="77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56"/>
    <p:restoredTop sz="94674"/>
  </p:normalViewPr>
  <p:slideViewPr>
    <p:cSldViewPr snapToGrid="0">
      <p:cViewPr varScale="1">
        <p:scale>
          <a:sx n="165" d="100"/>
          <a:sy n="165" d="100"/>
        </p:scale>
        <p:origin x="30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font" Target="fonts/font18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font" Target="fonts/font19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font" Target="fonts/font17.fntdata"/><Relationship Id="rId20" Type="http://schemas.openxmlformats.org/officeDocument/2006/relationships/slide" Target="slides/slide19.xml"/><Relationship Id="rId41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c14d693505_1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2c14d693505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c14d693505_1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2c14d693505_1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c14d693505_1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g2c14d693505_1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6087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c14d693505_1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g2c14d693505_1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c14d693505_1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g2c14d693505_1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22363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c14d693505_1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g2c14d693505_1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71353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c14d693505_1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g2c14d693505_1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59329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c14d693505_1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g2c14d693505_1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c14d693505_1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g2c14d693505_1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5214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c14d693505_1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g2c14d693505_1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63010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c14d693505_1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g2c14d693505_1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2965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c14d693505_1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g2c14d693505_1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91954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c14d693505_1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g2c14d693505_1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75413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c14d693505_1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g2c14d693505_1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69850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c14d693505_1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g2c14d693505_1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03337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c14d693505_1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g2c14d693505_1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53796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c14d693505_1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g2c14d693505_1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468220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c14d693505_1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g2c14d693505_1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614904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c14d693505_1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g2c14d693505_1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9800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>
            <a:spLocks noGrp="1"/>
          </p:cNvSpPr>
          <p:nvPr>
            <p:ph type="pic" idx="2"/>
          </p:nvPr>
        </p:nvSpPr>
        <p:spPr>
          <a:xfrm>
            <a:off x="50" y="-16575"/>
            <a:ext cx="9144000" cy="5176800"/>
          </a:xfrm>
          <a:prstGeom prst="rect">
            <a:avLst/>
          </a:prstGeom>
          <a:noFill/>
          <a:ln>
            <a:noFill/>
          </a:ln>
        </p:spPr>
      </p:sp>
      <p:sp>
        <p:nvSpPr>
          <p:cNvPr id="11" name="Google Shape;11;p2"/>
          <p:cNvSpPr>
            <a:spLocks noGrp="1"/>
          </p:cNvSpPr>
          <p:nvPr>
            <p:ph type="pic" idx="3"/>
          </p:nvPr>
        </p:nvSpPr>
        <p:spPr>
          <a:xfrm>
            <a:off x="-950" y="-24525"/>
            <a:ext cx="9144000" cy="5176800"/>
          </a:xfrm>
          <a:prstGeom prst="rect">
            <a:avLst/>
          </a:prstGeom>
          <a:noFill/>
          <a:ln>
            <a:noFill/>
          </a:ln>
        </p:spPr>
      </p:sp>
      <p:sp>
        <p:nvSpPr>
          <p:cNvPr id="12" name="Google Shape;12;p2"/>
          <p:cNvSpPr txBox="1"/>
          <p:nvPr/>
        </p:nvSpPr>
        <p:spPr>
          <a:xfrm>
            <a:off x="3804021" y="1027026"/>
            <a:ext cx="1536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PITCH DECK</a:t>
            </a:r>
            <a:endParaRPr sz="700"/>
          </a:p>
        </p:txBody>
      </p:sp>
      <p:sp>
        <p:nvSpPr>
          <p:cNvPr id="13" name="Google Shape;13;p2"/>
          <p:cNvSpPr txBox="1"/>
          <p:nvPr/>
        </p:nvSpPr>
        <p:spPr>
          <a:xfrm>
            <a:off x="3787105" y="3844443"/>
            <a:ext cx="1569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YEAR | 2024</a:t>
            </a:r>
            <a:endParaRPr sz="700"/>
          </a:p>
        </p:txBody>
      </p: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2288750" y="592275"/>
            <a:ext cx="4566600" cy="3959100"/>
          </a:xfrm>
          <a:prstGeom prst="rect">
            <a:avLst/>
          </a:prstGeom>
          <a:solidFill>
            <a:schemeClr val="lt1"/>
          </a:solidFill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3B3A30"/>
              </a:buClr>
              <a:buSzPts val="5200"/>
              <a:buNone/>
              <a:defRPr sz="5200">
                <a:solidFill>
                  <a:srgbClr val="3B3A3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830750" y="769150"/>
            <a:ext cx="3482400" cy="33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4"/>
          </p:nvPr>
        </p:nvSpPr>
        <p:spPr>
          <a:xfrm>
            <a:off x="2830750" y="4075450"/>
            <a:ext cx="3482400" cy="33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>
            <a:spLocks noGrp="1"/>
          </p:cNvSpPr>
          <p:nvPr>
            <p:ph type="pic" idx="2"/>
          </p:nvPr>
        </p:nvSpPr>
        <p:spPr>
          <a:xfrm>
            <a:off x="6482675" y="1330650"/>
            <a:ext cx="1865100" cy="28353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body" idx="1"/>
          </p:nvPr>
        </p:nvSpPr>
        <p:spPr>
          <a:xfrm>
            <a:off x="311700" y="1535625"/>
            <a:ext cx="8520600" cy="30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9" name="Google Shape;39;p4"/>
          <p:cNvGrpSpPr/>
          <p:nvPr/>
        </p:nvGrpSpPr>
        <p:grpSpPr>
          <a:xfrm rot="5400000">
            <a:off x="5838708" y="1620573"/>
            <a:ext cx="3177773" cy="2242090"/>
            <a:chOff x="0" y="-28575"/>
            <a:chExt cx="2256300" cy="1591941"/>
          </a:xfrm>
        </p:grpSpPr>
        <p:sp>
          <p:nvSpPr>
            <p:cNvPr id="40" name="Google Shape;40;p4"/>
            <p:cNvSpPr/>
            <p:nvPr/>
          </p:nvSpPr>
          <p:spPr>
            <a:xfrm>
              <a:off x="0" y="0"/>
              <a:ext cx="2256269" cy="1563366"/>
            </a:xfrm>
            <a:custGeom>
              <a:avLst/>
              <a:gdLst/>
              <a:ahLst/>
              <a:cxnLst/>
              <a:rect l="l" t="t" r="r" b="b"/>
              <a:pathLst>
                <a:path w="2256269" h="1563366" extrusionOk="0">
                  <a:moveTo>
                    <a:pt x="0" y="0"/>
                  </a:moveTo>
                  <a:lnTo>
                    <a:pt x="2256269" y="0"/>
                  </a:lnTo>
                  <a:lnTo>
                    <a:pt x="2256269" y="1563366"/>
                  </a:lnTo>
                  <a:lnTo>
                    <a:pt x="0" y="15633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C0A272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1" name="Google Shape;41;p4"/>
            <p:cNvSpPr txBox="1"/>
            <p:nvPr/>
          </p:nvSpPr>
          <p:spPr>
            <a:xfrm>
              <a:off x="0" y="-28575"/>
              <a:ext cx="2256300" cy="159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300" tIns="34300" rIns="34300" bIns="34300" anchor="ctr" anchorCtr="0">
              <a:noAutofit/>
            </a:bodyPr>
            <a:lstStyle/>
            <a:p>
              <a:pPr marL="0" marR="0" lvl="0" indent="0" algn="ctr" rtl="0">
                <a:lnSpc>
                  <a:spcPct val="104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" name="Google Shape;42;p4"/>
          <p:cNvGrpSpPr/>
          <p:nvPr/>
        </p:nvGrpSpPr>
        <p:grpSpPr>
          <a:xfrm rot="5400000">
            <a:off x="6002646" y="1773511"/>
            <a:ext cx="2849897" cy="1934719"/>
            <a:chOff x="0" y="-28575"/>
            <a:chExt cx="2023500" cy="1373700"/>
          </a:xfrm>
        </p:grpSpPr>
        <p:sp>
          <p:nvSpPr>
            <p:cNvPr id="43" name="Google Shape;43;p4"/>
            <p:cNvSpPr/>
            <p:nvPr/>
          </p:nvSpPr>
          <p:spPr>
            <a:xfrm>
              <a:off x="0" y="0"/>
              <a:ext cx="2023409" cy="1345032"/>
            </a:xfrm>
            <a:custGeom>
              <a:avLst/>
              <a:gdLst/>
              <a:ahLst/>
              <a:cxnLst/>
              <a:rect l="l" t="t" r="r" b="b"/>
              <a:pathLst>
                <a:path w="2023409" h="1345032" extrusionOk="0">
                  <a:moveTo>
                    <a:pt x="0" y="0"/>
                  </a:moveTo>
                  <a:lnTo>
                    <a:pt x="2023409" y="0"/>
                  </a:lnTo>
                  <a:lnTo>
                    <a:pt x="2023409" y="1345032"/>
                  </a:lnTo>
                  <a:lnTo>
                    <a:pt x="0" y="13450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C0A272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4" name="Google Shape;44;p4"/>
            <p:cNvSpPr txBox="1"/>
            <p:nvPr/>
          </p:nvSpPr>
          <p:spPr>
            <a:xfrm>
              <a:off x="0" y="-28575"/>
              <a:ext cx="2023500" cy="137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300" tIns="34300" rIns="34300" bIns="34300" anchor="ctr" anchorCtr="0">
              <a:noAutofit/>
            </a:bodyPr>
            <a:lstStyle/>
            <a:p>
              <a:pPr marL="0" marR="0" lvl="0" indent="0" algn="ctr" rtl="0">
                <a:lnSpc>
                  <a:spcPct val="104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5" name="Google Shape;45;p4"/>
          <p:cNvCxnSpPr/>
          <p:nvPr/>
        </p:nvCxnSpPr>
        <p:spPr>
          <a:xfrm>
            <a:off x="-343148" y="1152732"/>
            <a:ext cx="10078800" cy="0"/>
          </a:xfrm>
          <a:prstGeom prst="straightConnector1">
            <a:avLst/>
          </a:prstGeom>
          <a:noFill/>
          <a:ln w="38100" cap="flat" cmpd="sng">
            <a:solidFill>
              <a:srgbClr val="C0A27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6" name="Google Shape;76;p6"/>
          <p:cNvCxnSpPr/>
          <p:nvPr/>
        </p:nvCxnSpPr>
        <p:spPr>
          <a:xfrm>
            <a:off x="-324706" y="1413362"/>
            <a:ext cx="10078800" cy="0"/>
          </a:xfrm>
          <a:prstGeom prst="straightConnector1">
            <a:avLst/>
          </a:prstGeom>
          <a:noFill/>
          <a:ln w="38100" cap="flat" cmpd="sng">
            <a:solidFill>
              <a:srgbClr val="C0A27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7" name="Google Shape;77;p6"/>
          <p:cNvCxnSpPr/>
          <p:nvPr/>
        </p:nvCxnSpPr>
        <p:spPr>
          <a:xfrm>
            <a:off x="-934925" y="4686288"/>
            <a:ext cx="10078800" cy="0"/>
          </a:xfrm>
          <a:prstGeom prst="straightConnector1">
            <a:avLst/>
          </a:prstGeom>
          <a:noFill/>
          <a:ln w="38100" cap="flat" cmpd="sng">
            <a:solidFill>
              <a:srgbClr val="C0A27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8" name="Google Shape;78;p6"/>
          <p:cNvGrpSpPr/>
          <p:nvPr/>
        </p:nvGrpSpPr>
        <p:grpSpPr>
          <a:xfrm>
            <a:off x="562694" y="1937887"/>
            <a:ext cx="2048253" cy="2112740"/>
            <a:chOff x="0" y="-28575"/>
            <a:chExt cx="1245972" cy="1285200"/>
          </a:xfrm>
        </p:grpSpPr>
        <p:sp>
          <p:nvSpPr>
            <p:cNvPr id="79" name="Google Shape;79;p6"/>
            <p:cNvSpPr/>
            <p:nvPr/>
          </p:nvSpPr>
          <p:spPr>
            <a:xfrm>
              <a:off x="0" y="0"/>
              <a:ext cx="1245972" cy="1256603"/>
            </a:xfrm>
            <a:custGeom>
              <a:avLst/>
              <a:gdLst/>
              <a:ahLst/>
              <a:cxnLst/>
              <a:rect l="l" t="t" r="r" b="b"/>
              <a:pathLst>
                <a:path w="1245972" h="1256603" extrusionOk="0">
                  <a:moveTo>
                    <a:pt x="0" y="0"/>
                  </a:moveTo>
                  <a:lnTo>
                    <a:pt x="1245972" y="0"/>
                  </a:lnTo>
                  <a:lnTo>
                    <a:pt x="1245972" y="1256603"/>
                  </a:lnTo>
                  <a:lnTo>
                    <a:pt x="0" y="1256603"/>
                  </a:lnTo>
                  <a:close/>
                </a:path>
              </a:pathLst>
            </a:custGeom>
            <a:solidFill>
              <a:srgbClr val="2B2C30"/>
            </a:solidFill>
            <a:ln w="38100" cap="sq" cmpd="sng">
              <a:solidFill>
                <a:srgbClr val="C0A272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80" name="Google Shape;80;p6"/>
            <p:cNvSpPr txBox="1"/>
            <p:nvPr/>
          </p:nvSpPr>
          <p:spPr>
            <a:xfrm>
              <a:off x="0" y="-28575"/>
              <a:ext cx="1245900" cy="128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300" tIns="34300" rIns="34300" bIns="34300" anchor="ctr" anchorCtr="0">
              <a:noAutofit/>
            </a:bodyPr>
            <a:lstStyle/>
            <a:p>
              <a:pPr marL="0" marR="0" lvl="0" indent="0" algn="ctr" rtl="0">
                <a:lnSpc>
                  <a:spcPct val="104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" name="Google Shape;81;p6"/>
          <p:cNvGrpSpPr/>
          <p:nvPr/>
        </p:nvGrpSpPr>
        <p:grpSpPr>
          <a:xfrm>
            <a:off x="3572061" y="1937887"/>
            <a:ext cx="2048253" cy="2112740"/>
            <a:chOff x="0" y="-28575"/>
            <a:chExt cx="1245972" cy="1285200"/>
          </a:xfrm>
        </p:grpSpPr>
        <p:sp>
          <p:nvSpPr>
            <p:cNvPr id="82" name="Google Shape;82;p6"/>
            <p:cNvSpPr/>
            <p:nvPr/>
          </p:nvSpPr>
          <p:spPr>
            <a:xfrm>
              <a:off x="0" y="0"/>
              <a:ext cx="1245972" cy="1256603"/>
            </a:xfrm>
            <a:custGeom>
              <a:avLst/>
              <a:gdLst/>
              <a:ahLst/>
              <a:cxnLst/>
              <a:rect l="l" t="t" r="r" b="b"/>
              <a:pathLst>
                <a:path w="1245972" h="1256603" extrusionOk="0">
                  <a:moveTo>
                    <a:pt x="0" y="0"/>
                  </a:moveTo>
                  <a:lnTo>
                    <a:pt x="1245972" y="0"/>
                  </a:lnTo>
                  <a:lnTo>
                    <a:pt x="1245972" y="1256603"/>
                  </a:lnTo>
                  <a:lnTo>
                    <a:pt x="0" y="1256603"/>
                  </a:lnTo>
                  <a:close/>
                </a:path>
              </a:pathLst>
            </a:custGeom>
            <a:solidFill>
              <a:srgbClr val="2B2C30"/>
            </a:solidFill>
            <a:ln w="38100" cap="sq" cmpd="sng">
              <a:solidFill>
                <a:srgbClr val="C0A272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83" name="Google Shape;83;p6"/>
            <p:cNvSpPr txBox="1"/>
            <p:nvPr/>
          </p:nvSpPr>
          <p:spPr>
            <a:xfrm>
              <a:off x="0" y="-28575"/>
              <a:ext cx="1245900" cy="128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300" tIns="34300" rIns="34300" bIns="34300" anchor="ctr" anchorCtr="0">
              <a:noAutofit/>
            </a:bodyPr>
            <a:lstStyle/>
            <a:p>
              <a:pPr marL="0" marR="0" lvl="0" indent="0" algn="ctr" rtl="0">
                <a:lnSpc>
                  <a:spcPct val="104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" name="Google Shape;84;p6"/>
          <p:cNvGrpSpPr/>
          <p:nvPr/>
        </p:nvGrpSpPr>
        <p:grpSpPr>
          <a:xfrm>
            <a:off x="6581427" y="1937887"/>
            <a:ext cx="2048253" cy="2112740"/>
            <a:chOff x="0" y="-28575"/>
            <a:chExt cx="1245972" cy="1285200"/>
          </a:xfrm>
        </p:grpSpPr>
        <p:sp>
          <p:nvSpPr>
            <p:cNvPr id="85" name="Google Shape;85;p6"/>
            <p:cNvSpPr/>
            <p:nvPr/>
          </p:nvSpPr>
          <p:spPr>
            <a:xfrm>
              <a:off x="0" y="0"/>
              <a:ext cx="1245972" cy="1256603"/>
            </a:xfrm>
            <a:custGeom>
              <a:avLst/>
              <a:gdLst/>
              <a:ahLst/>
              <a:cxnLst/>
              <a:rect l="l" t="t" r="r" b="b"/>
              <a:pathLst>
                <a:path w="1245972" h="1256603" extrusionOk="0">
                  <a:moveTo>
                    <a:pt x="0" y="0"/>
                  </a:moveTo>
                  <a:lnTo>
                    <a:pt x="1245972" y="0"/>
                  </a:lnTo>
                  <a:lnTo>
                    <a:pt x="1245972" y="1256603"/>
                  </a:lnTo>
                  <a:lnTo>
                    <a:pt x="0" y="1256603"/>
                  </a:lnTo>
                  <a:close/>
                </a:path>
              </a:pathLst>
            </a:custGeom>
            <a:solidFill>
              <a:srgbClr val="2B2C30"/>
            </a:solidFill>
            <a:ln w="38100" cap="sq" cmpd="sng">
              <a:solidFill>
                <a:srgbClr val="C0A272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86" name="Google Shape;86;p6"/>
            <p:cNvSpPr txBox="1"/>
            <p:nvPr/>
          </p:nvSpPr>
          <p:spPr>
            <a:xfrm>
              <a:off x="0" y="-28575"/>
              <a:ext cx="1245900" cy="128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300" tIns="34300" rIns="34300" bIns="34300" anchor="ctr" anchorCtr="0">
              <a:noAutofit/>
            </a:bodyPr>
            <a:lstStyle/>
            <a:p>
              <a:pPr marL="0" marR="0" lvl="0" indent="0" algn="ctr" rtl="0">
                <a:lnSpc>
                  <a:spcPct val="104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6"/>
          <p:cNvSpPr>
            <a:spLocks noGrp="1"/>
          </p:cNvSpPr>
          <p:nvPr>
            <p:ph type="pic" idx="2"/>
          </p:nvPr>
        </p:nvSpPr>
        <p:spPr>
          <a:xfrm>
            <a:off x="720121" y="2220557"/>
            <a:ext cx="1733400" cy="15474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6"/>
          <p:cNvSpPr>
            <a:spLocks noGrp="1"/>
          </p:cNvSpPr>
          <p:nvPr>
            <p:ph type="pic" idx="3"/>
          </p:nvPr>
        </p:nvSpPr>
        <p:spPr>
          <a:xfrm>
            <a:off x="3729487" y="2220557"/>
            <a:ext cx="1733400" cy="15474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6"/>
          <p:cNvSpPr>
            <a:spLocks noGrp="1"/>
          </p:cNvSpPr>
          <p:nvPr>
            <p:ph type="pic" idx="4"/>
          </p:nvPr>
        </p:nvSpPr>
        <p:spPr>
          <a:xfrm>
            <a:off x="6738854" y="2220557"/>
            <a:ext cx="1733400" cy="1547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 txBox="1">
            <a:spLocks noGrp="1"/>
          </p:cNvSpPr>
          <p:nvPr>
            <p:ph type="title"/>
          </p:nvPr>
        </p:nvSpPr>
        <p:spPr>
          <a:xfrm>
            <a:off x="490250" y="-701575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92" name="Google Shape;9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3" name="Google Shape;93;p7"/>
          <p:cNvCxnSpPr/>
          <p:nvPr/>
        </p:nvCxnSpPr>
        <p:spPr>
          <a:xfrm>
            <a:off x="-324706" y="3499369"/>
            <a:ext cx="10078800" cy="0"/>
          </a:xfrm>
          <a:prstGeom prst="straightConnector1">
            <a:avLst/>
          </a:prstGeom>
          <a:noFill/>
          <a:ln w="38100" cap="flat" cmpd="sng">
            <a:solidFill>
              <a:srgbClr val="C0A27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" name="Google Shape;94;p7"/>
          <p:cNvCxnSpPr/>
          <p:nvPr/>
        </p:nvCxnSpPr>
        <p:spPr>
          <a:xfrm>
            <a:off x="-324706" y="4333976"/>
            <a:ext cx="10078800" cy="0"/>
          </a:xfrm>
          <a:prstGeom prst="straightConnector1">
            <a:avLst/>
          </a:prstGeom>
          <a:noFill/>
          <a:ln w="38100" cap="flat" cmpd="sng">
            <a:solidFill>
              <a:srgbClr val="C0A27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5" name="Google Shape;95;p7"/>
          <p:cNvCxnSpPr/>
          <p:nvPr/>
        </p:nvCxnSpPr>
        <p:spPr>
          <a:xfrm>
            <a:off x="-324706" y="129290"/>
            <a:ext cx="10078800" cy="0"/>
          </a:xfrm>
          <a:prstGeom prst="straightConnector1">
            <a:avLst/>
          </a:prstGeom>
          <a:noFill/>
          <a:ln w="38100" cap="flat" cmpd="sng">
            <a:solidFill>
              <a:srgbClr val="C0A27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6" name="Google Shape;96;p7"/>
          <p:cNvCxnSpPr/>
          <p:nvPr/>
        </p:nvCxnSpPr>
        <p:spPr>
          <a:xfrm>
            <a:off x="-324706" y="2185468"/>
            <a:ext cx="10078800" cy="0"/>
          </a:xfrm>
          <a:prstGeom prst="straightConnector1">
            <a:avLst/>
          </a:prstGeom>
          <a:noFill/>
          <a:ln w="38100" cap="flat" cmpd="sng">
            <a:solidFill>
              <a:srgbClr val="C0A27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7" name="Google Shape;97;p7"/>
          <p:cNvSpPr>
            <a:spLocks noGrp="1"/>
          </p:cNvSpPr>
          <p:nvPr>
            <p:ph type="pic" idx="2"/>
          </p:nvPr>
        </p:nvSpPr>
        <p:spPr>
          <a:xfrm>
            <a:off x="1681050" y="2419775"/>
            <a:ext cx="5781900" cy="2373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01" name="Google Shape;101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4" name="Google Shape;104;p8"/>
          <p:cNvGrpSpPr/>
          <p:nvPr/>
        </p:nvGrpSpPr>
        <p:grpSpPr>
          <a:xfrm>
            <a:off x="3547869" y="3803662"/>
            <a:ext cx="2048253" cy="2112740"/>
            <a:chOff x="0" y="-28575"/>
            <a:chExt cx="1245972" cy="1285200"/>
          </a:xfrm>
        </p:grpSpPr>
        <p:sp>
          <p:nvSpPr>
            <p:cNvPr id="105" name="Google Shape;105;p8"/>
            <p:cNvSpPr/>
            <p:nvPr/>
          </p:nvSpPr>
          <p:spPr>
            <a:xfrm>
              <a:off x="0" y="0"/>
              <a:ext cx="1245972" cy="1256603"/>
            </a:xfrm>
            <a:custGeom>
              <a:avLst/>
              <a:gdLst/>
              <a:ahLst/>
              <a:cxnLst/>
              <a:rect l="l" t="t" r="r" b="b"/>
              <a:pathLst>
                <a:path w="1245972" h="1256603" extrusionOk="0">
                  <a:moveTo>
                    <a:pt x="0" y="0"/>
                  </a:moveTo>
                  <a:lnTo>
                    <a:pt x="1245972" y="0"/>
                  </a:lnTo>
                  <a:lnTo>
                    <a:pt x="1245972" y="1256603"/>
                  </a:lnTo>
                  <a:lnTo>
                    <a:pt x="0" y="1256603"/>
                  </a:lnTo>
                  <a:close/>
                </a:path>
              </a:pathLst>
            </a:custGeom>
            <a:solidFill>
              <a:srgbClr val="2B2C30"/>
            </a:solidFill>
            <a:ln w="38100" cap="sq" cmpd="sng">
              <a:solidFill>
                <a:srgbClr val="C0A272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06" name="Google Shape;106;p8"/>
            <p:cNvSpPr txBox="1"/>
            <p:nvPr/>
          </p:nvSpPr>
          <p:spPr>
            <a:xfrm>
              <a:off x="0" y="-28575"/>
              <a:ext cx="1245900" cy="128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300" tIns="34300" rIns="34300" bIns="34300" anchor="ctr" anchorCtr="0">
              <a:noAutofit/>
            </a:bodyPr>
            <a:lstStyle/>
            <a:p>
              <a:pPr marL="0" marR="0" lvl="0" indent="0" algn="ctr" rtl="0">
                <a:lnSpc>
                  <a:spcPct val="104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8"/>
          <p:cNvGrpSpPr/>
          <p:nvPr/>
        </p:nvGrpSpPr>
        <p:grpSpPr>
          <a:xfrm>
            <a:off x="3547869" y="-1220788"/>
            <a:ext cx="2048253" cy="2112740"/>
            <a:chOff x="0" y="-28575"/>
            <a:chExt cx="1245972" cy="1285200"/>
          </a:xfrm>
        </p:grpSpPr>
        <p:sp>
          <p:nvSpPr>
            <p:cNvPr id="108" name="Google Shape;108;p8"/>
            <p:cNvSpPr/>
            <p:nvPr/>
          </p:nvSpPr>
          <p:spPr>
            <a:xfrm>
              <a:off x="0" y="0"/>
              <a:ext cx="1245972" cy="1256603"/>
            </a:xfrm>
            <a:custGeom>
              <a:avLst/>
              <a:gdLst/>
              <a:ahLst/>
              <a:cxnLst/>
              <a:rect l="l" t="t" r="r" b="b"/>
              <a:pathLst>
                <a:path w="1245972" h="1256603" extrusionOk="0">
                  <a:moveTo>
                    <a:pt x="0" y="0"/>
                  </a:moveTo>
                  <a:lnTo>
                    <a:pt x="1245972" y="0"/>
                  </a:lnTo>
                  <a:lnTo>
                    <a:pt x="1245972" y="1256603"/>
                  </a:lnTo>
                  <a:lnTo>
                    <a:pt x="0" y="1256603"/>
                  </a:lnTo>
                  <a:close/>
                </a:path>
              </a:pathLst>
            </a:custGeom>
            <a:solidFill>
              <a:srgbClr val="2B2C30"/>
            </a:solidFill>
            <a:ln w="38100" cap="sq" cmpd="sng">
              <a:solidFill>
                <a:srgbClr val="C0A272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09" name="Google Shape;109;p8"/>
            <p:cNvSpPr txBox="1"/>
            <p:nvPr/>
          </p:nvSpPr>
          <p:spPr>
            <a:xfrm>
              <a:off x="0" y="-28575"/>
              <a:ext cx="1245900" cy="128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300" tIns="34300" rIns="34300" bIns="34300" anchor="ctr" anchorCtr="0">
              <a:noAutofit/>
            </a:bodyPr>
            <a:lstStyle/>
            <a:p>
              <a:pPr marL="0" marR="0" lvl="0" indent="0" algn="ctr" rtl="0">
                <a:lnSpc>
                  <a:spcPct val="104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" name="Google Shape;110;p8"/>
          <p:cNvSpPr>
            <a:spLocks noGrp="1"/>
          </p:cNvSpPr>
          <p:nvPr>
            <p:ph type="pic" idx="3"/>
          </p:nvPr>
        </p:nvSpPr>
        <p:spPr>
          <a:xfrm>
            <a:off x="3641396" y="-290850"/>
            <a:ext cx="1861200" cy="10704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8"/>
          <p:cNvSpPr>
            <a:spLocks noGrp="1"/>
          </p:cNvSpPr>
          <p:nvPr>
            <p:ph type="pic" idx="4"/>
          </p:nvPr>
        </p:nvSpPr>
        <p:spPr>
          <a:xfrm>
            <a:off x="3641396" y="3986425"/>
            <a:ext cx="1861200" cy="1070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14" name="Google Shape;11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15" name="Google Shape;115;p9"/>
          <p:cNvCxnSpPr/>
          <p:nvPr/>
        </p:nvCxnSpPr>
        <p:spPr>
          <a:xfrm>
            <a:off x="-343148" y="147420"/>
            <a:ext cx="10078800" cy="0"/>
          </a:xfrm>
          <a:prstGeom prst="straightConnector1">
            <a:avLst/>
          </a:prstGeom>
          <a:noFill/>
          <a:ln w="38100" cap="flat" cmpd="sng">
            <a:solidFill>
              <a:srgbClr val="C0A27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6" name="Google Shape;116;p9"/>
          <p:cNvCxnSpPr/>
          <p:nvPr/>
        </p:nvCxnSpPr>
        <p:spPr>
          <a:xfrm>
            <a:off x="-343148" y="4941311"/>
            <a:ext cx="10078800" cy="0"/>
          </a:xfrm>
          <a:prstGeom prst="straightConnector1">
            <a:avLst/>
          </a:prstGeom>
          <a:noFill/>
          <a:ln w="38100" cap="flat" cmpd="sng">
            <a:solidFill>
              <a:srgbClr val="C0A27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7" name="Google Shape;117;p9"/>
          <p:cNvCxnSpPr/>
          <p:nvPr/>
        </p:nvCxnSpPr>
        <p:spPr>
          <a:xfrm rot="10800000">
            <a:off x="2356575" y="1108525"/>
            <a:ext cx="0" cy="2560200"/>
          </a:xfrm>
          <a:prstGeom prst="straightConnector1">
            <a:avLst/>
          </a:prstGeom>
          <a:noFill/>
          <a:ln w="38100" cap="flat" cmpd="sng">
            <a:solidFill>
              <a:srgbClr val="C0A27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8" name="Google Shape;118;p9"/>
          <p:cNvSpPr>
            <a:spLocks noGrp="1"/>
          </p:cNvSpPr>
          <p:nvPr>
            <p:ph type="pic" idx="2"/>
          </p:nvPr>
        </p:nvSpPr>
        <p:spPr>
          <a:xfrm>
            <a:off x="382163" y="546775"/>
            <a:ext cx="1733400" cy="36837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9"/>
          <p:cNvSpPr>
            <a:spLocks noGrp="1"/>
          </p:cNvSpPr>
          <p:nvPr>
            <p:ph type="pic" idx="3"/>
          </p:nvPr>
        </p:nvSpPr>
        <p:spPr>
          <a:xfrm>
            <a:off x="2597588" y="546775"/>
            <a:ext cx="1733400" cy="36837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9"/>
          <p:cNvSpPr>
            <a:spLocks noGrp="1"/>
          </p:cNvSpPr>
          <p:nvPr>
            <p:ph type="pic" idx="4"/>
          </p:nvPr>
        </p:nvSpPr>
        <p:spPr>
          <a:xfrm>
            <a:off x="4813013" y="546775"/>
            <a:ext cx="1733400" cy="36837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9"/>
          <p:cNvSpPr>
            <a:spLocks noGrp="1"/>
          </p:cNvSpPr>
          <p:nvPr>
            <p:ph type="pic" idx="5"/>
          </p:nvPr>
        </p:nvSpPr>
        <p:spPr>
          <a:xfrm>
            <a:off x="7028438" y="546775"/>
            <a:ext cx="1733400" cy="3683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22" name="Google Shape;122;p9"/>
          <p:cNvCxnSpPr/>
          <p:nvPr/>
        </p:nvCxnSpPr>
        <p:spPr>
          <a:xfrm rot="10800000">
            <a:off x="4572000" y="1108525"/>
            <a:ext cx="0" cy="2560200"/>
          </a:xfrm>
          <a:prstGeom prst="straightConnector1">
            <a:avLst/>
          </a:prstGeom>
          <a:noFill/>
          <a:ln w="38100" cap="flat" cmpd="sng">
            <a:solidFill>
              <a:srgbClr val="C0A27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3" name="Google Shape;123;p9"/>
          <p:cNvCxnSpPr/>
          <p:nvPr/>
        </p:nvCxnSpPr>
        <p:spPr>
          <a:xfrm rot="10800000">
            <a:off x="6787425" y="1108525"/>
            <a:ext cx="0" cy="2560200"/>
          </a:xfrm>
          <a:prstGeom prst="straightConnector1">
            <a:avLst/>
          </a:prstGeom>
          <a:noFill/>
          <a:ln w="38100" cap="flat" cmpd="sng">
            <a:solidFill>
              <a:srgbClr val="C0A27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fair Display Medium"/>
              <a:buNone/>
              <a:defRPr sz="28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 Medium"/>
              <a:buChar char="●"/>
              <a:defRPr sz="1800"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 Medium"/>
              <a:buChar char="○"/>
              <a:defRPr>
                <a:solidFill>
                  <a:schemeClr val="dk2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3" Type="http://schemas.openxmlformats.org/officeDocument/2006/relationships/slide" Target="slide9.xml"/><Relationship Id="rId7" Type="http://schemas.openxmlformats.org/officeDocument/2006/relationships/slide" Target="slide1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4.xml"/><Relationship Id="rId5" Type="http://schemas.openxmlformats.org/officeDocument/2006/relationships/slide" Target="slide11.xml"/><Relationship Id="rId4" Type="http://schemas.openxmlformats.org/officeDocument/2006/relationships/slide" Target="slide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slide" Target="slide17.xml"/><Relationship Id="rId4" Type="http://schemas.openxmlformats.org/officeDocument/2006/relationships/slide" Target="slide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55867"/>
            <a:ext cx="9144003" cy="62552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" name="Google Shape;131;p11"/>
          <p:cNvGrpSpPr/>
          <p:nvPr/>
        </p:nvGrpSpPr>
        <p:grpSpPr>
          <a:xfrm>
            <a:off x="0" y="451545"/>
            <a:ext cx="9144000" cy="1036729"/>
            <a:chOff x="0" y="-38100"/>
            <a:chExt cx="4816593" cy="546096"/>
          </a:xfrm>
        </p:grpSpPr>
        <p:sp>
          <p:nvSpPr>
            <p:cNvPr id="132" name="Google Shape;132;p11"/>
            <p:cNvSpPr/>
            <p:nvPr/>
          </p:nvSpPr>
          <p:spPr>
            <a:xfrm>
              <a:off x="0" y="0"/>
              <a:ext cx="4816592" cy="507996"/>
            </a:xfrm>
            <a:custGeom>
              <a:avLst/>
              <a:gdLst/>
              <a:ahLst/>
              <a:cxnLst/>
              <a:rect l="l" t="t" r="r" b="b"/>
              <a:pathLst>
                <a:path w="4816592" h="507996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507996"/>
                  </a:lnTo>
                  <a:lnTo>
                    <a:pt x="0" y="507996"/>
                  </a:lnTo>
                  <a:close/>
                </a:path>
              </a:pathLst>
            </a:custGeom>
            <a:solidFill>
              <a:srgbClr val="2B2C30">
                <a:alpha val="52549"/>
              </a:srgbClr>
            </a:solidFill>
            <a:ln>
              <a:noFill/>
            </a:ln>
          </p:spPr>
        </p:sp>
        <p:sp>
          <p:nvSpPr>
            <p:cNvPr id="133" name="Google Shape;133;p11"/>
            <p:cNvSpPr txBox="1"/>
            <p:nvPr/>
          </p:nvSpPr>
          <p:spPr>
            <a:xfrm>
              <a:off x="0" y="-38100"/>
              <a:ext cx="4816593" cy="5460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" name="Google Shape;134;p11"/>
          <p:cNvGrpSpPr/>
          <p:nvPr/>
        </p:nvGrpSpPr>
        <p:grpSpPr>
          <a:xfrm>
            <a:off x="0" y="3592196"/>
            <a:ext cx="9144000" cy="1036729"/>
            <a:chOff x="0" y="-38100"/>
            <a:chExt cx="4816593" cy="546096"/>
          </a:xfrm>
        </p:grpSpPr>
        <p:sp>
          <p:nvSpPr>
            <p:cNvPr id="135" name="Google Shape;135;p11"/>
            <p:cNvSpPr/>
            <p:nvPr/>
          </p:nvSpPr>
          <p:spPr>
            <a:xfrm>
              <a:off x="0" y="0"/>
              <a:ext cx="4816592" cy="507996"/>
            </a:xfrm>
            <a:custGeom>
              <a:avLst/>
              <a:gdLst/>
              <a:ahLst/>
              <a:cxnLst/>
              <a:rect l="l" t="t" r="r" b="b"/>
              <a:pathLst>
                <a:path w="4816592" h="507996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507996"/>
                  </a:lnTo>
                  <a:lnTo>
                    <a:pt x="0" y="507996"/>
                  </a:lnTo>
                  <a:close/>
                </a:path>
              </a:pathLst>
            </a:custGeom>
            <a:solidFill>
              <a:srgbClr val="2B2C30">
                <a:alpha val="52549"/>
              </a:srgbClr>
            </a:solidFill>
            <a:ln>
              <a:noFill/>
            </a:ln>
          </p:spPr>
        </p:sp>
        <p:sp>
          <p:nvSpPr>
            <p:cNvPr id="136" name="Google Shape;136;p11"/>
            <p:cNvSpPr txBox="1"/>
            <p:nvPr/>
          </p:nvSpPr>
          <p:spPr>
            <a:xfrm>
              <a:off x="0" y="-38100"/>
              <a:ext cx="4816593" cy="5460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" name="Google Shape;137;p11"/>
          <p:cNvGrpSpPr/>
          <p:nvPr/>
        </p:nvGrpSpPr>
        <p:grpSpPr>
          <a:xfrm>
            <a:off x="-2" y="2083684"/>
            <a:ext cx="9144000" cy="1036729"/>
            <a:chOff x="0" y="-38100"/>
            <a:chExt cx="4816593" cy="546096"/>
          </a:xfrm>
        </p:grpSpPr>
        <p:sp>
          <p:nvSpPr>
            <p:cNvPr id="138" name="Google Shape;138;p11"/>
            <p:cNvSpPr/>
            <p:nvPr/>
          </p:nvSpPr>
          <p:spPr>
            <a:xfrm>
              <a:off x="0" y="0"/>
              <a:ext cx="4816592" cy="507996"/>
            </a:xfrm>
            <a:custGeom>
              <a:avLst/>
              <a:gdLst/>
              <a:ahLst/>
              <a:cxnLst/>
              <a:rect l="l" t="t" r="r" b="b"/>
              <a:pathLst>
                <a:path w="4816592" h="507996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507996"/>
                  </a:lnTo>
                  <a:lnTo>
                    <a:pt x="0" y="507996"/>
                  </a:lnTo>
                  <a:close/>
                </a:path>
              </a:pathLst>
            </a:custGeom>
            <a:solidFill>
              <a:srgbClr val="2B2C30">
                <a:alpha val="52549"/>
              </a:srgbClr>
            </a:solidFill>
            <a:ln>
              <a:noFill/>
            </a:ln>
          </p:spPr>
        </p:sp>
        <p:sp>
          <p:nvSpPr>
            <p:cNvPr id="139" name="Google Shape;139;p11"/>
            <p:cNvSpPr txBox="1"/>
            <p:nvPr/>
          </p:nvSpPr>
          <p:spPr>
            <a:xfrm>
              <a:off x="0" y="-38100"/>
              <a:ext cx="4816593" cy="5460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" name="Google Shape;146;p11"/>
          <p:cNvGrpSpPr/>
          <p:nvPr/>
        </p:nvGrpSpPr>
        <p:grpSpPr>
          <a:xfrm>
            <a:off x="2232379" y="451545"/>
            <a:ext cx="4679235" cy="4187130"/>
            <a:chOff x="0" y="-38100"/>
            <a:chExt cx="2464782" cy="2205567"/>
          </a:xfrm>
        </p:grpSpPr>
        <p:sp>
          <p:nvSpPr>
            <p:cNvPr id="147" name="Google Shape;147;p11"/>
            <p:cNvSpPr/>
            <p:nvPr/>
          </p:nvSpPr>
          <p:spPr>
            <a:xfrm>
              <a:off x="0" y="0"/>
              <a:ext cx="2464782" cy="2167467"/>
            </a:xfrm>
            <a:custGeom>
              <a:avLst/>
              <a:gdLst/>
              <a:ahLst/>
              <a:cxnLst/>
              <a:rect l="l" t="t" r="r" b="b"/>
              <a:pathLst>
                <a:path w="2464782" h="2167467" extrusionOk="0">
                  <a:moveTo>
                    <a:pt x="0" y="0"/>
                  </a:moveTo>
                  <a:lnTo>
                    <a:pt x="2464782" y="0"/>
                  </a:lnTo>
                  <a:lnTo>
                    <a:pt x="2464782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EFEEE7"/>
            </a:solidFill>
            <a:ln w="38100" cap="sq" cmpd="sng">
              <a:solidFill>
                <a:srgbClr val="C0A272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48" name="Google Shape;148;p11"/>
            <p:cNvSpPr txBox="1"/>
            <p:nvPr/>
          </p:nvSpPr>
          <p:spPr>
            <a:xfrm>
              <a:off x="0" y="-38100"/>
              <a:ext cx="2464782" cy="22055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11"/>
          <p:cNvSpPr txBox="1"/>
          <p:nvPr/>
        </p:nvSpPr>
        <p:spPr>
          <a:xfrm>
            <a:off x="1835489" y="2153516"/>
            <a:ext cx="5473020" cy="128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0" i="0" u="none" strike="noStrike" cap="none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BOUTIQUE HOTEL ANALYTICS </a:t>
            </a:r>
            <a:endParaRPr sz="4000" dirty="0"/>
          </a:p>
        </p:txBody>
      </p:sp>
      <p:sp>
        <p:nvSpPr>
          <p:cNvPr id="151" name="Google Shape;151;p11"/>
          <p:cNvSpPr txBox="1"/>
          <p:nvPr/>
        </p:nvSpPr>
        <p:spPr>
          <a:xfrm>
            <a:off x="3787105" y="3844443"/>
            <a:ext cx="156979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YEAR | 2016</a:t>
            </a:r>
            <a:endParaRPr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"/>
          <p:cNvSpPr txBox="1"/>
          <p:nvPr/>
        </p:nvSpPr>
        <p:spPr>
          <a:xfrm>
            <a:off x="514350" y="675421"/>
            <a:ext cx="43530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rgbClr val="C0A272"/>
                </a:solidFill>
                <a:latin typeface="Playfair Display"/>
                <a:sym typeface="Playfair Display"/>
              </a:rPr>
              <a:t>Objective</a:t>
            </a:r>
            <a:endParaRPr sz="700" dirty="0"/>
          </a:p>
        </p:txBody>
      </p:sp>
      <p:sp>
        <p:nvSpPr>
          <p:cNvPr id="246" name="Google Shape;246;p16"/>
          <p:cNvSpPr txBox="1"/>
          <p:nvPr/>
        </p:nvSpPr>
        <p:spPr>
          <a:xfrm>
            <a:off x="670745" y="2574233"/>
            <a:ext cx="2406788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5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Revenue Optimization</a:t>
            </a:r>
            <a:endParaRPr sz="700" dirty="0"/>
          </a:p>
        </p:txBody>
      </p:sp>
      <p:sp>
        <p:nvSpPr>
          <p:cNvPr id="248" name="Google Shape;248;p16"/>
          <p:cNvSpPr txBox="1"/>
          <p:nvPr/>
        </p:nvSpPr>
        <p:spPr>
          <a:xfrm>
            <a:off x="670746" y="2962953"/>
            <a:ext cx="260697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5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Improve Growth Opportunities</a:t>
            </a:r>
            <a:endParaRPr sz="700" dirty="0"/>
          </a:p>
        </p:txBody>
      </p:sp>
      <p:cxnSp>
        <p:nvCxnSpPr>
          <p:cNvPr id="4" name="Google Shape;241;p16">
            <a:extLst>
              <a:ext uri="{FF2B5EF4-FFF2-40B4-BE49-F238E27FC236}">
                <a16:creationId xmlns:a16="http://schemas.microsoft.com/office/drawing/2014/main" id="{14651369-89A3-2E84-DAF9-BD8AC0DB7300}"/>
              </a:ext>
            </a:extLst>
          </p:cNvPr>
          <p:cNvCxnSpPr>
            <a:cxnSpLocks/>
          </p:cNvCxnSpPr>
          <p:nvPr/>
        </p:nvCxnSpPr>
        <p:spPr>
          <a:xfrm>
            <a:off x="4650680" y="3376456"/>
            <a:ext cx="4171558" cy="0"/>
          </a:xfrm>
          <a:prstGeom prst="straightConnector1">
            <a:avLst/>
          </a:prstGeom>
          <a:noFill/>
          <a:ln w="38100" cap="flat" cmpd="sng">
            <a:solidFill>
              <a:srgbClr val="C0A27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243;p16">
            <a:extLst>
              <a:ext uri="{FF2B5EF4-FFF2-40B4-BE49-F238E27FC236}">
                <a16:creationId xmlns:a16="http://schemas.microsoft.com/office/drawing/2014/main" id="{6091514B-75D7-8C12-3733-3E52A06FFA4B}"/>
              </a:ext>
            </a:extLst>
          </p:cNvPr>
          <p:cNvCxnSpPr/>
          <p:nvPr/>
        </p:nvCxnSpPr>
        <p:spPr>
          <a:xfrm rot="10800000">
            <a:off x="6770267" y="2392066"/>
            <a:ext cx="0" cy="2254943"/>
          </a:xfrm>
          <a:prstGeom prst="straightConnector1">
            <a:avLst/>
          </a:prstGeom>
          <a:noFill/>
          <a:ln w="38100" cap="flat" cmpd="sng">
            <a:solidFill>
              <a:srgbClr val="C0A27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6" name="Google Shape;245;p16">
            <a:extLst>
              <a:ext uri="{FF2B5EF4-FFF2-40B4-BE49-F238E27FC236}">
                <a16:creationId xmlns:a16="http://schemas.microsoft.com/office/drawing/2014/main" id="{CD4223DF-A5DD-40E9-C1CE-7637CB898A59}"/>
              </a:ext>
            </a:extLst>
          </p:cNvPr>
          <p:cNvGrpSpPr/>
          <p:nvPr/>
        </p:nvGrpSpPr>
        <p:grpSpPr>
          <a:xfrm>
            <a:off x="4873955" y="2571750"/>
            <a:ext cx="1624050" cy="475462"/>
            <a:chOff x="0" y="-47625"/>
            <a:chExt cx="4330800" cy="1267897"/>
          </a:xfrm>
        </p:grpSpPr>
        <p:sp>
          <p:nvSpPr>
            <p:cNvPr id="7" name="Google Shape;246;p16">
              <a:extLst>
                <a:ext uri="{FF2B5EF4-FFF2-40B4-BE49-F238E27FC236}">
                  <a16:creationId xmlns:a16="http://schemas.microsoft.com/office/drawing/2014/main" id="{0DEE692A-D8F8-0031-9887-9836317F81CE}"/>
                </a:ext>
              </a:extLst>
            </p:cNvPr>
            <p:cNvSpPr txBox="1"/>
            <p:nvPr/>
          </p:nvSpPr>
          <p:spPr>
            <a:xfrm>
              <a:off x="0" y="-47625"/>
              <a:ext cx="4330800" cy="7078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0" i="0" u="none" strike="noStrike" cap="none" dirty="0">
                  <a:solidFill>
                    <a:srgbClr val="2B2C30"/>
                  </a:solidFill>
                  <a:latin typeface="Nunito"/>
                  <a:ea typeface="Nunito"/>
                  <a:cs typeface="Nunito"/>
                  <a:sym typeface="Nunito"/>
                </a:rPr>
                <a:t>65.18%</a:t>
              </a:r>
              <a:endParaRPr sz="700" dirty="0"/>
            </a:p>
          </p:txBody>
        </p:sp>
        <p:sp>
          <p:nvSpPr>
            <p:cNvPr id="8" name="Google Shape;247;p16">
              <a:extLst>
                <a:ext uri="{FF2B5EF4-FFF2-40B4-BE49-F238E27FC236}">
                  <a16:creationId xmlns:a16="http://schemas.microsoft.com/office/drawing/2014/main" id="{4EC119F6-1AA1-DA05-AE10-2A74F97997B1}"/>
                </a:ext>
              </a:extLst>
            </p:cNvPr>
            <p:cNvSpPr txBox="1"/>
            <p:nvPr/>
          </p:nvSpPr>
          <p:spPr>
            <a:xfrm>
              <a:off x="0" y="795542"/>
              <a:ext cx="4330800" cy="4247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 i="0" u="none" strike="noStrike" cap="none" dirty="0">
                  <a:solidFill>
                    <a:srgbClr val="2B2C30"/>
                  </a:solidFill>
                  <a:latin typeface="Nunito"/>
                  <a:ea typeface="Nunito"/>
                  <a:cs typeface="Nunito"/>
                  <a:sym typeface="Nunito"/>
                </a:rPr>
                <a:t>Occupancy Rate</a:t>
              </a:r>
              <a:endParaRPr sz="700" dirty="0"/>
            </a:p>
          </p:txBody>
        </p:sp>
      </p:grpSp>
      <p:sp>
        <p:nvSpPr>
          <p:cNvPr id="9" name="Google Shape;248;p16">
            <a:extLst>
              <a:ext uri="{FF2B5EF4-FFF2-40B4-BE49-F238E27FC236}">
                <a16:creationId xmlns:a16="http://schemas.microsoft.com/office/drawing/2014/main" id="{3B2AAD54-99E5-0E56-D1A8-21FD02B9159A}"/>
              </a:ext>
            </a:extLst>
          </p:cNvPr>
          <p:cNvSpPr txBox="1"/>
          <p:nvPr/>
        </p:nvSpPr>
        <p:spPr>
          <a:xfrm>
            <a:off x="4873955" y="3724644"/>
            <a:ext cx="1728881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$100.50</a:t>
            </a:r>
            <a:endParaRPr sz="700" dirty="0"/>
          </a:p>
        </p:txBody>
      </p:sp>
      <p:sp>
        <p:nvSpPr>
          <p:cNvPr id="10" name="Google Shape;249;p16">
            <a:extLst>
              <a:ext uri="{FF2B5EF4-FFF2-40B4-BE49-F238E27FC236}">
                <a16:creationId xmlns:a16="http://schemas.microsoft.com/office/drawing/2014/main" id="{46829F3E-482C-DB7C-6766-70AD5219011F}"/>
              </a:ext>
            </a:extLst>
          </p:cNvPr>
          <p:cNvSpPr txBox="1"/>
          <p:nvPr/>
        </p:nvSpPr>
        <p:spPr>
          <a:xfrm>
            <a:off x="4873955" y="4039641"/>
            <a:ext cx="1728900" cy="15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Average Daily Rate</a:t>
            </a:r>
            <a:endParaRPr sz="700" dirty="0"/>
          </a:p>
        </p:txBody>
      </p:sp>
      <p:grpSp>
        <p:nvGrpSpPr>
          <p:cNvPr id="11" name="Google Shape;250;p16">
            <a:extLst>
              <a:ext uri="{FF2B5EF4-FFF2-40B4-BE49-F238E27FC236}">
                <a16:creationId xmlns:a16="http://schemas.microsoft.com/office/drawing/2014/main" id="{159CB672-A46C-A247-91AD-6C05C29C91F1}"/>
              </a:ext>
            </a:extLst>
          </p:cNvPr>
          <p:cNvGrpSpPr/>
          <p:nvPr/>
        </p:nvGrpSpPr>
        <p:grpSpPr>
          <a:xfrm>
            <a:off x="6937678" y="2592189"/>
            <a:ext cx="1624050" cy="475462"/>
            <a:chOff x="0" y="-47625"/>
            <a:chExt cx="4330800" cy="1267897"/>
          </a:xfrm>
        </p:grpSpPr>
        <p:sp>
          <p:nvSpPr>
            <p:cNvPr id="12" name="Google Shape;251;p16">
              <a:extLst>
                <a:ext uri="{FF2B5EF4-FFF2-40B4-BE49-F238E27FC236}">
                  <a16:creationId xmlns:a16="http://schemas.microsoft.com/office/drawing/2014/main" id="{BE55DFA4-668B-AF07-BA30-68BFC3470EC9}"/>
                </a:ext>
              </a:extLst>
            </p:cNvPr>
            <p:cNvSpPr txBox="1"/>
            <p:nvPr/>
          </p:nvSpPr>
          <p:spPr>
            <a:xfrm>
              <a:off x="0" y="-47625"/>
              <a:ext cx="4330800" cy="7078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0" i="0" u="none" strike="noStrike" cap="none" dirty="0">
                  <a:solidFill>
                    <a:srgbClr val="2B2C30"/>
                  </a:solidFill>
                  <a:latin typeface="Nunito"/>
                  <a:ea typeface="Nunito"/>
                  <a:cs typeface="Nunito"/>
                  <a:sym typeface="Nunito"/>
                </a:rPr>
                <a:t>4.48 days</a:t>
              </a:r>
              <a:endParaRPr sz="700" dirty="0"/>
            </a:p>
          </p:txBody>
        </p:sp>
        <p:sp>
          <p:nvSpPr>
            <p:cNvPr id="13" name="Google Shape;252;p16">
              <a:extLst>
                <a:ext uri="{FF2B5EF4-FFF2-40B4-BE49-F238E27FC236}">
                  <a16:creationId xmlns:a16="http://schemas.microsoft.com/office/drawing/2014/main" id="{9AAC1063-6B4E-603F-32F3-CF58316180C9}"/>
                </a:ext>
              </a:extLst>
            </p:cNvPr>
            <p:cNvSpPr txBox="1"/>
            <p:nvPr/>
          </p:nvSpPr>
          <p:spPr>
            <a:xfrm>
              <a:off x="0" y="795542"/>
              <a:ext cx="4330800" cy="4247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dirty="0">
                  <a:solidFill>
                    <a:srgbClr val="2B2C30"/>
                  </a:solidFill>
                  <a:latin typeface="Nunito"/>
                  <a:sym typeface="Nunito"/>
                </a:rPr>
                <a:t>Average Length of Stay</a:t>
              </a:r>
              <a:endParaRPr sz="700" dirty="0"/>
            </a:p>
          </p:txBody>
        </p:sp>
      </p:grpSp>
      <p:grpSp>
        <p:nvGrpSpPr>
          <p:cNvPr id="14" name="Google Shape;253;p16">
            <a:extLst>
              <a:ext uri="{FF2B5EF4-FFF2-40B4-BE49-F238E27FC236}">
                <a16:creationId xmlns:a16="http://schemas.microsoft.com/office/drawing/2014/main" id="{18F85183-991C-FA95-942E-311A9345DECE}"/>
              </a:ext>
            </a:extLst>
          </p:cNvPr>
          <p:cNvGrpSpPr/>
          <p:nvPr/>
        </p:nvGrpSpPr>
        <p:grpSpPr>
          <a:xfrm>
            <a:off x="6937678" y="3724644"/>
            <a:ext cx="1624050" cy="475462"/>
            <a:chOff x="0" y="-47625"/>
            <a:chExt cx="4330800" cy="1267897"/>
          </a:xfrm>
        </p:grpSpPr>
        <p:sp>
          <p:nvSpPr>
            <p:cNvPr id="15" name="Google Shape;254;p16">
              <a:extLst>
                <a:ext uri="{FF2B5EF4-FFF2-40B4-BE49-F238E27FC236}">
                  <a16:creationId xmlns:a16="http://schemas.microsoft.com/office/drawing/2014/main" id="{3F615BF2-5F9E-1818-B31F-1575B1F35CC7}"/>
                </a:ext>
              </a:extLst>
            </p:cNvPr>
            <p:cNvSpPr txBox="1"/>
            <p:nvPr/>
          </p:nvSpPr>
          <p:spPr>
            <a:xfrm>
              <a:off x="0" y="-47625"/>
              <a:ext cx="4330800" cy="7078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0" i="0" u="none" strike="noStrike" cap="none" dirty="0">
                  <a:solidFill>
                    <a:srgbClr val="2B2C30"/>
                  </a:solidFill>
                  <a:latin typeface="Nunito"/>
                  <a:ea typeface="Nunito"/>
                  <a:cs typeface="Nunito"/>
                  <a:sym typeface="Nunito"/>
                </a:rPr>
                <a:t>$65.51</a:t>
              </a:r>
              <a:endParaRPr sz="700" dirty="0"/>
            </a:p>
          </p:txBody>
        </p:sp>
        <p:sp>
          <p:nvSpPr>
            <p:cNvPr id="16" name="Google Shape;255;p16">
              <a:extLst>
                <a:ext uri="{FF2B5EF4-FFF2-40B4-BE49-F238E27FC236}">
                  <a16:creationId xmlns:a16="http://schemas.microsoft.com/office/drawing/2014/main" id="{7D6FF9AD-06BA-6E4B-01E8-BE60A9850EFC}"/>
                </a:ext>
              </a:extLst>
            </p:cNvPr>
            <p:cNvSpPr txBox="1"/>
            <p:nvPr/>
          </p:nvSpPr>
          <p:spPr>
            <a:xfrm>
              <a:off x="0" y="795542"/>
              <a:ext cx="4330800" cy="4247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 i="0" u="none" strike="noStrike" cap="none" dirty="0">
                  <a:solidFill>
                    <a:srgbClr val="2B2C30"/>
                  </a:solidFill>
                  <a:latin typeface="Nunito"/>
                  <a:ea typeface="Nunito"/>
                  <a:cs typeface="Nunito"/>
                  <a:sym typeface="Nunito"/>
                </a:rPr>
                <a:t>Revenue per available room </a:t>
              </a:r>
              <a:endParaRPr sz="700" dirty="0"/>
            </a:p>
          </p:txBody>
        </p:sp>
      </p:grpSp>
      <p:sp>
        <p:nvSpPr>
          <p:cNvPr id="17" name="Google Shape;375;p22">
            <a:extLst>
              <a:ext uri="{FF2B5EF4-FFF2-40B4-BE49-F238E27FC236}">
                <a16:creationId xmlns:a16="http://schemas.microsoft.com/office/drawing/2014/main" id="{43861439-12E7-02B0-8FAA-23211CDBC4BC}"/>
              </a:ext>
            </a:extLst>
          </p:cNvPr>
          <p:cNvSpPr txBox="1"/>
          <p:nvPr/>
        </p:nvSpPr>
        <p:spPr>
          <a:xfrm>
            <a:off x="1141775" y="1941701"/>
            <a:ext cx="1453634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Challenges</a:t>
            </a:r>
            <a:endParaRPr sz="1800" b="1" dirty="0"/>
          </a:p>
        </p:txBody>
      </p:sp>
      <p:sp>
        <p:nvSpPr>
          <p:cNvPr id="18" name="Google Shape;375;p22">
            <a:extLst>
              <a:ext uri="{FF2B5EF4-FFF2-40B4-BE49-F238E27FC236}">
                <a16:creationId xmlns:a16="http://schemas.microsoft.com/office/drawing/2014/main" id="{A06AC942-D41C-8340-1D2D-68482F7A44CD}"/>
              </a:ext>
            </a:extLst>
          </p:cNvPr>
          <p:cNvSpPr txBox="1"/>
          <p:nvPr/>
        </p:nvSpPr>
        <p:spPr>
          <a:xfrm>
            <a:off x="6498005" y="1938762"/>
            <a:ext cx="67506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KPIs</a:t>
            </a:r>
            <a:endParaRPr sz="1800" b="1" dirty="0"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2"/>
          <p:cNvSpPr txBox="1"/>
          <p:nvPr/>
        </p:nvSpPr>
        <p:spPr>
          <a:xfrm>
            <a:off x="1598347" y="1417634"/>
            <a:ext cx="189643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Data Checks</a:t>
            </a:r>
            <a:endParaRPr sz="1800" dirty="0"/>
          </a:p>
        </p:txBody>
      </p:sp>
      <p:sp>
        <p:nvSpPr>
          <p:cNvPr id="366" name="Google Shape;366;p22"/>
          <p:cNvSpPr txBox="1"/>
          <p:nvPr/>
        </p:nvSpPr>
        <p:spPr>
          <a:xfrm>
            <a:off x="6369911" y="1402366"/>
            <a:ext cx="189643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2B2C30"/>
                </a:solidFill>
                <a:latin typeface="Nunito"/>
                <a:sym typeface="Nunito"/>
              </a:rPr>
              <a:t>Solution Design</a:t>
            </a:r>
            <a:endParaRPr sz="1800" dirty="0"/>
          </a:p>
        </p:txBody>
      </p:sp>
      <p:cxnSp>
        <p:nvCxnSpPr>
          <p:cNvPr id="374" name="Google Shape;374;p22"/>
          <p:cNvCxnSpPr/>
          <p:nvPr/>
        </p:nvCxnSpPr>
        <p:spPr>
          <a:xfrm rot="10800000">
            <a:off x="4696414" y="1929156"/>
            <a:ext cx="0" cy="1966906"/>
          </a:xfrm>
          <a:prstGeom prst="straightConnector1">
            <a:avLst/>
          </a:prstGeom>
          <a:noFill/>
          <a:ln w="38100" cap="flat" cmpd="sng">
            <a:solidFill>
              <a:srgbClr val="C0A27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6" name="Google Shape;376;p22"/>
          <p:cNvSpPr txBox="1"/>
          <p:nvPr/>
        </p:nvSpPr>
        <p:spPr>
          <a:xfrm>
            <a:off x="514350" y="466244"/>
            <a:ext cx="82179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0" i="0" u="none" strike="noStrike" cap="none" dirty="0">
                <a:solidFill>
                  <a:srgbClr val="C0A27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 Modeling</a:t>
            </a:r>
            <a:endParaRPr sz="700" dirty="0"/>
          </a:p>
        </p:txBody>
      </p:sp>
      <p:sp>
        <p:nvSpPr>
          <p:cNvPr id="3" name="Google Shape;246;p16">
            <a:extLst>
              <a:ext uri="{FF2B5EF4-FFF2-40B4-BE49-F238E27FC236}">
                <a16:creationId xmlns:a16="http://schemas.microsoft.com/office/drawing/2014/main" id="{4C3BE507-27F0-01B5-8E4B-3100A26E3E0D}"/>
              </a:ext>
            </a:extLst>
          </p:cNvPr>
          <p:cNvSpPr txBox="1"/>
          <p:nvPr/>
        </p:nvSpPr>
        <p:spPr>
          <a:xfrm>
            <a:off x="5579389" y="1854249"/>
            <a:ext cx="3240000" cy="1451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4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CA" sz="15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Merged booking, requests and room details</a:t>
            </a:r>
          </a:p>
          <a:p>
            <a:pPr marL="285750" lvl="4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CA" sz="15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Combined food order and menu details</a:t>
            </a:r>
            <a:endParaRPr lang="en-CA" sz="1500" dirty="0"/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CA" sz="1500" dirty="0"/>
          </a:p>
          <a:p>
            <a:pPr marL="285750" marR="0" lvl="0" indent="-2857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CA" sz="700" dirty="0"/>
          </a:p>
        </p:txBody>
      </p:sp>
      <p:sp>
        <p:nvSpPr>
          <p:cNvPr id="4" name="Google Shape;246;p16">
            <a:extLst>
              <a:ext uri="{FF2B5EF4-FFF2-40B4-BE49-F238E27FC236}">
                <a16:creationId xmlns:a16="http://schemas.microsoft.com/office/drawing/2014/main" id="{C0470F05-40A9-DE98-7531-6DAB8BA68260}"/>
              </a:ext>
            </a:extLst>
          </p:cNvPr>
          <p:cNvSpPr txBox="1"/>
          <p:nvPr/>
        </p:nvSpPr>
        <p:spPr>
          <a:xfrm>
            <a:off x="620254" y="1854249"/>
            <a:ext cx="3130329" cy="1716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CA" sz="1500" dirty="0">
                <a:solidFill>
                  <a:srgbClr val="2B2C30"/>
                </a:solidFill>
                <a:latin typeface="Nunito"/>
                <a:sym typeface="Nunito"/>
              </a:rPr>
              <a:t>5 datasets provided</a:t>
            </a:r>
            <a:endParaRPr lang="en-CA" sz="1500" dirty="0"/>
          </a:p>
          <a:p>
            <a:pPr marL="285750" marR="0" lvl="0" indent="-2857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5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No missing data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CA" sz="15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No duplicate data</a:t>
            </a:r>
          </a:p>
          <a:p>
            <a:pPr marL="285750" marR="0" lvl="0" indent="-2857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5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Request ID discrepancies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CA" sz="15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Year Correction (1916 to 2016)</a:t>
            </a:r>
          </a:p>
          <a:p>
            <a:pPr algn="just">
              <a:lnSpc>
                <a:spcPct val="115000"/>
              </a:lnSpc>
            </a:pPr>
            <a:endParaRPr lang="en-CA" sz="1500" dirty="0"/>
          </a:p>
          <a:p>
            <a:pPr marL="285750" marR="0" lvl="0" indent="-2857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700" dirty="0"/>
          </a:p>
        </p:txBody>
      </p:sp>
    </p:spTree>
    <p:extLst>
      <p:ext uri="{BB962C8B-B14F-4D97-AF65-F5344CB8AC3E}">
        <p14:creationId xmlns:p14="http://schemas.microsoft.com/office/powerpoint/2010/main" val="3069545185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2"/>
          <p:cNvSpPr txBox="1"/>
          <p:nvPr/>
        </p:nvSpPr>
        <p:spPr>
          <a:xfrm>
            <a:off x="530160" y="2316371"/>
            <a:ext cx="189643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  <a:hlinkClick r:id="rId3" action="ppaction://hlinksldjump"/>
              </a:rPr>
              <a:t># of Bookings</a:t>
            </a:r>
            <a:endParaRPr sz="700" dirty="0"/>
          </a:p>
        </p:txBody>
      </p:sp>
      <p:sp>
        <p:nvSpPr>
          <p:cNvPr id="365" name="Google Shape;365;p22"/>
          <p:cNvSpPr txBox="1"/>
          <p:nvPr/>
        </p:nvSpPr>
        <p:spPr>
          <a:xfrm>
            <a:off x="3517803" y="2316371"/>
            <a:ext cx="189643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  <a:hlinkClick r:id="rId4" action="ppaction://hlinksldjump"/>
              </a:rPr>
              <a:t>Booking Revenue</a:t>
            </a:r>
            <a:endParaRPr sz="700" dirty="0"/>
          </a:p>
        </p:txBody>
      </p:sp>
      <p:sp>
        <p:nvSpPr>
          <p:cNvPr id="366" name="Google Shape;366;p22"/>
          <p:cNvSpPr txBox="1"/>
          <p:nvPr/>
        </p:nvSpPr>
        <p:spPr>
          <a:xfrm>
            <a:off x="6501957" y="2316371"/>
            <a:ext cx="22302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  <a:hlinkClick r:id="rId5" action="ppaction://hlinksldjump"/>
              </a:rPr>
              <a:t>Average Stay Duration</a:t>
            </a:r>
            <a:endParaRPr sz="700" dirty="0"/>
          </a:p>
        </p:txBody>
      </p:sp>
      <p:sp>
        <p:nvSpPr>
          <p:cNvPr id="370" name="Google Shape;370;p22"/>
          <p:cNvSpPr txBox="1"/>
          <p:nvPr/>
        </p:nvSpPr>
        <p:spPr>
          <a:xfrm>
            <a:off x="530160" y="2814467"/>
            <a:ext cx="2106000" cy="318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" sz="9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Highest in January (3690), lowest in February (3158)</a:t>
            </a:r>
            <a:endParaRPr sz="700" dirty="0"/>
          </a:p>
        </p:txBody>
      </p:sp>
      <p:sp>
        <p:nvSpPr>
          <p:cNvPr id="371" name="Google Shape;371;p22"/>
          <p:cNvSpPr txBox="1"/>
          <p:nvPr/>
        </p:nvSpPr>
        <p:spPr>
          <a:xfrm>
            <a:off x="3517803" y="2814467"/>
            <a:ext cx="2106000" cy="318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Highest in January (1.65 million) and lowest in February (1.42 million)</a:t>
            </a:r>
            <a:endParaRPr sz="700" dirty="0"/>
          </a:p>
        </p:txBody>
      </p:sp>
      <p:sp>
        <p:nvSpPr>
          <p:cNvPr id="372" name="Google Shape;372;p22"/>
          <p:cNvSpPr txBox="1"/>
          <p:nvPr/>
        </p:nvSpPr>
        <p:spPr>
          <a:xfrm>
            <a:off x="6539480" y="2814467"/>
            <a:ext cx="2106000" cy="318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Highest in February (4.5 days) and lowest in January (4.4 days)</a:t>
            </a:r>
            <a:endParaRPr sz="700" dirty="0"/>
          </a:p>
        </p:txBody>
      </p:sp>
      <p:cxnSp>
        <p:nvCxnSpPr>
          <p:cNvPr id="373" name="Google Shape;373;p22"/>
          <p:cNvCxnSpPr>
            <a:cxnSpLocks/>
          </p:cNvCxnSpPr>
          <p:nvPr/>
        </p:nvCxnSpPr>
        <p:spPr>
          <a:xfrm flipV="1">
            <a:off x="5922395" y="1891362"/>
            <a:ext cx="0" cy="2785894"/>
          </a:xfrm>
          <a:prstGeom prst="straightConnector1">
            <a:avLst/>
          </a:prstGeom>
          <a:noFill/>
          <a:ln w="38100" cap="flat" cmpd="sng">
            <a:solidFill>
              <a:srgbClr val="C0A27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4" name="Google Shape;374;p22"/>
          <p:cNvCxnSpPr>
            <a:cxnSpLocks/>
          </p:cNvCxnSpPr>
          <p:nvPr/>
        </p:nvCxnSpPr>
        <p:spPr>
          <a:xfrm flipV="1">
            <a:off x="3006152" y="1891362"/>
            <a:ext cx="9008" cy="2785894"/>
          </a:xfrm>
          <a:prstGeom prst="straightConnector1">
            <a:avLst/>
          </a:prstGeom>
          <a:noFill/>
          <a:ln w="38100" cap="flat" cmpd="sng">
            <a:solidFill>
              <a:srgbClr val="C0A27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5" name="Google Shape;375;p22"/>
          <p:cNvSpPr txBox="1"/>
          <p:nvPr/>
        </p:nvSpPr>
        <p:spPr>
          <a:xfrm>
            <a:off x="530160" y="1345018"/>
            <a:ext cx="5735129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2B2C30"/>
                </a:solidFill>
                <a:latin typeface="Nunito"/>
                <a:sym typeface="Nunito"/>
              </a:rPr>
              <a:t>BOOKING &amp; REQUEST TREND</a:t>
            </a:r>
            <a:endParaRPr sz="1800" dirty="0"/>
          </a:p>
        </p:txBody>
      </p:sp>
      <p:sp>
        <p:nvSpPr>
          <p:cNvPr id="376" name="Google Shape;376;p22"/>
          <p:cNvSpPr txBox="1"/>
          <p:nvPr/>
        </p:nvSpPr>
        <p:spPr>
          <a:xfrm>
            <a:off x="514350" y="466244"/>
            <a:ext cx="82179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0" i="0" u="none" strike="noStrike" cap="none" dirty="0">
                <a:solidFill>
                  <a:srgbClr val="C0A27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 Insights</a:t>
            </a:r>
            <a:endParaRPr sz="700" dirty="0"/>
          </a:p>
        </p:txBody>
      </p:sp>
      <p:sp>
        <p:nvSpPr>
          <p:cNvPr id="2" name="Google Shape;364;p22">
            <a:extLst>
              <a:ext uri="{FF2B5EF4-FFF2-40B4-BE49-F238E27FC236}">
                <a16:creationId xmlns:a16="http://schemas.microsoft.com/office/drawing/2014/main" id="{6F54BC9F-F8A8-47AB-04EA-7B2D569F602C}"/>
              </a:ext>
            </a:extLst>
          </p:cNvPr>
          <p:cNvSpPr txBox="1"/>
          <p:nvPr/>
        </p:nvSpPr>
        <p:spPr>
          <a:xfrm>
            <a:off x="514350" y="3501701"/>
            <a:ext cx="189643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  <a:hlinkClick r:id="rId6" action="ppaction://hlinksldjump"/>
              </a:rPr>
              <a:t>Average # of Guests</a:t>
            </a:r>
            <a:endParaRPr sz="700" dirty="0"/>
          </a:p>
        </p:txBody>
      </p:sp>
      <p:sp>
        <p:nvSpPr>
          <p:cNvPr id="3" name="Google Shape;365;p22">
            <a:extLst>
              <a:ext uri="{FF2B5EF4-FFF2-40B4-BE49-F238E27FC236}">
                <a16:creationId xmlns:a16="http://schemas.microsoft.com/office/drawing/2014/main" id="{5CCDB535-21CE-E73E-47F0-57FD28C5E1C2}"/>
              </a:ext>
            </a:extLst>
          </p:cNvPr>
          <p:cNvSpPr txBox="1"/>
          <p:nvPr/>
        </p:nvSpPr>
        <p:spPr>
          <a:xfrm>
            <a:off x="3501993" y="3501701"/>
            <a:ext cx="202559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  <a:hlinkClick r:id="rId7" action="ppaction://hlinksldjump"/>
              </a:rPr>
              <a:t>Request Type</a:t>
            </a:r>
            <a:r>
              <a:rPr lang="en" sz="15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  <a:hlinkClick r:id="rId7" action="ppaction://hlinksldjump"/>
              </a:rPr>
              <a:t> Revenue</a:t>
            </a:r>
            <a:endParaRPr sz="700" dirty="0"/>
          </a:p>
        </p:txBody>
      </p:sp>
      <p:sp>
        <p:nvSpPr>
          <p:cNvPr id="4" name="Google Shape;366;p22">
            <a:extLst>
              <a:ext uri="{FF2B5EF4-FFF2-40B4-BE49-F238E27FC236}">
                <a16:creationId xmlns:a16="http://schemas.microsoft.com/office/drawing/2014/main" id="{13CECA47-1CCC-FE91-FBBF-BBF3DA375850}"/>
              </a:ext>
            </a:extLst>
          </p:cNvPr>
          <p:cNvSpPr txBox="1"/>
          <p:nvPr/>
        </p:nvSpPr>
        <p:spPr>
          <a:xfrm>
            <a:off x="6486147" y="3501701"/>
            <a:ext cx="22302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  <a:hlinkClick r:id="rId8" action="ppaction://hlinksldjump"/>
              </a:rPr>
              <a:t>Average Stay Duration</a:t>
            </a:r>
            <a:endParaRPr sz="700" dirty="0"/>
          </a:p>
        </p:txBody>
      </p:sp>
      <p:sp>
        <p:nvSpPr>
          <p:cNvPr id="5" name="Google Shape;370;p22">
            <a:extLst>
              <a:ext uri="{FF2B5EF4-FFF2-40B4-BE49-F238E27FC236}">
                <a16:creationId xmlns:a16="http://schemas.microsoft.com/office/drawing/2014/main" id="{24BDFAD0-B879-0350-96CB-99EAE8936EFB}"/>
              </a:ext>
            </a:extLst>
          </p:cNvPr>
          <p:cNvSpPr txBox="1"/>
          <p:nvPr/>
        </p:nvSpPr>
        <p:spPr>
          <a:xfrm>
            <a:off x="514350" y="3999797"/>
            <a:ext cx="2106000" cy="318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" sz="9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Driven by weddings (53.4) and party (52.8)</a:t>
            </a:r>
            <a:endParaRPr sz="700" dirty="0"/>
          </a:p>
        </p:txBody>
      </p:sp>
      <p:sp>
        <p:nvSpPr>
          <p:cNvPr id="6" name="Google Shape;371;p22">
            <a:extLst>
              <a:ext uri="{FF2B5EF4-FFF2-40B4-BE49-F238E27FC236}">
                <a16:creationId xmlns:a16="http://schemas.microsoft.com/office/drawing/2014/main" id="{BC2C9FA0-F95E-523A-E6BB-474F4246050F}"/>
              </a:ext>
            </a:extLst>
          </p:cNvPr>
          <p:cNvSpPr txBox="1"/>
          <p:nvPr/>
        </p:nvSpPr>
        <p:spPr>
          <a:xfrm>
            <a:off x="3501993" y="3999797"/>
            <a:ext cx="2106000" cy="318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Primarily driven by holiday (1.58 million) and business (1.2 million)</a:t>
            </a:r>
            <a:endParaRPr sz="700" dirty="0"/>
          </a:p>
        </p:txBody>
      </p:sp>
      <p:sp>
        <p:nvSpPr>
          <p:cNvPr id="7" name="Google Shape;372;p22">
            <a:extLst>
              <a:ext uri="{FF2B5EF4-FFF2-40B4-BE49-F238E27FC236}">
                <a16:creationId xmlns:a16="http://schemas.microsoft.com/office/drawing/2014/main" id="{8D9FDAB4-1A9B-F6D4-5C11-58DBC35D9BFD}"/>
              </a:ext>
            </a:extLst>
          </p:cNvPr>
          <p:cNvSpPr txBox="1"/>
          <p:nvPr/>
        </p:nvSpPr>
        <p:spPr>
          <a:xfrm>
            <a:off x="6523670" y="3999797"/>
            <a:ext cx="2106000" cy="318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Primarily driven by holiday (4.6 days) and business (4.4 days)</a:t>
            </a:r>
            <a:endParaRPr lang="en-CA" sz="700" dirty="0"/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3" name="Google Shape;373;p22"/>
          <p:cNvCxnSpPr>
            <a:cxnSpLocks/>
          </p:cNvCxnSpPr>
          <p:nvPr/>
        </p:nvCxnSpPr>
        <p:spPr>
          <a:xfrm flipV="1">
            <a:off x="5922395" y="1891362"/>
            <a:ext cx="0" cy="1278041"/>
          </a:xfrm>
          <a:prstGeom prst="straightConnector1">
            <a:avLst/>
          </a:prstGeom>
          <a:noFill/>
          <a:ln w="38100" cap="flat" cmpd="sng">
            <a:solidFill>
              <a:srgbClr val="C0A27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4" name="Google Shape;374;p22"/>
          <p:cNvCxnSpPr>
            <a:cxnSpLocks/>
          </p:cNvCxnSpPr>
          <p:nvPr/>
        </p:nvCxnSpPr>
        <p:spPr>
          <a:xfrm flipV="1">
            <a:off x="3015160" y="1891362"/>
            <a:ext cx="0" cy="1278041"/>
          </a:xfrm>
          <a:prstGeom prst="straightConnector1">
            <a:avLst/>
          </a:prstGeom>
          <a:noFill/>
          <a:ln w="38100" cap="flat" cmpd="sng">
            <a:solidFill>
              <a:srgbClr val="C0A27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5" name="Google Shape;375;p22"/>
          <p:cNvSpPr txBox="1"/>
          <p:nvPr/>
        </p:nvSpPr>
        <p:spPr>
          <a:xfrm>
            <a:off x="530160" y="1345018"/>
            <a:ext cx="5735129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2B2C30"/>
                </a:solidFill>
                <a:latin typeface="Nunito"/>
                <a:sym typeface="Nunito"/>
              </a:rPr>
              <a:t>ROOM TREND</a:t>
            </a:r>
            <a:endParaRPr sz="1800" dirty="0"/>
          </a:p>
        </p:txBody>
      </p:sp>
      <p:sp>
        <p:nvSpPr>
          <p:cNvPr id="376" name="Google Shape;376;p22"/>
          <p:cNvSpPr txBox="1"/>
          <p:nvPr/>
        </p:nvSpPr>
        <p:spPr>
          <a:xfrm>
            <a:off x="514350" y="466244"/>
            <a:ext cx="82179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0" i="0" u="none" strike="noStrike" cap="none" dirty="0">
                <a:solidFill>
                  <a:srgbClr val="C0A27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 Insights</a:t>
            </a:r>
            <a:endParaRPr sz="700" dirty="0"/>
          </a:p>
        </p:txBody>
      </p:sp>
      <p:sp>
        <p:nvSpPr>
          <p:cNvPr id="2" name="Google Shape;364;p22">
            <a:extLst>
              <a:ext uri="{FF2B5EF4-FFF2-40B4-BE49-F238E27FC236}">
                <a16:creationId xmlns:a16="http://schemas.microsoft.com/office/drawing/2014/main" id="{6F54BC9F-F8A8-47AB-04EA-7B2D569F602C}"/>
              </a:ext>
            </a:extLst>
          </p:cNvPr>
          <p:cNvSpPr txBox="1"/>
          <p:nvPr/>
        </p:nvSpPr>
        <p:spPr>
          <a:xfrm>
            <a:off x="514350" y="2029362"/>
            <a:ext cx="189643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  <a:hlinkClick r:id="rId3" action="ppaction://hlinksldjump"/>
              </a:rPr>
              <a:t>Average # of Guests</a:t>
            </a:r>
            <a:endParaRPr sz="700" dirty="0"/>
          </a:p>
        </p:txBody>
      </p:sp>
      <p:sp>
        <p:nvSpPr>
          <p:cNvPr id="3" name="Google Shape;365;p22">
            <a:extLst>
              <a:ext uri="{FF2B5EF4-FFF2-40B4-BE49-F238E27FC236}">
                <a16:creationId xmlns:a16="http://schemas.microsoft.com/office/drawing/2014/main" id="{5CCDB535-21CE-E73E-47F0-57FD28C5E1C2}"/>
              </a:ext>
            </a:extLst>
          </p:cNvPr>
          <p:cNvSpPr txBox="1"/>
          <p:nvPr/>
        </p:nvSpPr>
        <p:spPr>
          <a:xfrm>
            <a:off x="3501993" y="2029362"/>
            <a:ext cx="202559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  <a:hlinkClick r:id="rId4" action="ppaction://hlinksldjump"/>
              </a:rPr>
              <a:t>Room Type</a:t>
            </a:r>
            <a:r>
              <a:rPr lang="en" sz="15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  <a:hlinkClick r:id="rId4" action="ppaction://hlinksldjump"/>
              </a:rPr>
              <a:t> Revenue</a:t>
            </a:r>
            <a:endParaRPr sz="700" dirty="0"/>
          </a:p>
        </p:txBody>
      </p:sp>
      <p:sp>
        <p:nvSpPr>
          <p:cNvPr id="4" name="Google Shape;366;p22">
            <a:extLst>
              <a:ext uri="{FF2B5EF4-FFF2-40B4-BE49-F238E27FC236}">
                <a16:creationId xmlns:a16="http://schemas.microsoft.com/office/drawing/2014/main" id="{13CECA47-1CCC-FE91-FBBF-BBF3DA375850}"/>
              </a:ext>
            </a:extLst>
          </p:cNvPr>
          <p:cNvSpPr txBox="1"/>
          <p:nvPr/>
        </p:nvSpPr>
        <p:spPr>
          <a:xfrm>
            <a:off x="6486147" y="2029362"/>
            <a:ext cx="22302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  <a:hlinkClick r:id="rId5" action="ppaction://hlinksldjump"/>
              </a:rPr>
              <a:t>Average Price</a:t>
            </a:r>
            <a:endParaRPr sz="700" dirty="0"/>
          </a:p>
        </p:txBody>
      </p:sp>
      <p:sp>
        <p:nvSpPr>
          <p:cNvPr id="5" name="Google Shape;370;p22">
            <a:extLst>
              <a:ext uri="{FF2B5EF4-FFF2-40B4-BE49-F238E27FC236}">
                <a16:creationId xmlns:a16="http://schemas.microsoft.com/office/drawing/2014/main" id="{24BDFAD0-B879-0350-96CB-99EAE8936EFB}"/>
              </a:ext>
            </a:extLst>
          </p:cNvPr>
          <p:cNvSpPr txBox="1"/>
          <p:nvPr/>
        </p:nvSpPr>
        <p:spPr>
          <a:xfrm>
            <a:off x="514350" y="2527458"/>
            <a:ext cx="2106000" cy="318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" sz="9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Driven by small conference room  (47.1) and large conference room (46.1)</a:t>
            </a:r>
            <a:endParaRPr sz="700" dirty="0"/>
          </a:p>
        </p:txBody>
      </p:sp>
      <p:sp>
        <p:nvSpPr>
          <p:cNvPr id="6" name="Google Shape;371;p22">
            <a:extLst>
              <a:ext uri="{FF2B5EF4-FFF2-40B4-BE49-F238E27FC236}">
                <a16:creationId xmlns:a16="http://schemas.microsoft.com/office/drawing/2014/main" id="{BC2C9FA0-F95E-523A-E6BB-474F4246050F}"/>
              </a:ext>
            </a:extLst>
          </p:cNvPr>
          <p:cNvSpPr txBox="1"/>
          <p:nvPr/>
        </p:nvSpPr>
        <p:spPr>
          <a:xfrm>
            <a:off x="3501993" y="2527458"/>
            <a:ext cx="2106000" cy="477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Primarily driven by normal room (1.21 million, small conference room (1.04 million and business (0.94 million)</a:t>
            </a:r>
            <a:endParaRPr sz="700" dirty="0"/>
          </a:p>
        </p:txBody>
      </p:sp>
      <p:sp>
        <p:nvSpPr>
          <p:cNvPr id="7" name="Google Shape;372;p22">
            <a:extLst>
              <a:ext uri="{FF2B5EF4-FFF2-40B4-BE49-F238E27FC236}">
                <a16:creationId xmlns:a16="http://schemas.microsoft.com/office/drawing/2014/main" id="{8D9FDAB4-1A9B-F6D4-5C11-58DBC35D9BFD}"/>
              </a:ext>
            </a:extLst>
          </p:cNvPr>
          <p:cNvSpPr txBox="1"/>
          <p:nvPr/>
        </p:nvSpPr>
        <p:spPr>
          <a:xfrm>
            <a:off x="6523670" y="2527458"/>
            <a:ext cx="2106000" cy="318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Primarily driven by deluxe room and large conference room ($150)</a:t>
            </a:r>
            <a:endParaRPr lang="en-CA" sz="700" dirty="0"/>
          </a:p>
        </p:txBody>
      </p:sp>
    </p:spTree>
    <p:extLst>
      <p:ext uri="{BB962C8B-B14F-4D97-AF65-F5344CB8AC3E}">
        <p14:creationId xmlns:p14="http://schemas.microsoft.com/office/powerpoint/2010/main" val="1003265639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4" name="Google Shape;374;p22"/>
          <p:cNvCxnSpPr>
            <a:cxnSpLocks/>
          </p:cNvCxnSpPr>
          <p:nvPr/>
        </p:nvCxnSpPr>
        <p:spPr>
          <a:xfrm flipV="1">
            <a:off x="3007411" y="2069593"/>
            <a:ext cx="0" cy="1642252"/>
          </a:xfrm>
          <a:prstGeom prst="straightConnector1">
            <a:avLst/>
          </a:prstGeom>
          <a:noFill/>
          <a:ln w="38100" cap="flat" cmpd="sng">
            <a:solidFill>
              <a:srgbClr val="C0A27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5" name="Google Shape;375;p22"/>
          <p:cNvSpPr txBox="1"/>
          <p:nvPr/>
        </p:nvSpPr>
        <p:spPr>
          <a:xfrm>
            <a:off x="530160" y="1345018"/>
            <a:ext cx="5735129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2B2C30"/>
                </a:solidFill>
                <a:latin typeface="Nunito"/>
                <a:sym typeface="Nunito"/>
              </a:rPr>
              <a:t>FOOD TREND</a:t>
            </a:r>
            <a:endParaRPr sz="1800" dirty="0"/>
          </a:p>
        </p:txBody>
      </p:sp>
      <p:sp>
        <p:nvSpPr>
          <p:cNvPr id="376" name="Google Shape;376;p22"/>
          <p:cNvSpPr txBox="1"/>
          <p:nvPr/>
        </p:nvSpPr>
        <p:spPr>
          <a:xfrm>
            <a:off x="514350" y="466244"/>
            <a:ext cx="82179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0" i="0" u="none" strike="noStrike" cap="none" dirty="0">
                <a:solidFill>
                  <a:srgbClr val="C0A27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 Insights</a:t>
            </a:r>
            <a:endParaRPr sz="700" dirty="0"/>
          </a:p>
        </p:txBody>
      </p:sp>
      <p:sp>
        <p:nvSpPr>
          <p:cNvPr id="2" name="Google Shape;364;p22">
            <a:extLst>
              <a:ext uri="{FF2B5EF4-FFF2-40B4-BE49-F238E27FC236}">
                <a16:creationId xmlns:a16="http://schemas.microsoft.com/office/drawing/2014/main" id="{6F54BC9F-F8A8-47AB-04EA-7B2D569F602C}"/>
              </a:ext>
            </a:extLst>
          </p:cNvPr>
          <p:cNvSpPr txBox="1"/>
          <p:nvPr/>
        </p:nvSpPr>
        <p:spPr>
          <a:xfrm>
            <a:off x="530160" y="2248585"/>
            <a:ext cx="189643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  <a:hlinkClick r:id="rId3" action="ppaction://hlinksldjump"/>
              </a:rPr>
              <a:t>Food Revenue</a:t>
            </a:r>
            <a:endParaRPr sz="700" dirty="0"/>
          </a:p>
        </p:txBody>
      </p:sp>
      <p:sp>
        <p:nvSpPr>
          <p:cNvPr id="3" name="Google Shape;365;p22">
            <a:extLst>
              <a:ext uri="{FF2B5EF4-FFF2-40B4-BE49-F238E27FC236}">
                <a16:creationId xmlns:a16="http://schemas.microsoft.com/office/drawing/2014/main" id="{5CCDB535-21CE-E73E-47F0-57FD28C5E1C2}"/>
              </a:ext>
            </a:extLst>
          </p:cNvPr>
          <p:cNvSpPr txBox="1"/>
          <p:nvPr/>
        </p:nvSpPr>
        <p:spPr>
          <a:xfrm>
            <a:off x="3517802" y="2248585"/>
            <a:ext cx="249552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  <a:hlinkClick r:id="rId4" action="ppaction://hlinksldjump"/>
              </a:rPr>
              <a:t>Food  Popularity &amp; Revenue</a:t>
            </a:r>
            <a:endParaRPr sz="700" dirty="0"/>
          </a:p>
        </p:txBody>
      </p:sp>
      <p:sp>
        <p:nvSpPr>
          <p:cNvPr id="5" name="Google Shape;370;p22">
            <a:extLst>
              <a:ext uri="{FF2B5EF4-FFF2-40B4-BE49-F238E27FC236}">
                <a16:creationId xmlns:a16="http://schemas.microsoft.com/office/drawing/2014/main" id="{24BDFAD0-B879-0350-96CB-99EAE8936EFB}"/>
              </a:ext>
            </a:extLst>
          </p:cNvPr>
          <p:cNvSpPr txBox="1"/>
          <p:nvPr/>
        </p:nvSpPr>
        <p:spPr>
          <a:xfrm>
            <a:off x="530160" y="2746681"/>
            <a:ext cx="2106000" cy="318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" sz="9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Dinner is the largest revenue driver (44.74k)</a:t>
            </a:r>
            <a:endParaRPr sz="700" dirty="0"/>
          </a:p>
        </p:txBody>
      </p:sp>
      <p:sp>
        <p:nvSpPr>
          <p:cNvPr id="6" name="Google Shape;371;p22">
            <a:extLst>
              <a:ext uri="{FF2B5EF4-FFF2-40B4-BE49-F238E27FC236}">
                <a16:creationId xmlns:a16="http://schemas.microsoft.com/office/drawing/2014/main" id="{BC2C9FA0-F95E-523A-E6BB-474F4246050F}"/>
              </a:ext>
            </a:extLst>
          </p:cNvPr>
          <p:cNvSpPr txBox="1"/>
          <p:nvPr/>
        </p:nvSpPr>
        <p:spPr>
          <a:xfrm>
            <a:off x="3517803" y="2746681"/>
            <a:ext cx="2106000" cy="318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Primarily driven by steak ‘n stuff, surf ‘n turf and vegetarian lasagna</a:t>
            </a:r>
            <a:endParaRPr sz="700" dirty="0"/>
          </a:p>
        </p:txBody>
      </p:sp>
    </p:spTree>
    <p:extLst>
      <p:ext uri="{BB962C8B-B14F-4D97-AF65-F5344CB8AC3E}">
        <p14:creationId xmlns:p14="http://schemas.microsoft.com/office/powerpoint/2010/main" val="471540530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"/>
          <p:cNvSpPr txBox="1"/>
          <p:nvPr/>
        </p:nvSpPr>
        <p:spPr>
          <a:xfrm>
            <a:off x="1147141" y="2189266"/>
            <a:ext cx="13906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Lead Time Data</a:t>
            </a:r>
            <a:endParaRPr sz="700" dirty="0"/>
          </a:p>
        </p:txBody>
      </p:sp>
      <p:sp>
        <p:nvSpPr>
          <p:cNvPr id="325" name="Google Shape;325;p20"/>
          <p:cNvSpPr txBox="1"/>
          <p:nvPr/>
        </p:nvSpPr>
        <p:spPr>
          <a:xfrm>
            <a:off x="3184356" y="2189266"/>
            <a:ext cx="2424521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Customer Satisfaction Score</a:t>
            </a:r>
            <a:endParaRPr sz="700" dirty="0"/>
          </a:p>
        </p:txBody>
      </p:sp>
      <p:sp>
        <p:nvSpPr>
          <p:cNvPr id="326" name="Google Shape;326;p20"/>
          <p:cNvSpPr txBox="1"/>
          <p:nvPr/>
        </p:nvSpPr>
        <p:spPr>
          <a:xfrm>
            <a:off x="1147141" y="2629861"/>
            <a:ext cx="1453800" cy="477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Knowing how far in advance guests book can help protect room inventory </a:t>
            </a:r>
            <a:endParaRPr sz="700" dirty="0"/>
          </a:p>
        </p:txBody>
      </p:sp>
      <p:sp>
        <p:nvSpPr>
          <p:cNvPr id="327" name="Google Shape;327;p20"/>
          <p:cNvSpPr txBox="1"/>
          <p:nvPr/>
        </p:nvSpPr>
        <p:spPr>
          <a:xfrm>
            <a:off x="3184357" y="2615949"/>
            <a:ext cx="2424521" cy="318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It costs more to acquire new customers than keep current ones.  Can leverage NPS</a:t>
            </a:r>
            <a:endParaRPr sz="700" dirty="0"/>
          </a:p>
        </p:txBody>
      </p:sp>
      <p:sp>
        <p:nvSpPr>
          <p:cNvPr id="328" name="Google Shape;328;p20"/>
          <p:cNvSpPr txBox="1"/>
          <p:nvPr/>
        </p:nvSpPr>
        <p:spPr>
          <a:xfrm>
            <a:off x="354196" y="835024"/>
            <a:ext cx="8356496" cy="1006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just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0" i="0" u="none" strike="noStrike" cap="none" dirty="0">
                <a:solidFill>
                  <a:srgbClr val="C0A27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 Recommendations</a:t>
            </a:r>
            <a:endParaRPr sz="700" dirty="0"/>
          </a:p>
        </p:txBody>
      </p:sp>
      <p:sp>
        <p:nvSpPr>
          <p:cNvPr id="4" name="Google Shape;325;p20">
            <a:extLst>
              <a:ext uri="{FF2B5EF4-FFF2-40B4-BE49-F238E27FC236}">
                <a16:creationId xmlns:a16="http://schemas.microsoft.com/office/drawing/2014/main" id="{CC1A22D9-C5D5-C5A7-93C5-7051F137B1B1}"/>
              </a:ext>
            </a:extLst>
          </p:cNvPr>
          <p:cNvSpPr txBox="1"/>
          <p:nvPr/>
        </p:nvSpPr>
        <p:spPr>
          <a:xfrm>
            <a:off x="6053050" y="2189266"/>
            <a:ext cx="2161051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Marketing Attribution</a:t>
            </a:r>
            <a:endParaRPr sz="700" dirty="0"/>
          </a:p>
        </p:txBody>
      </p:sp>
      <p:sp>
        <p:nvSpPr>
          <p:cNvPr id="5" name="Google Shape;327;p20">
            <a:extLst>
              <a:ext uri="{FF2B5EF4-FFF2-40B4-BE49-F238E27FC236}">
                <a16:creationId xmlns:a16="http://schemas.microsoft.com/office/drawing/2014/main" id="{2396A4F7-5DF6-3E94-1932-9C5E38A72E1B}"/>
              </a:ext>
            </a:extLst>
          </p:cNvPr>
          <p:cNvSpPr txBox="1"/>
          <p:nvPr/>
        </p:nvSpPr>
        <p:spPr>
          <a:xfrm>
            <a:off x="6053050" y="2632760"/>
            <a:ext cx="1851086" cy="477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Tracking where requests originated from can help </a:t>
            </a:r>
            <a:r>
              <a:rPr lang="en" sz="900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optimize advertising spend</a:t>
            </a:r>
            <a:endParaRPr sz="700" dirty="0"/>
          </a:p>
        </p:txBody>
      </p:sp>
    </p:spTree>
    <p:extLst>
      <p:ext uri="{BB962C8B-B14F-4D97-AF65-F5344CB8AC3E}">
        <p14:creationId xmlns:p14="http://schemas.microsoft.com/office/powerpoint/2010/main" val="4239483546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0"/>
          <p:cNvSpPr txBox="1"/>
          <p:nvPr/>
        </p:nvSpPr>
        <p:spPr>
          <a:xfrm>
            <a:off x="354195" y="3360946"/>
            <a:ext cx="1831053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Customer Feedback</a:t>
            </a:r>
            <a:endParaRPr sz="700" dirty="0"/>
          </a:p>
        </p:txBody>
      </p:sp>
      <p:sp>
        <p:nvSpPr>
          <p:cNvPr id="321" name="Google Shape;321;p20"/>
          <p:cNvSpPr txBox="1"/>
          <p:nvPr/>
        </p:nvSpPr>
        <p:spPr>
          <a:xfrm>
            <a:off x="3264120" y="3360946"/>
            <a:ext cx="1734079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2B2C30"/>
                </a:solidFill>
                <a:latin typeface="Nunito"/>
                <a:sym typeface="Nunito"/>
              </a:rPr>
              <a:t>Seasonality Impact</a:t>
            </a:r>
            <a:endParaRPr sz="700" dirty="0"/>
          </a:p>
        </p:txBody>
      </p:sp>
      <p:sp>
        <p:nvSpPr>
          <p:cNvPr id="322" name="Google Shape;322;p20"/>
          <p:cNvSpPr txBox="1"/>
          <p:nvPr/>
        </p:nvSpPr>
        <p:spPr>
          <a:xfrm>
            <a:off x="354195" y="3949507"/>
            <a:ext cx="1772805" cy="477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Gather and analyze feedback for different request types to better serve customers</a:t>
            </a:r>
            <a:endParaRPr sz="700" dirty="0"/>
          </a:p>
        </p:txBody>
      </p:sp>
      <p:sp>
        <p:nvSpPr>
          <p:cNvPr id="323" name="Google Shape;323;p20"/>
          <p:cNvSpPr txBox="1"/>
          <p:nvPr/>
        </p:nvSpPr>
        <p:spPr>
          <a:xfrm>
            <a:off x="3264120" y="3949507"/>
            <a:ext cx="1772793" cy="318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Analyze longer term impact since data is limited to 3 months</a:t>
            </a:r>
            <a:endParaRPr sz="700" dirty="0"/>
          </a:p>
        </p:txBody>
      </p:sp>
      <p:sp>
        <p:nvSpPr>
          <p:cNvPr id="324" name="Google Shape;324;p20"/>
          <p:cNvSpPr txBox="1"/>
          <p:nvPr/>
        </p:nvSpPr>
        <p:spPr>
          <a:xfrm>
            <a:off x="354195" y="2116341"/>
            <a:ext cx="202235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Continuous Monitoring</a:t>
            </a:r>
            <a:endParaRPr sz="700" dirty="0"/>
          </a:p>
        </p:txBody>
      </p:sp>
      <p:sp>
        <p:nvSpPr>
          <p:cNvPr id="325" name="Google Shape;325;p20"/>
          <p:cNvSpPr txBox="1"/>
          <p:nvPr/>
        </p:nvSpPr>
        <p:spPr>
          <a:xfrm>
            <a:off x="3264121" y="2116341"/>
            <a:ext cx="134382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Cost Analysis</a:t>
            </a:r>
            <a:endParaRPr sz="700" dirty="0"/>
          </a:p>
        </p:txBody>
      </p:sp>
      <p:sp>
        <p:nvSpPr>
          <p:cNvPr id="326" name="Google Shape;326;p20"/>
          <p:cNvSpPr txBox="1"/>
          <p:nvPr/>
        </p:nvSpPr>
        <p:spPr>
          <a:xfrm>
            <a:off x="354195" y="2596341"/>
            <a:ext cx="1831041" cy="477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Regular tracking of KPIs, booking trends and menu performance to detect shifts and opportunities</a:t>
            </a:r>
            <a:endParaRPr lang="en-CA" sz="700" dirty="0"/>
          </a:p>
        </p:txBody>
      </p:sp>
      <p:sp>
        <p:nvSpPr>
          <p:cNvPr id="327" name="Google Shape;327;p20"/>
          <p:cNvSpPr txBox="1"/>
          <p:nvPr/>
        </p:nvSpPr>
        <p:spPr>
          <a:xfrm>
            <a:off x="3264121" y="2596341"/>
            <a:ext cx="1453800" cy="477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Review menu cost data to perform better profit analysis</a:t>
            </a:r>
            <a:endParaRPr sz="700" dirty="0"/>
          </a:p>
        </p:txBody>
      </p:sp>
      <p:sp>
        <p:nvSpPr>
          <p:cNvPr id="328" name="Google Shape;328;p20"/>
          <p:cNvSpPr txBox="1"/>
          <p:nvPr/>
        </p:nvSpPr>
        <p:spPr>
          <a:xfrm>
            <a:off x="354196" y="835024"/>
            <a:ext cx="8356496" cy="1006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just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0" i="0" u="none" strike="noStrike" cap="none" dirty="0">
                <a:solidFill>
                  <a:srgbClr val="C0A27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Next Steps</a:t>
            </a:r>
            <a:endParaRPr sz="700" dirty="0"/>
          </a:p>
        </p:txBody>
      </p:sp>
      <p:cxnSp>
        <p:nvCxnSpPr>
          <p:cNvPr id="329" name="Google Shape;329;p20"/>
          <p:cNvCxnSpPr/>
          <p:nvPr/>
        </p:nvCxnSpPr>
        <p:spPr>
          <a:xfrm rot="10800000">
            <a:off x="2695564" y="2140153"/>
            <a:ext cx="0" cy="2254943"/>
          </a:xfrm>
          <a:prstGeom prst="straightConnector1">
            <a:avLst/>
          </a:prstGeom>
          <a:noFill/>
          <a:ln w="38100" cap="flat" cmpd="sng">
            <a:solidFill>
              <a:srgbClr val="C0A27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321;p20">
            <a:extLst>
              <a:ext uri="{FF2B5EF4-FFF2-40B4-BE49-F238E27FC236}">
                <a16:creationId xmlns:a16="http://schemas.microsoft.com/office/drawing/2014/main" id="{78AB5EF1-C888-BEDB-62AA-502D9EE3B2B0}"/>
              </a:ext>
            </a:extLst>
          </p:cNvPr>
          <p:cNvSpPr txBox="1"/>
          <p:nvPr/>
        </p:nvSpPr>
        <p:spPr>
          <a:xfrm>
            <a:off x="6174049" y="3372124"/>
            <a:ext cx="1734079" cy="26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2B2C30"/>
                </a:solidFill>
                <a:latin typeface="Nunito"/>
                <a:sym typeface="Nunito"/>
              </a:rPr>
              <a:t>Deep Dive Analysis</a:t>
            </a:r>
            <a:endParaRPr sz="700" dirty="0"/>
          </a:p>
        </p:txBody>
      </p:sp>
      <p:sp>
        <p:nvSpPr>
          <p:cNvPr id="3" name="Google Shape;323;p20">
            <a:extLst>
              <a:ext uri="{FF2B5EF4-FFF2-40B4-BE49-F238E27FC236}">
                <a16:creationId xmlns:a16="http://schemas.microsoft.com/office/drawing/2014/main" id="{F25C9A19-CB30-7D85-AF34-53C9C9FD9EDD}"/>
              </a:ext>
            </a:extLst>
          </p:cNvPr>
          <p:cNvSpPr txBox="1"/>
          <p:nvPr/>
        </p:nvSpPr>
        <p:spPr>
          <a:xfrm>
            <a:off x="6160206" y="3953316"/>
            <a:ext cx="2302629" cy="15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Explore yield management, bundling options</a:t>
            </a:r>
            <a:endParaRPr sz="700" dirty="0"/>
          </a:p>
        </p:txBody>
      </p:sp>
      <p:sp>
        <p:nvSpPr>
          <p:cNvPr id="4" name="Google Shape;325;p20">
            <a:extLst>
              <a:ext uri="{FF2B5EF4-FFF2-40B4-BE49-F238E27FC236}">
                <a16:creationId xmlns:a16="http://schemas.microsoft.com/office/drawing/2014/main" id="{05D411C4-3915-DCA8-B589-49204DCB323B}"/>
              </a:ext>
            </a:extLst>
          </p:cNvPr>
          <p:cNvSpPr txBox="1"/>
          <p:nvPr/>
        </p:nvSpPr>
        <p:spPr>
          <a:xfrm>
            <a:off x="6174050" y="2029721"/>
            <a:ext cx="224927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Enhanced Data collection</a:t>
            </a:r>
            <a:endParaRPr sz="700" dirty="0"/>
          </a:p>
        </p:txBody>
      </p:sp>
      <p:sp>
        <p:nvSpPr>
          <p:cNvPr id="5" name="Google Shape;327;p20">
            <a:extLst>
              <a:ext uri="{FF2B5EF4-FFF2-40B4-BE49-F238E27FC236}">
                <a16:creationId xmlns:a16="http://schemas.microsoft.com/office/drawing/2014/main" id="{A6052F29-A4FC-A52C-5433-5BAB2F114ACC}"/>
              </a:ext>
            </a:extLst>
          </p:cNvPr>
          <p:cNvSpPr txBox="1"/>
          <p:nvPr/>
        </p:nvSpPr>
        <p:spPr>
          <a:xfrm>
            <a:off x="6174050" y="2509721"/>
            <a:ext cx="2302631" cy="637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2B2C30"/>
                </a:solidFill>
                <a:latin typeface="Nunito"/>
                <a:sym typeface="Nunito"/>
              </a:rPr>
              <a:t>Collect new data points such as lead sourcing, customer demographics to get more holistic business view and improve decision making</a:t>
            </a:r>
            <a:endParaRPr sz="700" dirty="0"/>
          </a:p>
        </p:txBody>
      </p:sp>
      <p:cxnSp>
        <p:nvCxnSpPr>
          <p:cNvPr id="6" name="Google Shape;329;p20">
            <a:extLst>
              <a:ext uri="{FF2B5EF4-FFF2-40B4-BE49-F238E27FC236}">
                <a16:creationId xmlns:a16="http://schemas.microsoft.com/office/drawing/2014/main" id="{14428416-CFC2-4D97-1D74-34948E792015}"/>
              </a:ext>
            </a:extLst>
          </p:cNvPr>
          <p:cNvCxnSpPr/>
          <p:nvPr/>
        </p:nvCxnSpPr>
        <p:spPr>
          <a:xfrm rot="10800000">
            <a:off x="5605494" y="2053533"/>
            <a:ext cx="0" cy="2254943"/>
          </a:xfrm>
          <a:prstGeom prst="straightConnector1">
            <a:avLst/>
          </a:prstGeom>
          <a:noFill/>
          <a:ln w="38100" cap="flat" cmpd="sng">
            <a:solidFill>
              <a:srgbClr val="C0A27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"/>
          <p:cNvSpPr txBox="1"/>
          <p:nvPr/>
        </p:nvSpPr>
        <p:spPr>
          <a:xfrm>
            <a:off x="473881" y="1954790"/>
            <a:ext cx="13906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Booking Trend</a:t>
            </a:r>
            <a:endParaRPr lang="en-CA" sz="700" dirty="0"/>
          </a:p>
        </p:txBody>
      </p:sp>
      <p:sp>
        <p:nvSpPr>
          <p:cNvPr id="328" name="Google Shape;328;p20"/>
          <p:cNvSpPr txBox="1"/>
          <p:nvPr/>
        </p:nvSpPr>
        <p:spPr>
          <a:xfrm>
            <a:off x="354196" y="835024"/>
            <a:ext cx="8356496" cy="1006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just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0" i="0" u="none" strike="noStrike" cap="none" dirty="0">
                <a:solidFill>
                  <a:srgbClr val="C0A27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Appendix</a:t>
            </a:r>
            <a:endParaRPr sz="7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C4102F-8225-0862-7A5B-EAD491236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921" y="1954790"/>
            <a:ext cx="5346700" cy="2857500"/>
          </a:xfrm>
          <a:prstGeom prst="rect">
            <a:avLst/>
          </a:prstGeom>
        </p:spPr>
      </p:pic>
      <p:sp>
        <p:nvSpPr>
          <p:cNvPr id="8" name="Google Shape;370;p22">
            <a:extLst>
              <a:ext uri="{FF2B5EF4-FFF2-40B4-BE49-F238E27FC236}">
                <a16:creationId xmlns:a16="http://schemas.microsoft.com/office/drawing/2014/main" id="{2EF949D8-9062-6FD9-7E74-A35B7D370493}"/>
              </a:ext>
            </a:extLst>
          </p:cNvPr>
          <p:cNvSpPr txBox="1"/>
          <p:nvPr/>
        </p:nvSpPr>
        <p:spPr>
          <a:xfrm>
            <a:off x="473881" y="2391292"/>
            <a:ext cx="2106000" cy="15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" sz="9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# of Bookings</a:t>
            </a:r>
            <a:endParaRPr sz="700" dirty="0"/>
          </a:p>
        </p:txBody>
      </p:sp>
    </p:spTree>
    <p:extLst>
      <p:ext uri="{BB962C8B-B14F-4D97-AF65-F5344CB8AC3E}">
        <p14:creationId xmlns:p14="http://schemas.microsoft.com/office/powerpoint/2010/main" val="441765452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"/>
          <p:cNvSpPr txBox="1"/>
          <p:nvPr/>
        </p:nvSpPr>
        <p:spPr>
          <a:xfrm>
            <a:off x="473881" y="1954790"/>
            <a:ext cx="13906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Booking Trend</a:t>
            </a:r>
            <a:endParaRPr lang="en-CA" sz="700" dirty="0"/>
          </a:p>
        </p:txBody>
      </p:sp>
      <p:sp>
        <p:nvSpPr>
          <p:cNvPr id="328" name="Google Shape;328;p20"/>
          <p:cNvSpPr txBox="1"/>
          <p:nvPr/>
        </p:nvSpPr>
        <p:spPr>
          <a:xfrm>
            <a:off x="354196" y="835024"/>
            <a:ext cx="8356496" cy="1006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just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0" i="0" u="none" strike="noStrike" cap="none" dirty="0">
                <a:solidFill>
                  <a:srgbClr val="C0A27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Appendix</a:t>
            </a:r>
            <a:endParaRPr sz="700" dirty="0"/>
          </a:p>
        </p:txBody>
      </p:sp>
      <p:sp>
        <p:nvSpPr>
          <p:cNvPr id="8" name="Google Shape;370;p22">
            <a:extLst>
              <a:ext uri="{FF2B5EF4-FFF2-40B4-BE49-F238E27FC236}">
                <a16:creationId xmlns:a16="http://schemas.microsoft.com/office/drawing/2014/main" id="{2EF949D8-9062-6FD9-7E74-A35B7D370493}"/>
              </a:ext>
            </a:extLst>
          </p:cNvPr>
          <p:cNvSpPr txBox="1"/>
          <p:nvPr/>
        </p:nvSpPr>
        <p:spPr>
          <a:xfrm>
            <a:off x="473881" y="2391292"/>
            <a:ext cx="2106000" cy="15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" sz="9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Booking Revenue</a:t>
            </a:r>
            <a:endParaRPr sz="7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4500FD-3BB5-CD67-3A18-B85695509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1023" y="1954790"/>
            <a:ext cx="53467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193729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"/>
          <p:cNvSpPr txBox="1"/>
          <p:nvPr/>
        </p:nvSpPr>
        <p:spPr>
          <a:xfrm>
            <a:off x="473881" y="1954790"/>
            <a:ext cx="13906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Booking Trend</a:t>
            </a:r>
            <a:endParaRPr lang="en-CA" sz="700" dirty="0"/>
          </a:p>
        </p:txBody>
      </p:sp>
      <p:sp>
        <p:nvSpPr>
          <p:cNvPr id="328" name="Google Shape;328;p20"/>
          <p:cNvSpPr txBox="1"/>
          <p:nvPr/>
        </p:nvSpPr>
        <p:spPr>
          <a:xfrm>
            <a:off x="354196" y="835024"/>
            <a:ext cx="8356496" cy="1006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just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0" i="0" u="none" strike="noStrike" cap="none" dirty="0">
                <a:solidFill>
                  <a:srgbClr val="C0A27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Appendix</a:t>
            </a:r>
            <a:endParaRPr sz="700" dirty="0"/>
          </a:p>
        </p:txBody>
      </p:sp>
      <p:sp>
        <p:nvSpPr>
          <p:cNvPr id="8" name="Google Shape;370;p22">
            <a:extLst>
              <a:ext uri="{FF2B5EF4-FFF2-40B4-BE49-F238E27FC236}">
                <a16:creationId xmlns:a16="http://schemas.microsoft.com/office/drawing/2014/main" id="{2EF949D8-9062-6FD9-7E74-A35B7D370493}"/>
              </a:ext>
            </a:extLst>
          </p:cNvPr>
          <p:cNvSpPr txBox="1"/>
          <p:nvPr/>
        </p:nvSpPr>
        <p:spPr>
          <a:xfrm>
            <a:off x="473881" y="2391292"/>
            <a:ext cx="2106000" cy="15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" sz="9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Average Booking Duration (Days)</a:t>
            </a:r>
            <a:endParaRPr sz="7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C1ECF3-1C10-AD04-A478-5811B4A38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6084" y="1962243"/>
            <a:ext cx="53467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052719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"/>
          <p:cNvSpPr txBox="1"/>
          <p:nvPr/>
        </p:nvSpPr>
        <p:spPr>
          <a:xfrm>
            <a:off x="473880" y="1954790"/>
            <a:ext cx="1889611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Request Type Trend</a:t>
            </a:r>
            <a:endParaRPr lang="en-CA" sz="700" dirty="0"/>
          </a:p>
        </p:txBody>
      </p:sp>
      <p:sp>
        <p:nvSpPr>
          <p:cNvPr id="328" name="Google Shape;328;p20"/>
          <p:cNvSpPr txBox="1"/>
          <p:nvPr/>
        </p:nvSpPr>
        <p:spPr>
          <a:xfrm>
            <a:off x="354196" y="835024"/>
            <a:ext cx="8356496" cy="1006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just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0" i="0" u="none" strike="noStrike" cap="none" dirty="0">
                <a:solidFill>
                  <a:srgbClr val="C0A27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Appendix</a:t>
            </a:r>
            <a:endParaRPr sz="700" dirty="0"/>
          </a:p>
        </p:txBody>
      </p:sp>
      <p:sp>
        <p:nvSpPr>
          <p:cNvPr id="8" name="Google Shape;370;p22">
            <a:extLst>
              <a:ext uri="{FF2B5EF4-FFF2-40B4-BE49-F238E27FC236}">
                <a16:creationId xmlns:a16="http://schemas.microsoft.com/office/drawing/2014/main" id="{2EF949D8-9062-6FD9-7E74-A35B7D370493}"/>
              </a:ext>
            </a:extLst>
          </p:cNvPr>
          <p:cNvSpPr txBox="1"/>
          <p:nvPr/>
        </p:nvSpPr>
        <p:spPr>
          <a:xfrm>
            <a:off x="473881" y="2391292"/>
            <a:ext cx="2106000" cy="15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" sz="9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Total Revenue</a:t>
            </a:r>
            <a:endParaRPr sz="7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7E4DE9-5C49-0499-A614-55FE69A42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3681" y="1954790"/>
            <a:ext cx="53467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669277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"/>
          <p:cNvSpPr txBox="1"/>
          <p:nvPr/>
        </p:nvSpPr>
        <p:spPr>
          <a:xfrm>
            <a:off x="473880" y="1954790"/>
            <a:ext cx="1889611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Request Type Trend</a:t>
            </a:r>
            <a:endParaRPr lang="en-CA" sz="700" dirty="0"/>
          </a:p>
        </p:txBody>
      </p:sp>
      <p:sp>
        <p:nvSpPr>
          <p:cNvPr id="328" name="Google Shape;328;p20"/>
          <p:cNvSpPr txBox="1"/>
          <p:nvPr/>
        </p:nvSpPr>
        <p:spPr>
          <a:xfrm>
            <a:off x="354196" y="835024"/>
            <a:ext cx="8356496" cy="1006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just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0" i="0" u="none" strike="noStrike" cap="none" dirty="0">
                <a:solidFill>
                  <a:srgbClr val="C0A27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Appendix</a:t>
            </a:r>
            <a:endParaRPr sz="700" dirty="0"/>
          </a:p>
        </p:txBody>
      </p:sp>
      <p:sp>
        <p:nvSpPr>
          <p:cNvPr id="8" name="Google Shape;370;p22">
            <a:extLst>
              <a:ext uri="{FF2B5EF4-FFF2-40B4-BE49-F238E27FC236}">
                <a16:creationId xmlns:a16="http://schemas.microsoft.com/office/drawing/2014/main" id="{2EF949D8-9062-6FD9-7E74-A35B7D370493}"/>
              </a:ext>
            </a:extLst>
          </p:cNvPr>
          <p:cNvSpPr txBox="1"/>
          <p:nvPr/>
        </p:nvSpPr>
        <p:spPr>
          <a:xfrm>
            <a:off x="473881" y="2391292"/>
            <a:ext cx="2106000" cy="15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" sz="9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Average Duration Stay</a:t>
            </a:r>
            <a:endParaRPr sz="7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42028C-0EF7-338B-D0EC-DEE01132D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9835" y="1954790"/>
            <a:ext cx="5571533" cy="297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462084"/>
      </p:ext>
    </p:extLst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"/>
          <p:cNvSpPr txBox="1"/>
          <p:nvPr/>
        </p:nvSpPr>
        <p:spPr>
          <a:xfrm>
            <a:off x="473880" y="1954790"/>
            <a:ext cx="1889611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Request Type Trend</a:t>
            </a:r>
            <a:endParaRPr lang="en-CA" sz="700" dirty="0"/>
          </a:p>
        </p:txBody>
      </p:sp>
      <p:sp>
        <p:nvSpPr>
          <p:cNvPr id="328" name="Google Shape;328;p20"/>
          <p:cNvSpPr txBox="1"/>
          <p:nvPr/>
        </p:nvSpPr>
        <p:spPr>
          <a:xfrm>
            <a:off x="354196" y="835024"/>
            <a:ext cx="8356496" cy="1006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just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0" i="0" u="none" strike="noStrike" cap="none" dirty="0">
                <a:solidFill>
                  <a:srgbClr val="C0A27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Appendix</a:t>
            </a:r>
            <a:endParaRPr sz="700" dirty="0"/>
          </a:p>
        </p:txBody>
      </p:sp>
      <p:sp>
        <p:nvSpPr>
          <p:cNvPr id="8" name="Google Shape;370;p22">
            <a:extLst>
              <a:ext uri="{FF2B5EF4-FFF2-40B4-BE49-F238E27FC236}">
                <a16:creationId xmlns:a16="http://schemas.microsoft.com/office/drawing/2014/main" id="{2EF949D8-9062-6FD9-7E74-A35B7D370493}"/>
              </a:ext>
            </a:extLst>
          </p:cNvPr>
          <p:cNvSpPr txBox="1"/>
          <p:nvPr/>
        </p:nvSpPr>
        <p:spPr>
          <a:xfrm>
            <a:off x="473881" y="2391292"/>
            <a:ext cx="2106000" cy="15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" sz="9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Average Guest</a:t>
            </a:r>
            <a:endParaRPr sz="7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2DFB2B-25ED-4C78-9691-7A8FC62E3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7810" y="1954790"/>
            <a:ext cx="53467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044575"/>
      </p:ext>
    </p:extLst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"/>
          <p:cNvSpPr txBox="1"/>
          <p:nvPr/>
        </p:nvSpPr>
        <p:spPr>
          <a:xfrm>
            <a:off x="473880" y="1954790"/>
            <a:ext cx="1889611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Room Trend</a:t>
            </a:r>
            <a:endParaRPr lang="en-CA" sz="700" dirty="0"/>
          </a:p>
        </p:txBody>
      </p:sp>
      <p:sp>
        <p:nvSpPr>
          <p:cNvPr id="328" name="Google Shape;328;p20"/>
          <p:cNvSpPr txBox="1"/>
          <p:nvPr/>
        </p:nvSpPr>
        <p:spPr>
          <a:xfrm>
            <a:off x="354196" y="835024"/>
            <a:ext cx="8356496" cy="1006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just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0" i="0" u="none" strike="noStrike" cap="none" dirty="0">
                <a:solidFill>
                  <a:srgbClr val="C0A27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Appendix</a:t>
            </a:r>
            <a:endParaRPr sz="700" dirty="0"/>
          </a:p>
        </p:txBody>
      </p:sp>
      <p:sp>
        <p:nvSpPr>
          <p:cNvPr id="8" name="Google Shape;370;p22">
            <a:extLst>
              <a:ext uri="{FF2B5EF4-FFF2-40B4-BE49-F238E27FC236}">
                <a16:creationId xmlns:a16="http://schemas.microsoft.com/office/drawing/2014/main" id="{2EF949D8-9062-6FD9-7E74-A35B7D370493}"/>
              </a:ext>
            </a:extLst>
          </p:cNvPr>
          <p:cNvSpPr txBox="1"/>
          <p:nvPr/>
        </p:nvSpPr>
        <p:spPr>
          <a:xfrm>
            <a:off x="473881" y="2391292"/>
            <a:ext cx="2106000" cy="15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" sz="9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Average Guest</a:t>
            </a:r>
            <a:endParaRPr sz="7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772672-01B7-DF22-FFB0-404556CD5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9881" y="1954790"/>
            <a:ext cx="53467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510692"/>
      </p:ext>
    </p:extLst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"/>
          <p:cNvSpPr txBox="1"/>
          <p:nvPr/>
        </p:nvSpPr>
        <p:spPr>
          <a:xfrm>
            <a:off x="473880" y="1954790"/>
            <a:ext cx="1889611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Room Trend</a:t>
            </a:r>
            <a:endParaRPr lang="en-CA" sz="700" dirty="0"/>
          </a:p>
        </p:txBody>
      </p:sp>
      <p:sp>
        <p:nvSpPr>
          <p:cNvPr id="328" name="Google Shape;328;p20"/>
          <p:cNvSpPr txBox="1"/>
          <p:nvPr/>
        </p:nvSpPr>
        <p:spPr>
          <a:xfrm>
            <a:off x="354196" y="835024"/>
            <a:ext cx="8356496" cy="1006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just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0" i="0" u="none" strike="noStrike" cap="none" dirty="0">
                <a:solidFill>
                  <a:srgbClr val="C0A27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Appendix</a:t>
            </a:r>
            <a:endParaRPr sz="700" dirty="0"/>
          </a:p>
        </p:txBody>
      </p:sp>
      <p:sp>
        <p:nvSpPr>
          <p:cNvPr id="8" name="Google Shape;370;p22">
            <a:extLst>
              <a:ext uri="{FF2B5EF4-FFF2-40B4-BE49-F238E27FC236}">
                <a16:creationId xmlns:a16="http://schemas.microsoft.com/office/drawing/2014/main" id="{2EF949D8-9062-6FD9-7E74-A35B7D370493}"/>
              </a:ext>
            </a:extLst>
          </p:cNvPr>
          <p:cNvSpPr txBox="1"/>
          <p:nvPr/>
        </p:nvSpPr>
        <p:spPr>
          <a:xfrm>
            <a:off x="473881" y="2391292"/>
            <a:ext cx="2106000" cy="15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" sz="9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Total Revenue</a:t>
            </a:r>
            <a:endParaRPr sz="7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AF0C3A-FC94-5860-F550-BDE8532F6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9881" y="2116372"/>
            <a:ext cx="53467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665321"/>
      </p:ext>
    </p:extLst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"/>
          <p:cNvSpPr txBox="1"/>
          <p:nvPr/>
        </p:nvSpPr>
        <p:spPr>
          <a:xfrm>
            <a:off x="473880" y="1954790"/>
            <a:ext cx="1889611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Room Trend</a:t>
            </a:r>
            <a:endParaRPr lang="en-CA" sz="700" dirty="0"/>
          </a:p>
        </p:txBody>
      </p:sp>
      <p:sp>
        <p:nvSpPr>
          <p:cNvPr id="328" name="Google Shape;328;p20"/>
          <p:cNvSpPr txBox="1"/>
          <p:nvPr/>
        </p:nvSpPr>
        <p:spPr>
          <a:xfrm>
            <a:off x="354196" y="835024"/>
            <a:ext cx="8356496" cy="1006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just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0" i="0" u="none" strike="noStrike" cap="none" dirty="0">
                <a:solidFill>
                  <a:srgbClr val="C0A27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Appendix</a:t>
            </a:r>
            <a:endParaRPr sz="700" dirty="0"/>
          </a:p>
        </p:txBody>
      </p:sp>
      <p:sp>
        <p:nvSpPr>
          <p:cNvPr id="8" name="Google Shape;370;p22">
            <a:extLst>
              <a:ext uri="{FF2B5EF4-FFF2-40B4-BE49-F238E27FC236}">
                <a16:creationId xmlns:a16="http://schemas.microsoft.com/office/drawing/2014/main" id="{2EF949D8-9062-6FD9-7E74-A35B7D370493}"/>
              </a:ext>
            </a:extLst>
          </p:cNvPr>
          <p:cNvSpPr txBox="1"/>
          <p:nvPr/>
        </p:nvSpPr>
        <p:spPr>
          <a:xfrm>
            <a:off x="473881" y="2391292"/>
            <a:ext cx="2106000" cy="15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" sz="900" dirty="0">
                <a:solidFill>
                  <a:srgbClr val="2B2C30"/>
                </a:solidFill>
                <a:latin typeface="Nunito"/>
                <a:sym typeface="Nunito"/>
              </a:rPr>
              <a:t>Average Room Price</a:t>
            </a:r>
            <a:endParaRPr sz="7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4E5051-1F22-7086-AA3E-7AF4592F3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491" y="2057400"/>
            <a:ext cx="53467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450908"/>
      </p:ext>
    </p:extLst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"/>
          <p:cNvSpPr txBox="1"/>
          <p:nvPr/>
        </p:nvSpPr>
        <p:spPr>
          <a:xfrm>
            <a:off x="473880" y="1954790"/>
            <a:ext cx="1889611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Food Trend</a:t>
            </a:r>
            <a:endParaRPr lang="en-CA" sz="700" dirty="0"/>
          </a:p>
        </p:txBody>
      </p:sp>
      <p:sp>
        <p:nvSpPr>
          <p:cNvPr id="328" name="Google Shape;328;p20"/>
          <p:cNvSpPr txBox="1"/>
          <p:nvPr/>
        </p:nvSpPr>
        <p:spPr>
          <a:xfrm>
            <a:off x="354196" y="835024"/>
            <a:ext cx="8356496" cy="1006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just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0" i="0" u="none" strike="noStrike" cap="none" dirty="0">
                <a:solidFill>
                  <a:srgbClr val="C0A27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Appendix</a:t>
            </a:r>
            <a:endParaRPr sz="700" dirty="0"/>
          </a:p>
        </p:txBody>
      </p:sp>
      <p:sp>
        <p:nvSpPr>
          <p:cNvPr id="8" name="Google Shape;370;p22">
            <a:extLst>
              <a:ext uri="{FF2B5EF4-FFF2-40B4-BE49-F238E27FC236}">
                <a16:creationId xmlns:a16="http://schemas.microsoft.com/office/drawing/2014/main" id="{2EF949D8-9062-6FD9-7E74-A35B7D370493}"/>
              </a:ext>
            </a:extLst>
          </p:cNvPr>
          <p:cNvSpPr txBox="1"/>
          <p:nvPr/>
        </p:nvSpPr>
        <p:spPr>
          <a:xfrm>
            <a:off x="473881" y="2391292"/>
            <a:ext cx="2106000" cy="15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" sz="900" dirty="0">
                <a:solidFill>
                  <a:srgbClr val="2B2C30"/>
                </a:solidFill>
                <a:latin typeface="Nunito"/>
                <a:sym typeface="Nunito"/>
              </a:rPr>
              <a:t>Average Room Price</a:t>
            </a:r>
            <a:endParaRPr sz="7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8096F1-B368-2855-1596-0161F624B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9881" y="1954790"/>
            <a:ext cx="63373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560223"/>
      </p:ext>
    </p:extLst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"/>
          <p:cNvSpPr txBox="1"/>
          <p:nvPr/>
        </p:nvSpPr>
        <p:spPr>
          <a:xfrm>
            <a:off x="473880" y="1954790"/>
            <a:ext cx="1889611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 b="0" i="0" u="none" strike="noStrike" cap="none" dirty="0">
                <a:solidFill>
                  <a:srgbClr val="2B2C30"/>
                </a:solidFill>
                <a:latin typeface="Nunito"/>
                <a:ea typeface="Nunito"/>
                <a:cs typeface="Nunito"/>
                <a:sym typeface="Nunito"/>
              </a:rPr>
              <a:t>Food Trend</a:t>
            </a:r>
            <a:endParaRPr lang="en-CA" sz="700" dirty="0"/>
          </a:p>
        </p:txBody>
      </p:sp>
      <p:sp>
        <p:nvSpPr>
          <p:cNvPr id="328" name="Google Shape;328;p20"/>
          <p:cNvSpPr txBox="1"/>
          <p:nvPr/>
        </p:nvSpPr>
        <p:spPr>
          <a:xfrm>
            <a:off x="354196" y="835024"/>
            <a:ext cx="8356496" cy="1006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just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0" i="0" u="none" strike="noStrike" cap="none" dirty="0">
                <a:solidFill>
                  <a:srgbClr val="C0A27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Appendix</a:t>
            </a:r>
            <a:endParaRPr sz="700" dirty="0"/>
          </a:p>
        </p:txBody>
      </p:sp>
      <p:sp>
        <p:nvSpPr>
          <p:cNvPr id="8" name="Google Shape;370;p22">
            <a:extLst>
              <a:ext uri="{FF2B5EF4-FFF2-40B4-BE49-F238E27FC236}">
                <a16:creationId xmlns:a16="http://schemas.microsoft.com/office/drawing/2014/main" id="{2EF949D8-9062-6FD9-7E74-A35B7D370493}"/>
              </a:ext>
            </a:extLst>
          </p:cNvPr>
          <p:cNvSpPr txBox="1"/>
          <p:nvPr/>
        </p:nvSpPr>
        <p:spPr>
          <a:xfrm>
            <a:off x="473881" y="2391292"/>
            <a:ext cx="2106000" cy="15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" sz="900" dirty="0">
                <a:solidFill>
                  <a:srgbClr val="2B2C30"/>
                </a:solidFill>
                <a:latin typeface="Nunito"/>
                <a:sym typeface="Nunito"/>
              </a:rPr>
              <a:t>Menu Popularity &amp; Revenue</a:t>
            </a:r>
            <a:endParaRPr sz="7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1019CD-B84B-3E54-576D-EC1C82DEF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3680" y="1834739"/>
            <a:ext cx="5338413" cy="320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279715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C0A272"/>
      </a:dk1>
      <a:lt1>
        <a:srgbClr val="F6F4F1"/>
      </a:lt1>
      <a:dk2>
        <a:srgbClr val="2B2C30"/>
      </a:dk2>
      <a:lt2>
        <a:srgbClr val="DBCAA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478</Words>
  <Application>Microsoft Macintosh PowerPoint</Application>
  <PresentationFormat>On-screen Show (16:9)</PresentationFormat>
  <Paragraphs>106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Playfair Display Medium</vt:lpstr>
      <vt:lpstr>Nunito</vt:lpstr>
      <vt:lpstr>Montserrat</vt:lpstr>
      <vt:lpstr>Calibri</vt:lpstr>
      <vt:lpstr>Playfair Display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Edimaobong Udo</cp:lastModifiedBy>
  <cp:revision>14</cp:revision>
  <dcterms:modified xsi:type="dcterms:W3CDTF">2026-01-06T13:20:57Z</dcterms:modified>
</cp:coreProperties>
</file>